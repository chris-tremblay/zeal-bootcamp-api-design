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c7574548104531" /><Relationship Type="http://schemas.openxmlformats.org/officeDocument/2006/relationships/extended-properties" Target="/docProps/app.xml" Id="R4674060d55004f9a" /><Relationship Type="http://schemas.openxmlformats.org/officeDocument/2006/relationships/officeDocument" Target="/ppt/presentation.xml" Id="Rb0e4fc56dd7e4b55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a5bd8272b1454f51"/>
    <p:sldMasterId xmlns:r="http://schemas.openxmlformats.org/officeDocument/2006/relationships" id="2147483660" r:id="Rbdf32de07f714f68"/>
    <p:sldMasterId xmlns:r="http://schemas.openxmlformats.org/officeDocument/2006/relationships" id="2147483673" r:id="Rf9e5c4bd59bd423d"/>
  </p:sldMasterIdLst>
  <p:notesMasterIdLst>
    <p:notesMasterId xmlns:r="http://schemas.openxmlformats.org/officeDocument/2006/relationships" r:id="R93c4df926aaf4d88"/>
  </p:notesMasterIdLst>
  <p:sldIdLst>
    <p:sldId xmlns:r="http://schemas.openxmlformats.org/officeDocument/2006/relationships" id="256" r:id="R989f88d237234c43"/>
    <p:sldId xmlns:r="http://schemas.openxmlformats.org/officeDocument/2006/relationships" id="257" r:id="R3a0dd60472cc44c2"/>
    <p:sldId xmlns:r="http://schemas.openxmlformats.org/officeDocument/2006/relationships" id="258" r:id="R732e58bbf0af436d"/>
    <p:sldId xmlns:r="http://schemas.openxmlformats.org/officeDocument/2006/relationships" id="259" r:id="R926019e91e8d4d2e"/>
    <p:sldId xmlns:r="http://schemas.openxmlformats.org/officeDocument/2006/relationships" id="260" r:id="R062d97e9be044a52"/>
    <p:sldId xmlns:r="http://schemas.openxmlformats.org/officeDocument/2006/relationships" id="261" r:id="R9de0385a5bf94ed2"/>
    <p:sldId xmlns:r="http://schemas.openxmlformats.org/officeDocument/2006/relationships" id="262" r:id="R0fb8e6072bc84ca0"/>
    <p:sldId xmlns:r="http://schemas.openxmlformats.org/officeDocument/2006/relationships" id="263" r:id="Ra7987ca3602c43dc"/>
    <p:sldId xmlns:r="http://schemas.openxmlformats.org/officeDocument/2006/relationships" id="264" r:id="R91d00b282f584676"/>
    <p:sldId xmlns:r="http://schemas.openxmlformats.org/officeDocument/2006/relationships" id="265" r:id="R3083197e829a4a87"/>
    <p:sldId xmlns:r="http://schemas.openxmlformats.org/officeDocument/2006/relationships" id="266" r:id="R693e811dedf24b90"/>
  </p:sldIdLst>
  <p:sldSz cx="9144000" cy="5143500"/>
  <p:notesSz cx="6858000" cy="9144000"/>
  <p:embeddedFontLst>
    <p:embeddedFont>
      <p:font typeface="Roboto"/>
      <p:regular xmlns:r="http://schemas.openxmlformats.org/officeDocument/2006/relationships" r:id="Rc136491da31043b2"/>
      <p:bold xmlns:r="http://schemas.openxmlformats.org/officeDocument/2006/relationships" r:id="R63f656214c0d4f57"/>
      <p:italic xmlns:r="http://schemas.openxmlformats.org/officeDocument/2006/relationships" r:id="Racfa7ff80a004e29"/>
      <p:boldItalic xmlns:r="http://schemas.openxmlformats.org/officeDocument/2006/relationships" r:id="Re579bec82c8840f2"/>
    </p:embeddedFont>
    <p:embeddedFont>
      <p:font typeface="Inter Tight Light"/>
      <p:regular xmlns:r="http://schemas.openxmlformats.org/officeDocument/2006/relationships" r:id="R6e6539bffe5d4719"/>
      <p:bold xmlns:r="http://schemas.openxmlformats.org/officeDocument/2006/relationships" r:id="Rf9a8389a150c442a"/>
      <p:italic xmlns:r="http://schemas.openxmlformats.org/officeDocument/2006/relationships" r:id="Re277167efd674ed5"/>
      <p:boldItalic xmlns:r="http://schemas.openxmlformats.org/officeDocument/2006/relationships" r:id="R37c6c57e9ace4ced"/>
    </p:embeddedFont>
    <p:embeddedFont>
      <p:font typeface="Afacad Flux"/>
      <p:regular xmlns:r="http://schemas.openxmlformats.org/officeDocument/2006/relationships" r:id="Rf05f1ed89dad48e9"/>
      <p:bold xmlns:r="http://schemas.openxmlformats.org/officeDocument/2006/relationships" r:id="R4e8f7170dcb940e3"/>
    </p:embeddedFont>
    <p:embeddedFont>
      <p:font typeface="Inter Tight ExtraBold"/>
      <p:bold xmlns:r="http://schemas.openxmlformats.org/officeDocument/2006/relationships" r:id="R4881c21620434cc4"/>
      <p:boldItalic xmlns:r="http://schemas.openxmlformats.org/officeDocument/2006/relationships" r:id="Rec07ee14826a4585"/>
    </p:embeddedFont>
    <p:embeddedFont>
      <p:font typeface="Inter Tight"/>
      <p:regular xmlns:r="http://schemas.openxmlformats.org/officeDocument/2006/relationships" r:id="R151619d9028f4f45"/>
      <p:bold xmlns:r="http://schemas.openxmlformats.org/officeDocument/2006/relationships" r:id="R9ee235905b9d4580"/>
      <p:italic xmlns:r="http://schemas.openxmlformats.org/officeDocument/2006/relationships" r:id="Radc389ad6e7e44a2"/>
      <p:boldItalic xmlns:r="http://schemas.openxmlformats.org/officeDocument/2006/relationships" r:id="Rf0ad630cd52e4e89"/>
    </p:embeddedFont>
    <p:embeddedFont>
      <p:font typeface="Inter Tight Black"/>
      <p:bold xmlns:r="http://schemas.openxmlformats.org/officeDocument/2006/relationships" r:id="R899b49fd4f384b9e"/>
      <p:boldItalic xmlns:r="http://schemas.openxmlformats.org/officeDocument/2006/relationships" r:id="R70897981357943d5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0713e042ff40fa" /><Relationship Type="http://schemas.openxmlformats.org/officeDocument/2006/relationships/slideMaster" Target="/ppt/slideMasters/slideMaster1.xml" Id="Ra5bd8272b1454f51" /><Relationship Type="http://schemas.openxmlformats.org/officeDocument/2006/relationships/slideMaster" Target="/ppt/slideMasters/slideMaster2.xml" Id="Rbdf32de07f714f68" /><Relationship Type="http://schemas.openxmlformats.org/officeDocument/2006/relationships/slideMaster" Target="/ppt/slideMasters/slideMaster3.xml" Id="Rf9e5c4bd59bd423d" /><Relationship Type="http://schemas.openxmlformats.org/officeDocument/2006/relationships/notesMaster" Target="/ppt/notesMasters/notesMaster1.xml" Id="R93c4df926aaf4d88" /><Relationship Type="http://schemas.openxmlformats.org/officeDocument/2006/relationships/presProps" Target="/ppt/presProps.xml" Id="R9ab4318b248b4779" /><Relationship Type="http://schemas.openxmlformats.org/officeDocument/2006/relationships/tableStyles" Target="/ppt/tableStyles.xml" Id="Rc6db086e0f824601" /><Relationship Type="http://schemas.openxmlformats.org/officeDocument/2006/relationships/font" Target="/ppt/fonts/font.dat" Id="Rc136491da31043b2" /><Relationship Type="http://schemas.openxmlformats.org/officeDocument/2006/relationships/font" Target="/ppt/fonts/font2.dat" Id="R63f656214c0d4f57" /><Relationship Type="http://schemas.openxmlformats.org/officeDocument/2006/relationships/font" Target="/ppt/fonts/font3.dat" Id="Racfa7ff80a004e29" /><Relationship Type="http://schemas.openxmlformats.org/officeDocument/2006/relationships/font" Target="/ppt/fonts/font4.dat" Id="Re579bec82c8840f2" /><Relationship Type="http://schemas.openxmlformats.org/officeDocument/2006/relationships/font" Target="/ppt/fonts/font5.dat" Id="R6e6539bffe5d4719" /><Relationship Type="http://schemas.openxmlformats.org/officeDocument/2006/relationships/font" Target="/ppt/fonts/font6.dat" Id="Rf9a8389a150c442a" /><Relationship Type="http://schemas.openxmlformats.org/officeDocument/2006/relationships/font" Target="/ppt/fonts/font7.dat" Id="Re277167efd674ed5" /><Relationship Type="http://schemas.openxmlformats.org/officeDocument/2006/relationships/font" Target="/ppt/fonts/font8.dat" Id="R37c6c57e9ace4ced" /><Relationship Type="http://schemas.openxmlformats.org/officeDocument/2006/relationships/font" Target="/ppt/fonts/font9.dat" Id="Rf05f1ed89dad48e9" /><Relationship Type="http://schemas.openxmlformats.org/officeDocument/2006/relationships/font" Target="/ppt/fonts/font10.dat" Id="R4e8f7170dcb940e3" /><Relationship Type="http://schemas.openxmlformats.org/officeDocument/2006/relationships/font" Target="/ppt/fonts/font11.dat" Id="R4881c21620434cc4" /><Relationship Type="http://schemas.openxmlformats.org/officeDocument/2006/relationships/font" Target="/ppt/fonts/font12.dat" Id="Rec07ee14826a4585" /><Relationship Type="http://schemas.openxmlformats.org/officeDocument/2006/relationships/font" Target="/ppt/fonts/font13.dat" Id="R151619d9028f4f45" /><Relationship Type="http://schemas.openxmlformats.org/officeDocument/2006/relationships/font" Target="/ppt/fonts/font14.dat" Id="R9ee235905b9d4580" /><Relationship Type="http://schemas.openxmlformats.org/officeDocument/2006/relationships/font" Target="/ppt/fonts/font15.dat" Id="Radc389ad6e7e44a2" /><Relationship Type="http://schemas.openxmlformats.org/officeDocument/2006/relationships/font" Target="/ppt/fonts/font16.dat" Id="Rf0ad630cd52e4e89" /><Relationship Type="http://schemas.openxmlformats.org/officeDocument/2006/relationships/font" Target="/ppt/fonts/font17.dat" Id="R899b49fd4f384b9e" /><Relationship Type="http://schemas.openxmlformats.org/officeDocument/2006/relationships/font" Target="/ppt/fonts/font18.dat" Id="R70897981357943d5" /><Relationship Type="http://schemas.openxmlformats.org/officeDocument/2006/relationships/slide" Target="/ppt/slides/slide1.xml" Id="R989f88d237234c43" /><Relationship Type="http://schemas.openxmlformats.org/officeDocument/2006/relationships/slide" Target="/ppt/slides/slide2.xml" Id="R3a0dd60472cc44c2" /><Relationship Type="http://schemas.openxmlformats.org/officeDocument/2006/relationships/slide" Target="/ppt/slides/slide3.xml" Id="R732e58bbf0af436d" /><Relationship Type="http://schemas.openxmlformats.org/officeDocument/2006/relationships/slide" Target="/ppt/slides/slide4.xml" Id="R926019e91e8d4d2e" /><Relationship Type="http://schemas.openxmlformats.org/officeDocument/2006/relationships/slide" Target="/ppt/slides/slide5.xml" Id="R062d97e9be044a52" /><Relationship Type="http://schemas.openxmlformats.org/officeDocument/2006/relationships/slide" Target="/ppt/slides/slide6.xml" Id="R9de0385a5bf94ed2" /><Relationship Type="http://schemas.openxmlformats.org/officeDocument/2006/relationships/slide" Target="/ppt/slides/slide7.xml" Id="R0fb8e6072bc84ca0" /><Relationship Type="http://schemas.openxmlformats.org/officeDocument/2006/relationships/slide" Target="/ppt/slides/slide8.xml" Id="Ra7987ca3602c43dc" /><Relationship Type="http://schemas.openxmlformats.org/officeDocument/2006/relationships/slide" Target="/ppt/slides/slide9.xml" Id="R91d00b282f584676" /><Relationship Type="http://schemas.openxmlformats.org/officeDocument/2006/relationships/slide" Target="/ppt/slides/slide10.xml" Id="R3083197e829a4a87" /><Relationship Type="http://schemas.openxmlformats.org/officeDocument/2006/relationships/slide" Target="/ppt/slides/slide11.xml" Id="R693e811dedf24b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0202f84ee9ab41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89541bb5d14c84" /><Relationship Type="http://schemas.openxmlformats.org/officeDocument/2006/relationships/notesMaster" Target="/ppt/notesMasters/notesMaster1.xml" Id="R287296b125504f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cbb028f2d64db8" /><Relationship Type="http://schemas.openxmlformats.org/officeDocument/2006/relationships/notesMaster" Target="/ppt/notesMasters/notesMaster1.xml" Id="Ra3573373771c4b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ff5357052149ea" /><Relationship Type="http://schemas.openxmlformats.org/officeDocument/2006/relationships/notesMaster" Target="/ppt/notesMasters/notesMaster1.xml" Id="R2ee2c3b093d040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978dbe04164040" /><Relationship Type="http://schemas.openxmlformats.org/officeDocument/2006/relationships/notesMaster" Target="/ppt/notesMasters/notesMaster1.xml" Id="R31ab5a28266f409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d49a01f4e046cb" /><Relationship Type="http://schemas.openxmlformats.org/officeDocument/2006/relationships/notesMaster" Target="/ppt/notesMasters/notesMaster1.xml" Id="Rcafb1ced55cf47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535e6e71ec54c54" /><Relationship Type="http://schemas.openxmlformats.org/officeDocument/2006/relationships/notesMaster" Target="/ppt/notesMasters/notesMaster1.xml" Id="R9b5cda39c007499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0a554fa0cc14b18" /><Relationship Type="http://schemas.openxmlformats.org/officeDocument/2006/relationships/notesMaster" Target="/ppt/notesMasters/notesMaster1.xml" Id="Ra60c6f7e13364c7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9faec36d084b17" /><Relationship Type="http://schemas.openxmlformats.org/officeDocument/2006/relationships/notesMaster" Target="/ppt/notesMasters/notesMaster1.xml" Id="R4f7027478a5c456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9a69d90e00243f9" /><Relationship Type="http://schemas.openxmlformats.org/officeDocument/2006/relationships/notesMaster" Target="/ppt/notesMasters/notesMaster1.xml" Id="R57ee6351159d4f9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67cbf4fa7ec4ae8" /><Relationship Type="http://schemas.openxmlformats.org/officeDocument/2006/relationships/notesMaster" Target="/ppt/notesMasters/notesMaster1.xml" Id="Re35513370f534f7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5724552559c4516" /><Relationship Type="http://schemas.openxmlformats.org/officeDocument/2006/relationships/notesMaster" Target="/ppt/notesMasters/notesMaster1.xml" Id="R4cd6f277d9ef42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df7e6301254b4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4dfb5ccb3e451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d169b91330473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717dfb207b40a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08ec2203884d1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b7934e016f403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38f0f5cfe2412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7ef992afa8463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d79c7d9e234e7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d7739cc1bf4cc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a54dfb29bf4e66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96e08b3bb214c7f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638e040a18c43f4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2c304f794034803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0dc643715bb4575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0934326343c47a5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f8ad933f70f4f71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85281507eae4f99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049e8e607184be9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ebd2505e173467b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4f3e16f64b6430a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c0861d508b44932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7eeca9e29354988" /><Relationship Type="http://schemas.openxmlformats.org/officeDocument/2006/relationships/image" Target="/ppt/media/image.png" Id="R32b084bb4012460e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ad8c8c4f32f444c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ef769c9e0834613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04f06293d6d4689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15db4202ea14ed9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aaa5f37571541ec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9B78D942-781A-42F5-93CB-14E6FEDE182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12D4AE7A-A16D-4086-A973-97A1A45765D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593E5F4C-21F7-4B38-965B-8F62AB56698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BE05964C-A90D-406A-9F48-F8BA2A6839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6298788C-B0F1-46E6-B491-CF6C724CE1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B0403884-5CA3-4402-91F6-3DFBD0FD33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C9E85F03-65FF-4EBA-B2DA-7092CCB1C0C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9A659C2A-54E4-45C9-AE87-7654FE169E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45A3CC03-7AE1-4508-879B-54C508984F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6A5FD3D5-3A6A-424B-ADC1-5B7C259F79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D8980AF3-789E-489A-ADFD-1714071B764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4" name="Google Shape;24;p5">
            <a:extLst xmlns:a="http://schemas.openxmlformats.org/drawingml/2006/main">
              <a:ext uri="{FF2B5EF4-FFF2-40B4-BE49-F238E27FC236}">
                <a16:creationId xmlns:a16="http://schemas.microsoft.com/office/drawing/2014/main" id="{A60FB8FA-6F26-4BE5-ACC0-2BE0F734CA9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6">
            <a:extLst xmlns:a="http://schemas.openxmlformats.org/drawingml/2006/main">
              <a:ext uri="{FF2B5EF4-FFF2-40B4-BE49-F238E27FC236}">
                <a16:creationId xmlns:a16="http://schemas.microsoft.com/office/drawing/2014/main" id="{5C157D6D-2F19-4AA7-ADE3-5CE174A770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6">
            <a:extLst xmlns:a="http://schemas.openxmlformats.org/drawingml/2006/main">
              <a:ext uri="{FF2B5EF4-FFF2-40B4-BE49-F238E27FC236}">
                <a16:creationId xmlns:a16="http://schemas.microsoft.com/office/drawing/2014/main" id="{E9E5DAC0-6899-44DA-8315-CE55FCFEC0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7">
            <a:extLst xmlns:a="http://schemas.openxmlformats.org/drawingml/2006/main">
              <a:ext uri="{FF2B5EF4-FFF2-40B4-BE49-F238E27FC236}">
                <a16:creationId xmlns:a16="http://schemas.microsoft.com/office/drawing/2014/main" id="{666B8F03-7AE1-43BE-B3E4-BAC57F8802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0" name="Google Shape;30;p7">
            <a:extLst xmlns:a="http://schemas.openxmlformats.org/drawingml/2006/main">
              <a:ext uri="{FF2B5EF4-FFF2-40B4-BE49-F238E27FC236}">
                <a16:creationId xmlns:a16="http://schemas.microsoft.com/office/drawing/2014/main" id="{FF6EF597-22F1-4C84-8BF1-3002CCEFF4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1" name="Google Shape;31;p7">
            <a:extLst xmlns:a="http://schemas.openxmlformats.org/drawingml/2006/main">
              <a:ext uri="{FF2B5EF4-FFF2-40B4-BE49-F238E27FC236}">
                <a16:creationId xmlns:a16="http://schemas.microsoft.com/office/drawing/2014/main" id="{349C5026-9FD3-45B9-BCD5-579A89686F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8">
            <a:extLst xmlns:a="http://schemas.openxmlformats.org/drawingml/2006/main">
              <a:ext uri="{FF2B5EF4-FFF2-40B4-BE49-F238E27FC236}">
                <a16:creationId xmlns:a16="http://schemas.microsoft.com/office/drawing/2014/main" id="{A9F20915-B006-4B18-BAF3-204EEF8108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4" name="Google Shape;34;p8">
            <a:extLst xmlns:a="http://schemas.openxmlformats.org/drawingml/2006/main">
              <a:ext uri="{FF2B5EF4-FFF2-40B4-BE49-F238E27FC236}">
                <a16:creationId xmlns:a16="http://schemas.microsoft.com/office/drawing/2014/main" id="{88A0AF41-4522-4B2F-80D0-7B928676D2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9">
            <a:extLst xmlns:a="http://schemas.openxmlformats.org/drawingml/2006/main">
              <a:ext uri="{FF2B5EF4-FFF2-40B4-BE49-F238E27FC236}">
                <a16:creationId xmlns:a16="http://schemas.microsoft.com/office/drawing/2014/main" id="{F87A758D-49D2-4F27-9A3C-69F6AC365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A866F4DA-300C-4EAC-8CC6-6B52C34B24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281049B3-E321-4DC4-ABE1-BD0EA99D6A4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721086B6-8E91-4E2A-AFB9-0736E56A4FB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94F6DFB9-BA54-43F9-A9EA-4EC3CC3D20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0">
            <a:extLst xmlns:a="http://schemas.openxmlformats.org/drawingml/2006/main">
              <a:ext uri="{FF2B5EF4-FFF2-40B4-BE49-F238E27FC236}">
                <a16:creationId xmlns:a16="http://schemas.microsoft.com/office/drawing/2014/main" id="{1B736C8D-3A17-44FC-9F78-31660EA9A9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/>
        </p:txBody>
      </p:sp>
      <p:sp>
        <p:nvSpPr>
          <p:cNvPr id="43" name="Google Shape;43;p10">
            <a:extLst xmlns:a="http://schemas.openxmlformats.org/drawingml/2006/main">
              <a:ext uri="{FF2B5EF4-FFF2-40B4-BE49-F238E27FC236}">
                <a16:creationId xmlns:a16="http://schemas.microsoft.com/office/drawing/2014/main" id="{0C52B99A-4E30-4008-81C3-4DA078976F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75ABD7FC-1D8A-4D54-B41E-8AA59F97A55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11">
            <a:extLst xmlns:a="http://schemas.openxmlformats.org/drawingml/2006/main">
              <a:ext uri="{FF2B5EF4-FFF2-40B4-BE49-F238E27FC236}">
                <a16:creationId xmlns:a16="http://schemas.microsoft.com/office/drawing/2014/main" id="{7015C733-1496-4D96-A2C5-4FD566F8CB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7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0643F92D-5337-4429-9BA6-A0587F01B0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2">
            <a:extLst xmlns:a="http://schemas.openxmlformats.org/drawingml/2006/main">
              <a:ext uri="{FF2B5EF4-FFF2-40B4-BE49-F238E27FC236}">
                <a16:creationId xmlns:a16="http://schemas.microsoft.com/office/drawing/2014/main" id="{8EECA043-B31C-46B4-9C83-9268C27376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Google Shape;55;p14">
            <a:extLst xmlns:a="http://schemas.openxmlformats.org/drawingml/2006/main">
              <a:ext uri="{FF2B5EF4-FFF2-40B4-BE49-F238E27FC236}">
                <a16:creationId xmlns:a16="http://schemas.microsoft.com/office/drawing/2014/main" id="{7FC0D93D-3818-4091-A5BD-0DCEFB015C9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56" name="Google Shape;56;p14">
            <a:extLst xmlns:a="http://schemas.openxmlformats.org/drawingml/2006/main">
              <a:ext uri="{FF2B5EF4-FFF2-40B4-BE49-F238E27FC236}">
                <a16:creationId xmlns:a16="http://schemas.microsoft.com/office/drawing/2014/main" id="{52E19EF1-5508-4BBE-AB14-107C6A8C072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57" name="Google Shape;57;p14">
            <a:extLst xmlns:a="http://schemas.openxmlformats.org/drawingml/2006/main">
              <a:ext uri="{FF2B5EF4-FFF2-40B4-BE49-F238E27FC236}">
                <a16:creationId xmlns:a16="http://schemas.microsoft.com/office/drawing/2014/main" id="{3E8A34D6-4972-4423-9058-F031E14B51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3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Google Shape;59;p15">
            <a:extLst xmlns:a="http://schemas.openxmlformats.org/drawingml/2006/main">
              <a:ext uri="{FF2B5EF4-FFF2-40B4-BE49-F238E27FC236}">
                <a16:creationId xmlns:a16="http://schemas.microsoft.com/office/drawing/2014/main" id="{6D8C3DF2-DE2D-464A-9AF0-2742957342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60" name="Google Shape;60;p15">
            <a:extLst xmlns:a="http://schemas.openxmlformats.org/drawingml/2006/main">
              <a:ext uri="{FF2B5EF4-FFF2-40B4-BE49-F238E27FC236}">
                <a16:creationId xmlns:a16="http://schemas.microsoft.com/office/drawing/2014/main" id="{D5BFA142-1D15-497D-9231-E0AAAA9526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4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Google Shape;62;p16">
            <a:extLst xmlns:a="http://schemas.openxmlformats.org/drawingml/2006/main">
              <a:ext uri="{FF2B5EF4-FFF2-40B4-BE49-F238E27FC236}">
                <a16:creationId xmlns:a16="http://schemas.microsoft.com/office/drawing/2014/main" id="{E354CC6C-399C-40CB-817B-9C42D635B5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Google Shape;63;p16">
            <a:extLst xmlns:a="http://schemas.openxmlformats.org/drawingml/2006/main">
              <a:ext uri="{FF2B5EF4-FFF2-40B4-BE49-F238E27FC236}">
                <a16:creationId xmlns:a16="http://schemas.microsoft.com/office/drawing/2014/main" id="{1B732BCC-DB02-4989-B346-6C781DF8E63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64" name="Google Shape;64;p16">
            <a:extLst xmlns:a="http://schemas.openxmlformats.org/drawingml/2006/main">
              <a:ext uri="{FF2B5EF4-FFF2-40B4-BE49-F238E27FC236}">
                <a16:creationId xmlns:a16="http://schemas.microsoft.com/office/drawing/2014/main" id="{B819A871-97EB-4775-BA2F-B9B4790393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5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Google Shape;66;p17">
            <a:extLst xmlns:a="http://schemas.openxmlformats.org/drawingml/2006/main">
              <a:ext uri="{FF2B5EF4-FFF2-40B4-BE49-F238E27FC236}">
                <a16:creationId xmlns:a16="http://schemas.microsoft.com/office/drawing/2014/main" id="{34CB0304-E482-49A1-ACD7-0046A02E42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Google Shape;67;p17">
            <a:extLst xmlns:a="http://schemas.openxmlformats.org/drawingml/2006/main">
              <a:ext uri="{FF2B5EF4-FFF2-40B4-BE49-F238E27FC236}">
                <a16:creationId xmlns:a16="http://schemas.microsoft.com/office/drawing/2014/main" id="{45A0AD00-12D2-4967-8C96-CE6D694328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68" name="Google Shape;68;p17">
            <a:extLst xmlns:a="http://schemas.openxmlformats.org/drawingml/2006/main">
              <a:ext uri="{FF2B5EF4-FFF2-40B4-BE49-F238E27FC236}">
                <a16:creationId xmlns:a16="http://schemas.microsoft.com/office/drawing/2014/main" id="{BDAD6D9C-EF53-4081-87F6-4E4D684B9B2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69" name="Google Shape;69;p17">
            <a:extLst xmlns:a="http://schemas.openxmlformats.org/drawingml/2006/main">
              <a:ext uri="{FF2B5EF4-FFF2-40B4-BE49-F238E27FC236}">
                <a16:creationId xmlns:a16="http://schemas.microsoft.com/office/drawing/2014/main" id="{CA4A6C6E-D96F-48DF-AD6B-09878C7C99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6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Google Shape;71;p18">
            <a:extLst xmlns:a="http://schemas.openxmlformats.org/drawingml/2006/main">
              <a:ext uri="{FF2B5EF4-FFF2-40B4-BE49-F238E27FC236}">
                <a16:creationId xmlns:a16="http://schemas.microsoft.com/office/drawing/2014/main" id="{6CF206AA-FA55-47C2-AFB5-0138AC72A6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Google Shape;72;p18">
            <a:extLst xmlns:a="http://schemas.openxmlformats.org/drawingml/2006/main">
              <a:ext uri="{FF2B5EF4-FFF2-40B4-BE49-F238E27FC236}">
                <a16:creationId xmlns:a16="http://schemas.microsoft.com/office/drawing/2014/main" id="{115E7186-FA3A-41B3-82DE-6C52AD121F2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7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Google Shape;74;p19">
            <a:extLst xmlns:a="http://schemas.openxmlformats.org/drawingml/2006/main">
              <a:ext uri="{FF2B5EF4-FFF2-40B4-BE49-F238E27FC236}">
                <a16:creationId xmlns:a16="http://schemas.microsoft.com/office/drawing/2014/main" id="{B092F200-E12B-4781-AA60-298ECD84B8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75" name="Google Shape;75;p19">
            <a:extLst xmlns:a="http://schemas.openxmlformats.org/drawingml/2006/main">
              <a:ext uri="{FF2B5EF4-FFF2-40B4-BE49-F238E27FC236}">
                <a16:creationId xmlns:a16="http://schemas.microsoft.com/office/drawing/2014/main" id="{65D5C9A8-0BA0-4EEF-B88C-331F08A46C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76" name="Google Shape;76;p19">
            <a:extLst xmlns:a="http://schemas.openxmlformats.org/drawingml/2006/main">
              <a:ext uri="{FF2B5EF4-FFF2-40B4-BE49-F238E27FC236}">
                <a16:creationId xmlns:a16="http://schemas.microsoft.com/office/drawing/2014/main" id="{BC30B254-E40F-497B-AA46-E7EDD44A42D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8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" name="Google Shape;78;p20">
            <a:extLst xmlns:a="http://schemas.openxmlformats.org/drawingml/2006/main">
              <a:ext uri="{FF2B5EF4-FFF2-40B4-BE49-F238E27FC236}">
                <a16:creationId xmlns:a16="http://schemas.microsoft.com/office/drawing/2014/main" id="{2B1F0E73-4708-4CF3-8D0E-21F82585E4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79" name="Google Shape;79;p20">
            <a:extLst xmlns:a="http://schemas.openxmlformats.org/drawingml/2006/main">
              <a:ext uri="{FF2B5EF4-FFF2-40B4-BE49-F238E27FC236}">
                <a16:creationId xmlns:a16="http://schemas.microsoft.com/office/drawing/2014/main" id="{FCE739FA-89C8-43F7-A92E-6F814A881D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9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" name="Google Shape;81;p21">
            <a:extLst xmlns:a="http://schemas.openxmlformats.org/drawingml/2006/main">
              <a:ext uri="{FF2B5EF4-FFF2-40B4-BE49-F238E27FC236}">
                <a16:creationId xmlns:a16="http://schemas.microsoft.com/office/drawing/2014/main" id="{7F3C63FA-C751-4DF6-8EDB-81A909051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2" name="Google Shape;82;p21">
            <a:extLst xmlns:a="http://schemas.openxmlformats.org/drawingml/2006/main">
              <a:ext uri="{FF2B5EF4-FFF2-40B4-BE49-F238E27FC236}">
                <a16:creationId xmlns:a16="http://schemas.microsoft.com/office/drawing/2014/main" id="{4D758A65-7E17-474A-9CD8-6427274474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83" name="Google Shape;83;p21">
            <a:extLst xmlns:a="http://schemas.openxmlformats.org/drawingml/2006/main">
              <a:ext uri="{FF2B5EF4-FFF2-40B4-BE49-F238E27FC236}">
                <a16:creationId xmlns:a16="http://schemas.microsoft.com/office/drawing/2014/main" id="{11D177DC-47D9-499D-A4FE-7AF3B8E0838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84" name="Google Shape;84;p21">
            <a:extLst xmlns:a="http://schemas.openxmlformats.org/drawingml/2006/main">
              <a:ext uri="{FF2B5EF4-FFF2-40B4-BE49-F238E27FC236}">
                <a16:creationId xmlns:a16="http://schemas.microsoft.com/office/drawing/2014/main" id="{EAD214D8-0C43-493C-AA66-54572AE186D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85" name="Google Shape;85;p21">
            <a:extLst xmlns:a="http://schemas.openxmlformats.org/drawingml/2006/main">
              <a:ext uri="{FF2B5EF4-FFF2-40B4-BE49-F238E27FC236}">
                <a16:creationId xmlns:a16="http://schemas.microsoft.com/office/drawing/2014/main" id="{C83224FF-A12B-4467-91AD-92FA6C59B5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0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Google Shape;87;p22">
            <a:extLst xmlns:a="http://schemas.openxmlformats.org/drawingml/2006/main">
              <a:ext uri="{FF2B5EF4-FFF2-40B4-BE49-F238E27FC236}">
                <a16:creationId xmlns:a16="http://schemas.microsoft.com/office/drawing/2014/main" id="{02B447A1-AE24-473B-8E6B-9A9FA645198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/>
        </p:txBody>
      </p:sp>
      <p:sp>
        <p:nvSpPr>
          <p:cNvPr id="88" name="Google Shape;88;p22">
            <a:extLst xmlns:a="http://schemas.openxmlformats.org/drawingml/2006/main">
              <a:ext uri="{FF2B5EF4-FFF2-40B4-BE49-F238E27FC236}">
                <a16:creationId xmlns:a16="http://schemas.microsoft.com/office/drawing/2014/main" id="{D30F5D89-319F-4373-8300-72F09F8C3DA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1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" name="Google Shape;90;p23">
            <a:extLst xmlns:a="http://schemas.openxmlformats.org/drawingml/2006/main">
              <a:ext uri="{FF2B5EF4-FFF2-40B4-BE49-F238E27FC236}">
                <a16:creationId xmlns:a16="http://schemas.microsoft.com/office/drawing/2014/main" id="{864C8B74-1DC3-418B-A825-8F4D969CEDB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91" name="Google Shape;91;p23">
            <a:extLst xmlns:a="http://schemas.openxmlformats.org/drawingml/2006/main">
              <a:ext uri="{FF2B5EF4-FFF2-40B4-BE49-F238E27FC236}">
                <a16:creationId xmlns:a16="http://schemas.microsoft.com/office/drawing/2014/main" id="{9D1289D6-76EA-4E9F-934F-E937538A7F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92" name="Google Shape;92;p23">
            <a:extLst xmlns:a="http://schemas.openxmlformats.org/drawingml/2006/main">
              <a:ext uri="{FF2B5EF4-FFF2-40B4-BE49-F238E27FC236}">
                <a16:creationId xmlns:a16="http://schemas.microsoft.com/office/drawing/2014/main" id="{B202D30D-A009-4ED8-83C6-23895B9D0C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2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4" name="Google Shape;94;p24">
            <a:extLst xmlns:a="http://schemas.openxmlformats.org/drawingml/2006/main">
              <a:ext uri="{FF2B5EF4-FFF2-40B4-BE49-F238E27FC236}">
                <a16:creationId xmlns:a16="http://schemas.microsoft.com/office/drawing/2014/main" id="{59C13069-7823-402F-8641-472DF86EC9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3.xml><?xml version="1.0" encoding="utf-8"?>
<p:sldLayout xmlns:p="http://schemas.openxmlformats.org/presentationml/2006/main" matchingName="Blank 1">
  <p:cSld name="BLANK_1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9" name="Google Shape;96;p2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2b084bb4012460e">
            <a:alphaModFix/>
          </a:blip>
          <a:srcRect xmlns:a="http://schemas.openxmlformats.org/drawingml/2006/main" l="0" t="0" r="76536" b="0"/>
          <a:stretch xmlns:a="http://schemas.openxmlformats.org/drawingml/2006/main"/>
        </p:blipFill>
        <p:spPr>
          <a:xfrm xmlns:a="http://schemas.openxmlformats.org/drawingml/2006/main">
            <a:off x="8815751" y="4683775"/>
            <a:ext cx="258600" cy="393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7" name="Google Shape;97;p25">
            <a:extLst xmlns:a="http://schemas.openxmlformats.org/drawingml/2006/main">
              <a:ext uri="{FF2B5EF4-FFF2-40B4-BE49-F238E27FC236}">
                <a16:creationId xmlns:a16="http://schemas.microsoft.com/office/drawing/2014/main" id="{2E515094-D292-4C8D-B460-962397B2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293048">
            <a:off x="6851623" y="-2339201"/>
            <a:ext cx="3707761" cy="8529736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0F76BA">
              <a:alpha val="3038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</p:spTree>
  </p:cSld>
</p:sldLayout>
</file>

<file path=ppt/slideLayouts/slideLayout24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" name="Google Shape;103;p27">
            <a:extLst xmlns:a="http://schemas.openxmlformats.org/drawingml/2006/main">
              <a:ext uri="{FF2B5EF4-FFF2-40B4-BE49-F238E27FC236}">
                <a16:creationId xmlns:a16="http://schemas.microsoft.com/office/drawing/2014/main" id="{CCA38A3D-5D5B-40D2-8264-FC3B4CD94FF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04" name="Google Shape;104;p27">
            <a:extLst xmlns:a="http://schemas.openxmlformats.org/drawingml/2006/main">
              <a:ext uri="{FF2B5EF4-FFF2-40B4-BE49-F238E27FC236}">
                <a16:creationId xmlns:a16="http://schemas.microsoft.com/office/drawing/2014/main" id="{3FDEDF3A-12A3-47F5-9839-6023F7A58F2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05" name="Google Shape;105;p27">
            <a:extLst xmlns:a="http://schemas.openxmlformats.org/drawingml/2006/main">
              <a:ext uri="{FF2B5EF4-FFF2-40B4-BE49-F238E27FC236}">
                <a16:creationId xmlns:a16="http://schemas.microsoft.com/office/drawing/2014/main" id="{DDDCE17A-B39E-479A-ADA7-8E82DB20F2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7" name="Google Shape;107;p28">
            <a:extLst xmlns:a="http://schemas.openxmlformats.org/drawingml/2006/main">
              <a:ext uri="{FF2B5EF4-FFF2-40B4-BE49-F238E27FC236}">
                <a16:creationId xmlns:a16="http://schemas.microsoft.com/office/drawing/2014/main" id="{51C2CB18-40DC-446F-8823-F055AC0326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108" name="Google Shape;108;p28">
            <a:extLst xmlns:a="http://schemas.openxmlformats.org/drawingml/2006/main">
              <a:ext uri="{FF2B5EF4-FFF2-40B4-BE49-F238E27FC236}">
                <a16:creationId xmlns:a16="http://schemas.microsoft.com/office/drawing/2014/main" id="{D3CBA073-BED2-469B-9F5F-38D3CBEEDD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6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0" name="Google Shape;110;p29">
            <a:extLst xmlns:a="http://schemas.openxmlformats.org/drawingml/2006/main">
              <a:ext uri="{FF2B5EF4-FFF2-40B4-BE49-F238E27FC236}">
                <a16:creationId xmlns:a16="http://schemas.microsoft.com/office/drawing/2014/main" id="{FC4E77C3-FDBA-4C8F-806D-C4F9FAE132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111" name="Google Shape;111;p29">
            <a:extLst xmlns:a="http://schemas.openxmlformats.org/drawingml/2006/main">
              <a:ext uri="{FF2B5EF4-FFF2-40B4-BE49-F238E27FC236}">
                <a16:creationId xmlns:a16="http://schemas.microsoft.com/office/drawing/2014/main" id="{9457F0EB-9700-4341-8F0D-669D4EAF10C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7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3" name="Google Shape;113;p30">
            <a:extLst xmlns:a="http://schemas.openxmlformats.org/drawingml/2006/main">
              <a:ext uri="{FF2B5EF4-FFF2-40B4-BE49-F238E27FC236}">
                <a16:creationId xmlns:a16="http://schemas.microsoft.com/office/drawing/2014/main" id="{353A9AEC-E042-4BEB-B92D-21291E1BCF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/>
        </p:txBody>
      </p:sp>
      <p:sp>
        <p:nvSpPr>
          <p:cNvPr id="114" name="Google Shape;114;p30">
            <a:extLst xmlns:a="http://schemas.openxmlformats.org/drawingml/2006/main">
              <a:ext uri="{FF2B5EF4-FFF2-40B4-BE49-F238E27FC236}">
                <a16:creationId xmlns:a16="http://schemas.microsoft.com/office/drawing/2014/main" id="{84053E7B-D310-4176-A43A-9C33B31DF5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8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6" name="Google Shape;116;p31">
            <a:extLst xmlns:a="http://schemas.openxmlformats.org/drawingml/2006/main">
              <a:ext uri="{FF2B5EF4-FFF2-40B4-BE49-F238E27FC236}">
                <a16:creationId xmlns:a16="http://schemas.microsoft.com/office/drawing/2014/main" id="{D409BFAA-D8A2-4427-A2CF-E1D288341CE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a528a3fa3945d0" /><Relationship Type="http://schemas.openxmlformats.org/officeDocument/2006/relationships/slideLayout" Target="/ppt/slideLayouts/slideLayout1.xml" Id="R968a9c56dd174407" /><Relationship Type="http://schemas.openxmlformats.org/officeDocument/2006/relationships/slideLayout" Target="/ppt/slideLayouts/slideLayout2.xml" Id="Rfe0bd38e6c35424e" /><Relationship Type="http://schemas.openxmlformats.org/officeDocument/2006/relationships/slideLayout" Target="/ppt/slideLayouts/slideLayout3.xml" Id="Ra084a059a07544cf" /><Relationship Type="http://schemas.openxmlformats.org/officeDocument/2006/relationships/slideLayout" Target="/ppt/slideLayouts/slideLayout4.xml" Id="R8f0c749aeabb4f76" /><Relationship Type="http://schemas.openxmlformats.org/officeDocument/2006/relationships/slideLayout" Target="/ppt/slideLayouts/slideLayout5.xml" Id="R947b646bae1a477e" /><Relationship Type="http://schemas.openxmlformats.org/officeDocument/2006/relationships/slideLayout" Target="/ppt/slideLayouts/slideLayout6.xml" Id="R7400cbc4503d4663" /><Relationship Type="http://schemas.openxmlformats.org/officeDocument/2006/relationships/slideLayout" Target="/ppt/slideLayouts/slideLayout7.xml" Id="Reaf3dad22d51472c" /><Relationship Type="http://schemas.openxmlformats.org/officeDocument/2006/relationships/slideLayout" Target="/ppt/slideLayouts/slideLayout8.xml" Id="Radd19c3a326c4018" /><Relationship Type="http://schemas.openxmlformats.org/officeDocument/2006/relationships/slideLayout" Target="/ppt/slideLayouts/slideLayout9.xml" Id="Rc4f49a7ae5ca40ad" /><Relationship Type="http://schemas.openxmlformats.org/officeDocument/2006/relationships/slideLayout" Target="/ppt/slideLayouts/slideLayout10.xml" Id="R105ea88cd91d45b6" /><Relationship Type="http://schemas.openxmlformats.org/officeDocument/2006/relationships/slideLayout" Target="/ppt/slideLayouts/slideLayout11.xml" Id="Rd0a02ff0f0e54191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5854619208e1421d" /><Relationship Type="http://schemas.openxmlformats.org/officeDocument/2006/relationships/slideLayout" Target="/ppt/slideLayouts/slideLayout12.xml" Id="R3834182497444884" /><Relationship Type="http://schemas.openxmlformats.org/officeDocument/2006/relationships/slideLayout" Target="/ppt/slideLayouts/slideLayout13.xml" Id="Rd8421ba5541a4613" /><Relationship Type="http://schemas.openxmlformats.org/officeDocument/2006/relationships/slideLayout" Target="/ppt/slideLayouts/slideLayout14.xml" Id="R94e3436746b24df5" /><Relationship Type="http://schemas.openxmlformats.org/officeDocument/2006/relationships/slideLayout" Target="/ppt/slideLayouts/slideLayout15.xml" Id="R8a6db87990774304" /><Relationship Type="http://schemas.openxmlformats.org/officeDocument/2006/relationships/slideLayout" Target="/ppt/slideLayouts/slideLayout16.xml" Id="Re1fb2f6c0197480a" /><Relationship Type="http://schemas.openxmlformats.org/officeDocument/2006/relationships/slideLayout" Target="/ppt/slideLayouts/slideLayout17.xml" Id="R0c3b464eccdd4f4d" /><Relationship Type="http://schemas.openxmlformats.org/officeDocument/2006/relationships/slideLayout" Target="/ppt/slideLayouts/slideLayout18.xml" Id="Rb83ba108fcfd4a70" /><Relationship Type="http://schemas.openxmlformats.org/officeDocument/2006/relationships/slideLayout" Target="/ppt/slideLayouts/slideLayout19.xml" Id="R3767b64647bf4411" /><Relationship Type="http://schemas.openxmlformats.org/officeDocument/2006/relationships/slideLayout" Target="/ppt/slideLayouts/slideLayout20.xml" Id="R2ccea8f4c17f4090" /><Relationship Type="http://schemas.openxmlformats.org/officeDocument/2006/relationships/slideLayout" Target="/ppt/slideLayouts/slideLayout21.xml" Id="Rf853d8c4171443fe" /><Relationship Type="http://schemas.openxmlformats.org/officeDocument/2006/relationships/slideLayout" Target="/ppt/slideLayouts/slideLayout22.xml" Id="Rb8a593ec09814b60" /><Relationship Type="http://schemas.openxmlformats.org/officeDocument/2006/relationships/slideLayout" Target="/ppt/slideLayouts/slideLayout23.xml" Id="Rb21df898f2ae4834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f46aa8a101664b7f" /><Relationship Type="http://schemas.openxmlformats.org/officeDocument/2006/relationships/slideLayout" Target="/ppt/slideLayouts/slideLayout24.xml" Id="R57829c5d82804709" /><Relationship Type="http://schemas.openxmlformats.org/officeDocument/2006/relationships/slideLayout" Target="/ppt/slideLayouts/slideLayout25.xml" Id="R9b163f4bf165419e" /><Relationship Type="http://schemas.openxmlformats.org/officeDocument/2006/relationships/slideLayout" Target="/ppt/slideLayouts/slideLayout26.xml" Id="Rd01093f944624a44" /><Relationship Type="http://schemas.openxmlformats.org/officeDocument/2006/relationships/slideLayout" Target="/ppt/slideLayouts/slideLayout27.xml" Id="R2004ebbb8f1f4117" /><Relationship Type="http://schemas.openxmlformats.org/officeDocument/2006/relationships/slideLayout" Target="/ppt/slideLayouts/slideLayout28.xml" Id="R8e6fbd628e934ed2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E63253BC-95D2-4F67-B5CB-DE115E2466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05724DC5-417A-4113-86FB-3F5B0B44C0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DDCEF64C-E787-48A1-8C3F-CB0F2D725D3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8a9c56dd174407"/>
    <p:sldLayoutId xmlns:r="http://schemas.openxmlformats.org/officeDocument/2006/relationships" id="2147483650" r:id="Rfe0bd38e6c35424e"/>
    <p:sldLayoutId xmlns:r="http://schemas.openxmlformats.org/officeDocument/2006/relationships" id="2147483651" r:id="Ra084a059a07544cf"/>
    <p:sldLayoutId xmlns:r="http://schemas.openxmlformats.org/officeDocument/2006/relationships" id="2147483652" r:id="R8f0c749aeabb4f76"/>
    <p:sldLayoutId xmlns:r="http://schemas.openxmlformats.org/officeDocument/2006/relationships" id="2147483653" r:id="R947b646bae1a477e"/>
    <p:sldLayoutId xmlns:r="http://schemas.openxmlformats.org/officeDocument/2006/relationships" id="2147483654" r:id="R7400cbc4503d4663"/>
    <p:sldLayoutId xmlns:r="http://schemas.openxmlformats.org/officeDocument/2006/relationships" id="2147483655" r:id="Reaf3dad22d51472c"/>
    <p:sldLayoutId xmlns:r="http://schemas.openxmlformats.org/officeDocument/2006/relationships" id="2147483656" r:id="Radd19c3a326c4018"/>
    <p:sldLayoutId xmlns:r="http://schemas.openxmlformats.org/officeDocument/2006/relationships" id="2147483657" r:id="Rc4f49a7ae5ca40ad"/>
    <p:sldLayoutId xmlns:r="http://schemas.openxmlformats.org/officeDocument/2006/relationships" id="2147483658" r:id="R105ea88cd91d45b6"/>
    <p:sldLayoutId xmlns:r="http://schemas.openxmlformats.org/officeDocument/2006/relationships" id="2147483659" r:id="Rd0a02ff0f0e54191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Google Shape;51;p13">
            <a:extLst xmlns:a="http://schemas.openxmlformats.org/drawingml/2006/main">
              <a:ext uri="{FF2B5EF4-FFF2-40B4-BE49-F238E27FC236}">
                <a16:creationId xmlns:a16="http://schemas.microsoft.com/office/drawing/2014/main" id="{F66BB460-36AB-429C-A283-338C825127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52" name="Google Shape;52;p13">
            <a:extLst xmlns:a="http://schemas.openxmlformats.org/drawingml/2006/main">
              <a:ext uri="{FF2B5EF4-FFF2-40B4-BE49-F238E27FC236}">
                <a16:creationId xmlns:a16="http://schemas.microsoft.com/office/drawing/2014/main" id="{AD85FE0A-4DD5-4D6D-BF76-AACE2E6047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53" name="Google Shape;53;p13">
            <a:extLst xmlns:a="http://schemas.openxmlformats.org/drawingml/2006/main">
              <a:ext uri="{FF2B5EF4-FFF2-40B4-BE49-F238E27FC236}">
                <a16:creationId xmlns:a16="http://schemas.microsoft.com/office/drawing/2014/main" id="{09B5B1FF-FC9D-48C8-8533-20035AEB47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3834182497444884"/>
    <p:sldLayoutId xmlns:r="http://schemas.openxmlformats.org/officeDocument/2006/relationships" id="2147483662" r:id="Rd8421ba5541a4613"/>
    <p:sldLayoutId xmlns:r="http://schemas.openxmlformats.org/officeDocument/2006/relationships" id="2147483663" r:id="R94e3436746b24df5"/>
    <p:sldLayoutId xmlns:r="http://schemas.openxmlformats.org/officeDocument/2006/relationships" id="2147483664" r:id="R8a6db87990774304"/>
    <p:sldLayoutId xmlns:r="http://schemas.openxmlformats.org/officeDocument/2006/relationships" id="2147483665" r:id="Re1fb2f6c0197480a"/>
    <p:sldLayoutId xmlns:r="http://schemas.openxmlformats.org/officeDocument/2006/relationships" id="2147483666" r:id="R0c3b464eccdd4f4d"/>
    <p:sldLayoutId xmlns:r="http://schemas.openxmlformats.org/officeDocument/2006/relationships" id="2147483667" r:id="Rb83ba108fcfd4a70"/>
    <p:sldLayoutId xmlns:r="http://schemas.openxmlformats.org/officeDocument/2006/relationships" id="2147483668" r:id="R3767b64647bf4411"/>
    <p:sldLayoutId xmlns:r="http://schemas.openxmlformats.org/officeDocument/2006/relationships" id="2147483669" r:id="R2ccea8f4c17f4090"/>
    <p:sldLayoutId xmlns:r="http://schemas.openxmlformats.org/officeDocument/2006/relationships" id="2147483670" r:id="Rf853d8c4171443fe"/>
    <p:sldLayoutId xmlns:r="http://schemas.openxmlformats.org/officeDocument/2006/relationships" id="2147483671" r:id="Rb8a593ec09814b60"/>
    <p:sldLayoutId xmlns:r="http://schemas.openxmlformats.org/officeDocument/2006/relationships" id="2147483672" r:id="Rb21df898f2ae4834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3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9" name="Google Shape;99;p26">
            <a:extLst xmlns:a="http://schemas.openxmlformats.org/drawingml/2006/main">
              <a:ext uri="{FF2B5EF4-FFF2-40B4-BE49-F238E27FC236}">
                <a16:creationId xmlns:a16="http://schemas.microsoft.com/office/drawing/2014/main" id="{BF6112E2-C15A-41C9-A508-6507BB3585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0" name="Google Shape;100;p26">
            <a:extLst xmlns:a="http://schemas.openxmlformats.org/drawingml/2006/main">
              <a:ext uri="{FF2B5EF4-FFF2-40B4-BE49-F238E27FC236}">
                <a16:creationId xmlns:a16="http://schemas.microsoft.com/office/drawing/2014/main" id="{4EDD075F-641F-4E25-B645-6EF4E93170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marR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914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1371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1" name="Google Shape;101;p26">
            <a:extLst xmlns:a="http://schemas.openxmlformats.org/drawingml/2006/main">
              <a:ext uri="{FF2B5EF4-FFF2-40B4-BE49-F238E27FC236}">
                <a16:creationId xmlns:a16="http://schemas.microsoft.com/office/drawing/2014/main" id="{57C3F2F9-ED79-47B4-9F96-991C93B387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74" r:id="R57829c5d82804709"/>
    <p:sldLayoutId xmlns:r="http://schemas.openxmlformats.org/officeDocument/2006/relationships" id="2147483675" r:id="R9b163f4bf165419e"/>
    <p:sldLayoutId xmlns:r="http://schemas.openxmlformats.org/officeDocument/2006/relationships" id="2147483676" r:id="Rd01093f944624a44"/>
    <p:sldLayoutId xmlns:r="http://schemas.openxmlformats.org/officeDocument/2006/relationships" id="2147483677" r:id="R2004ebbb8f1f4117"/>
    <p:sldLayoutId xmlns:r="http://schemas.openxmlformats.org/officeDocument/2006/relationships" id="2147483678" r:id="R8e6fbd628e934ed2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15B6D"/>
      </a:dk2>
      <a:lt2>
        <a:srgbClr val="434C5E"/>
      </a:lt2>
      <a:accent1>
        <a:srgbClr val="ED2926"/>
      </a:accent1>
      <a:accent2>
        <a:srgbClr val="0975B6"/>
      </a:accent2>
      <a:accent3>
        <a:srgbClr val="78879C"/>
      </a:accent3>
      <a:accent4>
        <a:srgbClr val="ECEDF0"/>
      </a:accent4>
      <a:accent5>
        <a:srgbClr val="F5F7F8"/>
      </a:accent5>
      <a:accent6>
        <a:srgbClr val="096196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4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15B6D"/>
      </a:dk2>
      <a:lt2>
        <a:srgbClr val="434C5E"/>
      </a:lt2>
      <a:accent1>
        <a:srgbClr val="ED2926"/>
      </a:accent1>
      <a:accent2>
        <a:srgbClr val="0975B6"/>
      </a:accent2>
      <a:accent3>
        <a:srgbClr val="78879C"/>
      </a:accent3>
      <a:accent4>
        <a:srgbClr val="ECEDF0"/>
      </a:accent4>
      <a:accent5>
        <a:srgbClr val="F5F7F8"/>
      </a:accent5>
      <a:accent6>
        <a:srgbClr val="096196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156e7c83d843cb" /><Relationship Type="http://schemas.openxmlformats.org/officeDocument/2006/relationships/image" Target="/ppt/media/image2.png" Id="Rf3c21ee6d2914b20" /><Relationship Type="http://schemas.openxmlformats.org/officeDocument/2006/relationships/image" Target="/ppt/media/image3.png" Id="R120796b2f7e04f67" /><Relationship Type="http://schemas.openxmlformats.org/officeDocument/2006/relationships/image" Target="/ppt/media/image4.png" Id="Rd0665b170af34fc7" /><Relationship Type="http://schemas.openxmlformats.org/officeDocument/2006/relationships/image" Target="/ppt/media/image5.png" Id="R3e070c29e89f4fdd" /><Relationship Type="http://schemas.openxmlformats.org/officeDocument/2006/relationships/image" Target="/ppt/media/image6.png" Id="Rfcb885c869b4460e" /><Relationship Type="http://schemas.openxmlformats.org/officeDocument/2006/relationships/image" Target="/ppt/media/image7.png" Id="R6b6a5b91b4584536" /><Relationship Type="http://schemas.openxmlformats.org/officeDocument/2006/relationships/notesSlide" Target="/ppt/notesSlides/notesSlide1.xml" Id="R59855ab8c3cd41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d2dab85d1bd54649" /><Relationship Type="http://schemas.openxmlformats.org/officeDocument/2006/relationships/notesSlide" Target="/ppt/notesSlides/notesSlide2.xml" Id="R9967fbef94a643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b7742d787de14024" /><Relationship Type="http://schemas.openxmlformats.org/officeDocument/2006/relationships/notesSlide" Target="/ppt/notesSlides/notesSlide3.xml" Id="Rb164dbd7033944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19f472bd93fd41bf" /><Relationship Type="http://schemas.openxmlformats.org/officeDocument/2006/relationships/notesSlide" Target="/ppt/notesSlides/notesSlide4.xml" Id="R2301d890f73e449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3c12bed371bd4205" /><Relationship Type="http://schemas.openxmlformats.org/officeDocument/2006/relationships/notesSlide" Target="/ppt/notesSlides/notesSlide5.xml" Id="R771c173e16044f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785f8879842343de" /><Relationship Type="http://schemas.openxmlformats.org/officeDocument/2006/relationships/notesSlide" Target="/ppt/notesSlides/notesSlide6.xml" Id="R966e1d795ce344b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848f99c5d2a64ae1" /><Relationship Type="http://schemas.openxmlformats.org/officeDocument/2006/relationships/notesSlide" Target="/ppt/notesSlides/notesSlide7.xml" Id="R007b5fa48fb447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2b0ded46dd644e34" /><Relationship Type="http://schemas.openxmlformats.org/officeDocument/2006/relationships/notesSlide" Target="/ppt/notesSlides/notesSlide8.xml" Id="R56effa8c538444f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9a132a3431cc4141" /><Relationship Type="http://schemas.openxmlformats.org/officeDocument/2006/relationships/notesSlide" Target="/ppt/notesSlides/notesSlide9.xml" Id="Rcc8fb4f0fbaf48f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4c69e950454046be" /><Relationship Type="http://schemas.openxmlformats.org/officeDocument/2006/relationships/notesSlide" Target="/ppt/notesSlides/notesSlide10.xml" Id="Rcb3dc9c31c444e4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41639ee51e8347d8" /><Relationship Type="http://schemas.openxmlformats.org/officeDocument/2006/relationships/notesSlide" Target="/ppt/notesSlides/notesSlide11.xml" Id="Reedbde78d72e416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6" name="Google Shape;121;p3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3c21ee6d2914b20">
            <a:alphaModFix/>
          </a:blip>
          <a:srcRect xmlns:a="http://schemas.openxmlformats.org/drawingml/2006/main" l="0" t="20" r="0" b="30"/>
          <a:stretch xmlns:a="http://schemas.openxmlformats.org/drawingml/2006/main"/>
        </p:blipFill>
        <p:spPr>
          <a:xfrm xmlns:a="http://schemas.openxmlformats.org/drawingml/2006/main">
            <a:off x="0" y="0"/>
            <a:ext cx="9144001" cy="51435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67" name="Google Shape;122;p3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20796b2f7e04f6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80325" y="468084"/>
            <a:ext cx="1001023" cy="34312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68" name="Google Shape;123;p3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0665b170af34fc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922140" y="482376"/>
            <a:ext cx="609352" cy="31454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69" name="Google Shape;124;p3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e070c29e89f4fd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166525" y="511393"/>
            <a:ext cx="425966" cy="25651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70" name="Google Shape;125;p3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cb885c869b4460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861142" y="434787"/>
            <a:ext cx="542033" cy="4097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6" name="Google Shape;126;p32">
            <a:extLst xmlns:a="http://schemas.openxmlformats.org/drawingml/2006/main">
              <a:ext uri="{FF2B5EF4-FFF2-40B4-BE49-F238E27FC236}">
                <a16:creationId xmlns:a16="http://schemas.microsoft.com/office/drawing/2014/main" id="{3E898061-2143-48B2-826B-E93AEA15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7875" y="278425"/>
            <a:ext cx="9000" cy="72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5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172" name="Google Shape;127;p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6a5b91b458453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32826" y="390799"/>
            <a:ext cx="299700" cy="497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cxnSp>
        <p:nvCxnSpPr>
          <p:cNvPr id="173" name="Google Shape;128;p32"/>
          <p:cNvCxnSpPr/>
          <p:nvPr/>
        </p:nvCxnSpPr>
        <p:spPr>
          <a:xfrm xmlns:a="http://schemas.openxmlformats.org/drawingml/2006/main">
            <a:off x="497200" y="4298925"/>
            <a:ext cx="0" cy="85440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ED292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9" name="Google Shape;129;p32">
            <a:extLst xmlns:a="http://schemas.openxmlformats.org/drawingml/2006/main">
              <a:ext uri="{FF2B5EF4-FFF2-40B4-BE49-F238E27FC236}">
                <a16:creationId xmlns:a16="http://schemas.microsoft.com/office/drawing/2014/main" id="{8D21EA00-DCD3-4A35-B56A-D99D3F579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25" y="3429000"/>
            <a:ext cx="4420200" cy="55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  <a:effectLst xmlns:a="http://schemas.openxmlformats.org/drawingml/2006/main">
            <a:outerShdw blurRad="100013" dist="76200" dir="5400000" algn="bl" rotWithShape="0">
              <a:srgbClr val="000000">
                <a:alpha val="20000"/>
              </a:srgbClr>
            </a:outerShdw>
          </a:effectLst>
        </p:spPr>
        <p:txBody>
          <a:bodyPr xmlns:a="http://schemas.openxmlformats.org/drawingml/2006/main" spcFirstLastPara="1" wrap="square" lIns="0" tIns="0" rIns="0" bIns="0" anchor="b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FFFFFF"/>
                </a:solidFill>
                <a:latin typeface="Inter Tight Light"/>
                <a:ea typeface="Inter Tight Light"/>
                <a:cs typeface="Inter Tight Light"/>
              </a:rPr>
              <a:t>API Design Bootcamp | Week 3</a:t>
            </a:r>
          </a:p>
        </p:txBody>
      </p:sp>
      <p:sp>
        <p:nvSpPr>
          <p:cNvPr id="130" name="Google Shape;130;p32">
            <a:extLst xmlns:a="http://schemas.openxmlformats.org/drawingml/2006/main">
              <a:ext uri="{FF2B5EF4-FFF2-40B4-BE49-F238E27FC236}">
                <a16:creationId xmlns:a16="http://schemas.microsoft.com/office/drawing/2014/main" id="{5D16F4BA-F08A-4C79-8166-0C26CD0CA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46" y="3749326"/>
            <a:ext cx="6140387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  <a:effectLst xmlns:a="http://schemas.openxmlformats.org/drawingml/2006/main">
            <a:outerShdw blurRad="100013" dist="76200" dir="5400000" algn="bl" rotWithShape="0">
              <a:srgbClr val="000000">
                <a:alpha val="20000"/>
              </a:srgbClr>
            </a:outerShdw>
          </a:effectLst>
        </p:spPr>
        <p:txBody>
          <a:bodyPr xmlns:a="http://schemas.openxmlformats.org/drawingml/2006/main" spcFirstLastPara="1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800" b="1">
                <a:solidFill>
                  <a:schemeClr val="lt1"/>
                </a:solidFill>
                <a:latin typeface="Roboto"/>
                <a:ea typeface="Roboto"/>
                <a:cs typeface="Roboto"/>
              </a:rPr>
              <a:t>Domain-Driven Design</a:t>
            </a:r>
          </a:p>
        </p:txBody>
      </p:sp>
    </p:spTree>
    <p:extLst>
      <p:ext uri="{BB962C8B-B14F-4D97-AF65-F5344CB8AC3E}">
        <p14:creationId xmlns:p14="http://schemas.microsoft.com/office/powerpoint/2010/main" val="16255597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53;p41">
            <a:extLst xmlns:a="http://schemas.openxmlformats.org/drawingml/2006/main">
              <a:ext uri="{FF2B5EF4-FFF2-40B4-BE49-F238E27FC236}">
                <a16:creationId xmlns:a16="http://schemas.microsoft.com/office/drawing/2014/main" id="{4E50A3D4-955B-4238-8F9E-D40BFCB6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-2" y="198"/>
            <a:ext cx="9144001" cy="930692"/>
          </a:xfrm>
          <a:prstGeom xmlns:a="http://schemas.openxmlformats.org/drawingml/2006/main" prst="flowChartManualInput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cxnSp>
        <p:nvCxnSpPr>
          <p:cNvPr id="276" name="Google Shape;254;p41"/>
          <p:cNvCxnSpPr/>
          <p:nvPr/>
        </p:nvCxnSpPr>
        <p:spPr>
          <a:xfrm xmlns:a="http://schemas.openxmlformats.org/drawingml/2006/main" rot="10800000">
            <a:off x="500941" y="665081"/>
            <a:ext cx="676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5" name="Google Shape;255;p41">
            <a:extLst xmlns:a="http://schemas.openxmlformats.org/drawingml/2006/main">
              <a:ext uri="{FF2B5EF4-FFF2-40B4-BE49-F238E27FC236}">
                <a16:creationId xmlns:a16="http://schemas.microsoft.com/office/drawing/2014/main" id="{C45CC5A5-1D09-4CB5-A6D0-5AC8443A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9015" y="-959005"/>
            <a:ext cx="184800" cy="30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256" name="Google Shape;256;p41">
            <a:extLst xmlns:a="http://schemas.openxmlformats.org/drawingml/2006/main">
              <a:ext uri="{FF2B5EF4-FFF2-40B4-BE49-F238E27FC236}">
                <a16:creationId xmlns:a16="http://schemas.microsoft.com/office/drawing/2014/main" id="{4D899EF8-86A0-4890-B6EC-C76D54DD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536" y="202121"/>
            <a:ext cx="8096250" cy="400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sz="2600">
                <a:solidFill>
                  <a:schemeClr val="accent2"/>
                </a:solidFill>
                <a:latin typeface="Inter Tight ExtraBold"/>
                <a:ea typeface="Inter Tight ExtraBold"/>
                <a:cs typeface="Inter Tight ExtraBold"/>
              </a:rPr>
              <a:t>The domain layer protects what the application means</a:t>
            </a:r>
          </a:p>
        </p:txBody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E6CB0120-0DC3-4F87-8AE5-87BC6314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8110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F2937"/>
                </a:solidFill>
              </a:defRPr>
            </a:pPr>
            <a:r>
              <a:rPr sz="1875" b="1">
                <a:solidFill>
                  <a:srgbClr val="1F2937"/>
                </a:solidFill>
              </a:rPr>
              <a:t>Controllers receive requests. The domain decides what is valid.</a:t>
            </a:r>
          </a:p>
        </p:txBody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ABEA27D3-7468-4536-AC9C-2F50F5A3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2381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EAA3E24D-F215-4B09-BB99-8918FE70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19240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2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EE380765-B865-401B-A816-E0E21BA1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2937"/>
                </a:solidFill>
              </a:defRPr>
            </a:pPr>
            <a:r>
              <a:rPr sz="1050" b="1">
                <a:solidFill>
                  <a:srgbClr val="1F2937"/>
                </a:solidFill>
              </a:rPr>
              <a:t>Presentation</a:t>
            </a:r>
          </a:p>
        </p:txBody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403D0B3A-59B7-4E53-AB41-3440A0DC9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1924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HTTP and API contracts</a:t>
            </a:r>
          </a:p>
        </p:txBody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3E8E4E04-361C-4788-847B-9FAE5618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952625"/>
            <a:ext cx="2381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72CDD1E2-0BE7-451F-9133-DFC29122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33600"/>
            <a:ext cx="19240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2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3C502A39-2C36-4EE6-BCE3-64EAB19B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190750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2937"/>
                </a:solidFill>
              </a:defRPr>
            </a:pPr>
            <a:r>
              <a:rPr sz="1050" b="1">
                <a:solidFill>
                  <a:srgbClr val="1F2937"/>
                </a:solidFill>
              </a:rPr>
              <a:t>Application</a:t>
            </a:r>
          </a:p>
        </p:txBody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A87EA0F3-C32F-4A31-BA04-6E76B126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47950"/>
            <a:ext cx="1924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Coordinates a use case</a:t>
            </a:r>
          </a:p>
        </p:txBody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78303160-1081-4260-8E1D-9EEA8193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952625"/>
            <a:ext cx="2381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C5D38152-8CC5-4711-BBB4-D2CF7BE9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33600"/>
            <a:ext cx="19240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B83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7CE62635-C5DB-45E2-836D-107CED957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90750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Domain</a:t>
            </a:r>
          </a:p>
        </p:txBody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4D171852-27B5-44BC-8463-F1CB37FC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47950"/>
            <a:ext cx="1924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Business rules and language</a:t>
            </a:r>
          </a:p>
        </p:txBody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C9BF95D6-DAB7-4FD9-8760-7371F0B6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7658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83BD"/>
                </a:solidFill>
              </a:defRPr>
            </a:pPr>
            <a:r>
              <a:rPr sz="1575" b="1">
                <a:solidFill>
                  <a:srgbClr val="0B83BD"/>
                </a:solidFill>
              </a:rPr>
              <a:t>The domain layer stays useful even when the UI, database, or framework changes.</a:t>
            </a:r>
          </a:p>
        </p:txBody>
      </p:sp>
    </p:spTree>
    <p:extLst>
      <p:ext uri="{BB962C8B-B14F-4D97-AF65-F5344CB8AC3E}">
        <p14:creationId xmlns:p14="http://schemas.microsoft.com/office/powerpoint/2010/main" val="4750772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53;p41">
            <a:extLst xmlns:a="http://schemas.openxmlformats.org/drawingml/2006/main">
              <a:ext uri="{FF2B5EF4-FFF2-40B4-BE49-F238E27FC236}">
                <a16:creationId xmlns:a16="http://schemas.microsoft.com/office/drawing/2014/main" id="{4E50A3D4-955B-4238-8F9E-D40BFCB6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-2" y="198"/>
            <a:ext cx="9144001" cy="930692"/>
          </a:xfrm>
          <a:prstGeom xmlns:a="http://schemas.openxmlformats.org/drawingml/2006/main" prst="flowChartManualInput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cxnSp>
        <p:nvCxnSpPr>
          <p:cNvPr id="270" name="Google Shape;254;p41"/>
          <p:cNvCxnSpPr/>
          <p:nvPr/>
        </p:nvCxnSpPr>
        <p:spPr>
          <a:xfrm xmlns:a="http://schemas.openxmlformats.org/drawingml/2006/main" rot="10800000">
            <a:off x="500941" y="665081"/>
            <a:ext cx="676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5" name="Google Shape;255;p41">
            <a:extLst xmlns:a="http://schemas.openxmlformats.org/drawingml/2006/main">
              <a:ext uri="{FF2B5EF4-FFF2-40B4-BE49-F238E27FC236}">
                <a16:creationId xmlns:a16="http://schemas.microsoft.com/office/drawing/2014/main" id="{C45CC5A5-1D09-4CB5-A6D0-5AC8443A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9015" y="-959005"/>
            <a:ext cx="184800" cy="30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256" name="Google Shape;256;p41">
            <a:extLst xmlns:a="http://schemas.openxmlformats.org/drawingml/2006/main">
              <a:ext uri="{FF2B5EF4-FFF2-40B4-BE49-F238E27FC236}">
                <a16:creationId xmlns:a16="http://schemas.microsoft.com/office/drawing/2014/main" id="{4D899EF8-86A0-4890-B6EC-C76D54DD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536" y="202121"/>
            <a:ext cx="8096250" cy="400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sz="2600">
                <a:solidFill>
                  <a:schemeClr val="accent2"/>
                </a:solidFill>
                <a:latin typeface="Inter Tight ExtraBold"/>
                <a:ea typeface="Inter Tight ExtraBold"/>
                <a:cs typeface="Inter Tight ExtraBold"/>
              </a:rPr>
              <a:t>Anemic models scatter rules; rich models own them</a:t>
            </a:r>
          </a:p>
        </p:txBody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E99F9EBF-1F3C-46C3-80D4-83D26633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90625"/>
            <a:ext cx="38100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2F5F7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B610501C-4538-4625-A907-4FE8EFCA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190625"/>
            <a:ext cx="38100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DCEC43A6-6C3C-4723-B326-3D719B9B3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9700"/>
            <a:ext cx="3314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B76"/>
                </a:solidFill>
              </a:defRPr>
            </a:pPr>
            <a:r>
              <a:rPr sz="1200" b="1">
                <a:solidFill>
                  <a:srgbClr val="5F6B76"/>
                </a:solidFill>
              </a:rPr>
              <a:t>ANEMIC DATA MODEL</a:t>
            </a:r>
          </a:p>
        </p:txBody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A045B242-E3CD-48E7-A740-B7CA2DEE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331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public int Points { get; set; }</a:t>
            </a:r>
          </a:p>
        </p:txBody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009209F8-5B8E-4668-829B-A442A4A6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3238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B76"/>
                </a:solidFill>
              </a:defRPr>
            </a:pPr>
            <a:r>
              <a:rPr sz="1425" b="0">
                <a:solidFill>
                  <a:srgbClr val="5F6B76"/>
                </a:solidFill>
              </a:rPr>
              <a:t>Any caller can set -10.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F6B76"/>
                </a:solidFill>
              </a:defRPr>
            </a:pPr>
            <a:r>
              <a:rPr sz="1425" b="0">
                <a:solidFill>
                  <a:srgbClr val="5F6B76"/>
                </a:solidFill>
              </a:rPr>
              <a:t>Validation drifts into controllers and services.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F6B76"/>
                </a:solidFill>
              </a:defRPr>
            </a:pPr>
            <a:r>
              <a:rPr sz="1425" b="0">
                <a:solidFill>
                  <a:srgbClr val="5F6B76"/>
                </a:solidFill>
              </a:rPr>
              <a:t>The object describes data, not behavior.</a:t>
            </a:r>
          </a:p>
        </p:txBody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7FDB6DAF-B9F9-415A-94EE-85C8FA0C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409700"/>
            <a:ext cx="3314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B83BD"/>
                </a:solidFill>
              </a:defRPr>
            </a:pPr>
            <a:r>
              <a:rPr sz="1200" b="1">
                <a:solidFill>
                  <a:srgbClr val="0B83BD"/>
                </a:solidFill>
              </a:rPr>
              <a:t>BEHAVIOR-RICH DOMAIN MODEL</a:t>
            </a:r>
          </a:p>
        </p:txBody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DF9E96F6-F3AB-4398-9D96-39914DFC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47850"/>
            <a:ext cx="331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public int Points { get; private set; }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internal void Add(int points) { ... }</a:t>
            </a:r>
          </a:p>
        </p:txBody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B1FBF833-EFEE-4794-B634-3161AC9C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647950"/>
            <a:ext cx="323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One operation protects the rule.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Callers express intent: AwardExperience(300).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Invalid state is rejected immediately.</a:t>
            </a:r>
          </a:p>
        </p:txBody>
      </p:sp>
    </p:spTree>
    <p:extLst>
      <p:ext uri="{BB962C8B-B14F-4D97-AF65-F5344CB8AC3E}">
        <p14:creationId xmlns:p14="http://schemas.microsoft.com/office/powerpoint/2010/main" val="4750772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53;p41">
            <a:extLst xmlns:a="http://schemas.openxmlformats.org/drawingml/2006/main">
              <a:ext uri="{FF2B5EF4-FFF2-40B4-BE49-F238E27FC236}">
                <a16:creationId xmlns:a16="http://schemas.microsoft.com/office/drawing/2014/main" id="{4E50A3D4-955B-4238-8F9E-D40BFCB6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-2" y="198"/>
            <a:ext cx="9144001" cy="930692"/>
          </a:xfrm>
          <a:prstGeom xmlns:a="http://schemas.openxmlformats.org/drawingml/2006/main" prst="flowChartManualInput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cxnSp>
        <p:nvCxnSpPr>
          <p:cNvPr id="278" name="Google Shape;254;p41"/>
          <p:cNvCxnSpPr/>
          <p:nvPr/>
        </p:nvCxnSpPr>
        <p:spPr>
          <a:xfrm xmlns:a="http://schemas.openxmlformats.org/drawingml/2006/main" rot="10800000">
            <a:off x="500941" y="665081"/>
            <a:ext cx="676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5" name="Google Shape;255;p41">
            <a:extLst xmlns:a="http://schemas.openxmlformats.org/drawingml/2006/main">
              <a:ext uri="{FF2B5EF4-FFF2-40B4-BE49-F238E27FC236}">
                <a16:creationId xmlns:a16="http://schemas.microsoft.com/office/drawing/2014/main" id="{C45CC5A5-1D09-4CB5-A6D0-5AC8443A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9015" y="-959005"/>
            <a:ext cx="184800" cy="30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256" name="Google Shape;256;p41">
            <a:extLst xmlns:a="http://schemas.openxmlformats.org/drawingml/2006/main">
              <a:ext uri="{FF2B5EF4-FFF2-40B4-BE49-F238E27FC236}">
                <a16:creationId xmlns:a16="http://schemas.microsoft.com/office/drawing/2014/main" id="{4D899EF8-86A0-4890-B6EC-C76D54DD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536" y="202121"/>
            <a:ext cx="8096250" cy="400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sz="2600">
                <a:solidFill>
                  <a:schemeClr val="accent2"/>
                </a:solidFill>
                <a:latin typeface="Inter Tight ExtraBold"/>
                <a:ea typeface="Inter Tight ExtraBold"/>
                <a:cs typeface="Inter Tight ExtraBold"/>
              </a:rPr>
              <a:t>Four building blocks answer four different questions</a:t>
            </a:r>
          </a:p>
        </p:txBody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F4D9F8D0-C262-45DA-A4E0-17857F02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38100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E0F3E88A-212F-4FCC-BB07-107F499E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3390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F6B76"/>
                </a:solidFill>
              </a:defRPr>
            </a:pPr>
            <a:r>
              <a:rPr sz="1125" b="1">
                <a:solidFill>
                  <a:srgbClr val="5F6B76"/>
                </a:solidFill>
              </a:rPr>
              <a:t>VALUE OBJECT</a:t>
            </a:r>
          </a:p>
        </p:txBody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363CEC32-ACD7-440E-99DF-5F65FBB1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F2937"/>
                </a:solidFill>
              </a:defRPr>
            </a:pPr>
            <a:r>
              <a:rPr sz="1575" b="1">
                <a:solidFill>
                  <a:srgbClr val="1F2937"/>
                </a:solidFill>
              </a:rPr>
              <a:t>What does this value mean?</a:t>
            </a:r>
          </a:p>
        </p:txBody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664741AC-DDA0-441D-9FBD-855C2C45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24075"/>
            <a:ext cx="3390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2994A"/>
                </a:solidFill>
              </a:defRPr>
            </a:pPr>
            <a:r>
              <a:rPr sz="1200" b="1">
                <a:solidFill>
                  <a:srgbClr val="F2994A"/>
                </a:solidFill>
              </a:rPr>
              <a:t>CharacterName</a:t>
            </a:r>
          </a:p>
        </p:txBody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B00CD7D4-F851-4356-8321-730ECA2E0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257300"/>
            <a:ext cx="38100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C7717B6B-31AA-465C-8CB8-B448A4C5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428750"/>
            <a:ext cx="3390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F6B76"/>
                </a:solidFill>
              </a:defRPr>
            </a:pPr>
            <a:r>
              <a:rPr sz="1125" b="1">
                <a:solidFill>
                  <a:srgbClr val="5F6B76"/>
                </a:solidFill>
              </a:rPr>
              <a:t>ENTITY</a:t>
            </a:r>
          </a:p>
        </p:txBody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A72E6BDB-390B-46D6-8672-6005F9EA9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33550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F2937"/>
                </a:solidFill>
              </a:defRPr>
            </a:pPr>
            <a:r>
              <a:rPr sz="1575" b="1">
                <a:solidFill>
                  <a:srgbClr val="1F2937"/>
                </a:solidFill>
              </a:rPr>
              <a:t>Which specific thing is this?</a:t>
            </a:r>
          </a:p>
        </p:txBody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4C4CB4FF-C5B3-4091-90DF-F294FA72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24075"/>
            <a:ext cx="3390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2994A"/>
                </a:solidFill>
              </a:defRPr>
            </a:pPr>
            <a:r>
              <a:rPr sz="1200" b="1">
                <a:solidFill>
                  <a:srgbClr val="F2994A"/>
                </a:solidFill>
              </a:rPr>
              <a:t>ExperienceTracker</a:t>
            </a:r>
          </a:p>
        </p:txBody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A6F6E451-2B90-44E4-B314-DF91EB95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19400"/>
            <a:ext cx="38100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5A04B294-5470-4454-8E12-3DE67C25A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3390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83BD"/>
                </a:solidFill>
              </a:defRPr>
            </a:pPr>
            <a:r>
              <a:rPr sz="1125" b="1">
                <a:solidFill>
                  <a:srgbClr val="0B83BD"/>
                </a:solidFill>
              </a:rPr>
              <a:t>AGGREGATE ROOT</a:t>
            </a:r>
          </a:p>
        </p:txBody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002AAC7D-0F8B-4C39-BC8B-1159FAAC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F2937"/>
                </a:solidFill>
              </a:defRPr>
            </a:pPr>
            <a:r>
              <a:rPr sz="1575" b="1">
                <a:solidFill>
                  <a:srgbClr val="1F2937"/>
                </a:solidFill>
              </a:rPr>
              <a:t>Where are rules enforced?</a:t>
            </a:r>
          </a:p>
        </p:txBody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594542A0-AE36-4A50-A1E0-5C8DD4B6F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86175"/>
            <a:ext cx="3390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2994A"/>
                </a:solidFill>
              </a:defRPr>
            </a:pPr>
            <a:r>
              <a:rPr sz="1200" b="1">
                <a:solidFill>
                  <a:srgbClr val="F2994A"/>
                </a:solidFill>
              </a:rPr>
              <a:t>Character</a:t>
            </a:r>
          </a:p>
        </p:txBody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87E0F4C0-9EDD-4C5F-819C-3CFFA38E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19400"/>
            <a:ext cx="38100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E25A4470-22B2-465D-B762-8727D1A0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990850"/>
            <a:ext cx="3390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F6B76"/>
                </a:solidFill>
              </a:defRPr>
            </a:pPr>
            <a:r>
              <a:rPr sz="1125" b="1">
                <a:solidFill>
                  <a:srgbClr val="5F6B76"/>
                </a:solidFill>
              </a:rPr>
              <a:t>ENUMERATION</a:t>
            </a:r>
          </a:p>
        </p:txBody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470EF693-9FAD-4A6F-8D7A-2CADB35D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295650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F2937"/>
                </a:solidFill>
              </a:defRPr>
            </a:pPr>
            <a:r>
              <a:rPr sz="1575" b="1">
                <a:solidFill>
                  <a:srgbClr val="1F2937"/>
                </a:solidFill>
              </a:rPr>
              <a:t>Which named choices are valid?</a:t>
            </a:r>
          </a:p>
        </p:txBody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4D6C139A-B665-48E1-9EE2-279CD9C4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686175"/>
            <a:ext cx="3390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2994A"/>
                </a:solidFill>
              </a:defRPr>
            </a:pPr>
            <a:r>
              <a:rPr sz="1200" b="1">
                <a:solidFill>
                  <a:srgbClr val="F2994A"/>
                </a:solidFill>
              </a:rPr>
              <a:t>WeaponProficiency</a:t>
            </a:r>
          </a:p>
        </p:txBody>
      </p:sp>
    </p:spTree>
    <p:extLst>
      <p:ext uri="{BB962C8B-B14F-4D97-AF65-F5344CB8AC3E}">
        <p14:creationId xmlns:p14="http://schemas.microsoft.com/office/powerpoint/2010/main" val="4750772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53;p41">
            <a:extLst xmlns:a="http://schemas.openxmlformats.org/drawingml/2006/main">
              <a:ext uri="{FF2B5EF4-FFF2-40B4-BE49-F238E27FC236}">
                <a16:creationId xmlns:a16="http://schemas.microsoft.com/office/drawing/2014/main" id="{4E50A3D4-955B-4238-8F9E-D40BFCB6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-2" y="198"/>
            <a:ext cx="9144001" cy="930692"/>
          </a:xfrm>
          <a:prstGeom xmlns:a="http://schemas.openxmlformats.org/drawingml/2006/main" prst="flowChartManualInput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cxnSp>
        <p:nvCxnSpPr>
          <p:cNvPr id="268" name="Google Shape;254;p41"/>
          <p:cNvCxnSpPr/>
          <p:nvPr/>
        </p:nvCxnSpPr>
        <p:spPr>
          <a:xfrm xmlns:a="http://schemas.openxmlformats.org/drawingml/2006/main" rot="10800000">
            <a:off x="500941" y="665081"/>
            <a:ext cx="676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5" name="Google Shape;255;p41">
            <a:extLst xmlns:a="http://schemas.openxmlformats.org/drawingml/2006/main">
              <a:ext uri="{FF2B5EF4-FFF2-40B4-BE49-F238E27FC236}">
                <a16:creationId xmlns:a16="http://schemas.microsoft.com/office/drawing/2014/main" id="{C45CC5A5-1D09-4CB5-A6D0-5AC8443A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9015" y="-959005"/>
            <a:ext cx="184800" cy="30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256" name="Google Shape;256;p41">
            <a:extLst xmlns:a="http://schemas.openxmlformats.org/drawingml/2006/main">
              <a:ext uri="{FF2B5EF4-FFF2-40B4-BE49-F238E27FC236}">
                <a16:creationId xmlns:a16="http://schemas.microsoft.com/office/drawing/2014/main" id="{4D899EF8-86A0-4890-B6EC-C76D54DD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536" y="202121"/>
            <a:ext cx="8096250" cy="400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sz="2600">
                <a:solidFill>
                  <a:schemeClr val="accent2"/>
                </a:solidFill>
                <a:latin typeface="Inter Tight ExtraBold"/>
                <a:ea typeface="Inter Tight ExtraBold"/>
                <a:cs typeface="Inter Tight ExtraBold"/>
              </a:rPr>
              <a:t>A value object makes a primitive carry meaning</a:t>
            </a:r>
          </a:p>
        </p:txBody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F49BA394-0273-443E-A279-3989920C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62050"/>
            <a:ext cx="811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B76"/>
                </a:solidFill>
              </a:defRPr>
            </a:pPr>
            <a:r>
              <a:rPr sz="1575" b="0">
                <a:solidFill>
                  <a:srgbClr val="5F6B76"/>
                </a:solidFill>
              </a:rPr>
              <a:t>CharacterName is equal by value, validates itself, and cannot be changed after creation.</a:t>
            </a:r>
          </a:p>
        </p:txBody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E9DD231F-A91A-4C7E-AB37-6E04BBA0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24025"/>
            <a:ext cx="5581650" cy="280035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16212B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F2D35F81-D3A9-4490-B2DE-53FAB692F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23875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E8F0F5"/>
                </a:solidFill>
              </a:defRPr>
            </a:pPr>
            <a:r>
              <a:rPr sz="1050" b="0">
                <a:solidFill>
                  <a:srgbClr val="E8F0F5"/>
                </a:solidFill>
              </a:rPr>
              <a:t>public sealed class CharacterName : ValueObject&lt;CharacterName&gt;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E8F0F5"/>
                </a:solidFill>
              </a:defRPr>
            </a:pPr>
            <a:r>
              <a:rPr sz="1050" b="0">
                <a:solidFill>
                  <a:srgbClr val="E8F0F5"/>
                </a:solidFill>
              </a:rPr>
              <a:t>{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E8F0F5"/>
                </a:solidFill>
              </a:defRPr>
            </a:pPr>
            <a:r>
              <a:rPr sz="1050" b="0">
                <a:solidFill>
                  <a:srgbClr val="E8F0F5"/>
                </a:solidFill>
              </a:rPr>
              <a:t>    public CharacterName(string value)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E8F0F5"/>
                </a:solidFill>
              </a:defRPr>
            </a:pPr>
            <a:r>
              <a:rPr sz="1050" b="0">
                <a:solidFill>
                  <a:srgbClr val="E8F0F5"/>
                </a:solidFill>
              </a:rPr>
              <a:t>    {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E8F0F5"/>
                </a:solidFill>
              </a:defRPr>
            </a:pPr>
            <a:r>
              <a:rPr sz="1050" b="0">
                <a:solidFill>
                  <a:srgbClr val="E8F0F5"/>
                </a:solidFill>
              </a:rPr>
              <a:t>        value = value?.Trim() ?? string.Empty;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E8F0F5"/>
                </a:solidFill>
              </a:defRPr>
            </a:pPr>
            <a:r>
              <a:rPr sz="1050" b="0">
                <a:solidFill>
                  <a:srgbClr val="E8F0F5"/>
                </a:solidFill>
              </a:rPr>
              <a:t>        if (value.Length is &lt; 2 or &gt; 50)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E8F0F5"/>
                </a:solidFill>
              </a:defRPr>
            </a:pPr>
            <a:r>
              <a:rPr sz="1050" b="0">
                <a:solidFill>
                  <a:srgbClr val="E8F0F5"/>
                </a:solidFill>
              </a:rPr>
              <a:t>            throw new DomainException(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E8F0F5"/>
                </a:solidFill>
              </a:defRPr>
            </a:pPr>
            <a:r>
              <a:rPr sz="1050" b="0">
                <a:solidFill>
                  <a:srgbClr val="E8F0F5"/>
                </a:solidFill>
              </a:rPr>
              <a:t>                "A character name must be between 2 and 50 characters.");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E8F0F5"/>
                </a:solidFill>
              </a:defRPr>
            </a:pPr>
            <a:r>
              <a:rPr sz="1050" b="0">
                <a:solidFill>
                  <a:srgbClr val="E8F0F5"/>
                </a:solidFill>
              </a:rPr>
              <a:t>        Value = value;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E8F0F5"/>
                </a:solidFill>
              </a:defRPr>
            </a:pPr>
            <a:r>
              <a:rPr sz="1050" b="0">
                <a:solidFill>
                  <a:srgbClr val="E8F0F5"/>
                </a:solidFill>
              </a:rPr>
              <a:t>    }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E8F0F5"/>
                </a:solidFill>
              </a:defRPr>
            </a:pPr>
            <a:r>
              <a:rPr sz="1050" b="0">
                <a:solidFill>
                  <a:srgbClr val="E8F0F5"/>
                </a:solidFill>
              </a:rPr>
              <a:t>    public string Value { get; }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E8F0F5"/>
                </a:solidFill>
              </a:defRPr>
            </a:pPr>
            <a:r>
              <a:rPr sz="1050" b="0">
                <a:solidFill>
                  <a:srgbClr val="E8F0F5"/>
                </a:solidFill>
              </a:rPr>
              <a:t>}</a:t>
            </a:r>
          </a:p>
        </p:txBody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ECBDB77B-10CA-4B7A-8F4E-A44FCC48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24025"/>
            <a:ext cx="2266950" cy="304800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7AC83DB5-12A6-42D2-85B7-58B702FB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526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83BD"/>
                </a:solidFill>
              </a:defRPr>
            </a:pPr>
            <a:r>
              <a:rPr sz="1500" b="1">
                <a:solidFill>
                  <a:srgbClr val="0B83BD"/>
                </a:solidFill>
              </a:rPr>
              <a:t>Why it helps</a:t>
            </a:r>
          </a:p>
        </p:txBody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7FE8BC6F-C274-4198-979E-3252CA20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43150"/>
            <a:ext cx="17907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13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✓ Validation travels with the value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✓ No “just a string” ambiguity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✓ Immutable after construction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✓ Equality reflects its contents</a:t>
            </a:r>
          </a:p>
        </p:txBody>
      </p:sp>
    </p:spTree>
    <p:extLst>
      <p:ext uri="{BB962C8B-B14F-4D97-AF65-F5344CB8AC3E}">
        <p14:creationId xmlns:p14="http://schemas.microsoft.com/office/powerpoint/2010/main" val="4750772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53;p41">
            <a:extLst xmlns:a="http://schemas.openxmlformats.org/drawingml/2006/main">
              <a:ext uri="{FF2B5EF4-FFF2-40B4-BE49-F238E27FC236}">
                <a16:creationId xmlns:a16="http://schemas.microsoft.com/office/drawing/2014/main" id="{4E50A3D4-955B-4238-8F9E-D40BFCB6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-2" y="198"/>
            <a:ext cx="9144001" cy="930692"/>
          </a:xfrm>
          <a:prstGeom xmlns:a="http://schemas.openxmlformats.org/drawingml/2006/main" prst="flowChartManualInput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cxnSp>
        <p:nvCxnSpPr>
          <p:cNvPr id="271" name="Google Shape;254;p41"/>
          <p:cNvCxnSpPr/>
          <p:nvPr/>
        </p:nvCxnSpPr>
        <p:spPr>
          <a:xfrm xmlns:a="http://schemas.openxmlformats.org/drawingml/2006/main" rot="10800000">
            <a:off x="500941" y="665081"/>
            <a:ext cx="676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5" name="Google Shape;255;p41">
            <a:extLst xmlns:a="http://schemas.openxmlformats.org/drawingml/2006/main">
              <a:ext uri="{FF2B5EF4-FFF2-40B4-BE49-F238E27FC236}">
                <a16:creationId xmlns:a16="http://schemas.microsoft.com/office/drawing/2014/main" id="{C45CC5A5-1D09-4CB5-A6D0-5AC8443A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9015" y="-959005"/>
            <a:ext cx="184800" cy="30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256" name="Google Shape;256;p41">
            <a:extLst xmlns:a="http://schemas.openxmlformats.org/drawingml/2006/main">
              <a:ext uri="{FF2B5EF4-FFF2-40B4-BE49-F238E27FC236}">
                <a16:creationId xmlns:a16="http://schemas.microsoft.com/office/drawing/2014/main" id="{4D899EF8-86A0-4890-B6EC-C76D54DD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536" y="202121"/>
            <a:ext cx="8096250" cy="400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sz="2600">
                <a:solidFill>
                  <a:schemeClr val="accent2"/>
                </a:solidFill>
                <a:latin typeface="Inter Tight ExtraBold"/>
                <a:ea typeface="Inter Tight ExtraBold"/>
                <a:cs typeface="Inter Tight ExtraBold"/>
              </a:rPr>
              <a:t>An entity keeps its identity while its state changes</a:t>
            </a:r>
          </a:p>
        </p:txBody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60B93564-8D70-4B34-9676-B6400977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9675"/>
            <a:ext cx="5715000" cy="312420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16212B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80030F1D-9F81-4039-8349-D5A77589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53721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E8F0F5"/>
                </a:solidFill>
              </a:defRPr>
            </a:pPr>
            <a:r>
              <a:rPr sz="1050" b="0">
                <a:solidFill>
                  <a:srgbClr val="E8F0F5"/>
                </a:solidFill>
              </a:rPr>
              <a:t>public sealed class ExperienceTracker : Entity&lt;Guid&gt;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E8F0F5"/>
                </a:solidFill>
              </a:defRPr>
            </a:pPr>
            <a:r>
              <a:rPr sz="1050" b="0">
                <a:solidFill>
                  <a:srgbClr val="E8F0F5"/>
                </a:solidFill>
              </a:rPr>
              <a:t>{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E8F0F5"/>
                </a:solidFill>
              </a:defRPr>
            </a:pPr>
            <a:r>
              <a:rPr sz="1050" b="0">
                <a:solidFill>
                  <a:srgbClr val="E8F0F5"/>
                </a:solidFill>
              </a:rPr>
              <a:t>    internal ExperienceTracker(Guid id) : base(id) {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50" b="0">
                <a:solidFill>
                  <a:srgbClr val="E8F0F5"/>
                </a:solidFill>
              </a:defRPr>
            </a:pPr>
            <a:r>
              <a:rPr sz="1050" b="0">
                <a:solidFill>
                  <a:srgbClr val="E8F0F5"/>
                </a:solidFill>
              </a:rPr>
              <a:t>    public int Points { get; private set; }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E8F0F5"/>
                </a:solidFill>
              </a:defRPr>
            </a:pPr>
            <a:r>
              <a:rPr sz="1050" b="0">
                <a:solidFill>
                  <a:srgbClr val="E8F0F5"/>
                </a:solidFill>
              </a:rPr>
              <a:t>    public int Level =&gt; CalculateLevel(Points);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50" b="0">
                <a:solidFill>
                  <a:srgbClr val="E8F0F5"/>
                </a:solidFill>
              </a:defRPr>
            </a:pPr>
            <a:r>
              <a:rPr sz="1050" b="0">
                <a:solidFill>
                  <a:srgbClr val="E8F0F5"/>
                </a:solidFill>
              </a:rPr>
              <a:t>    internal void Add(int points)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E8F0F5"/>
                </a:solidFill>
              </a:defRPr>
            </a:pPr>
            <a:r>
              <a:rPr sz="1050" b="0">
                <a:solidFill>
                  <a:srgbClr val="E8F0F5"/>
                </a:solidFill>
              </a:rPr>
              <a:t>    {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E8F0F5"/>
                </a:solidFill>
              </a:defRPr>
            </a:pPr>
            <a:r>
              <a:rPr sz="1050" b="0">
                <a:solidFill>
                  <a:srgbClr val="E8F0F5"/>
                </a:solidFill>
              </a:rPr>
              <a:t>        if (points &lt;= 0)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E8F0F5"/>
                </a:solidFill>
              </a:defRPr>
            </a:pPr>
            <a:r>
              <a:rPr sz="1050" b="0">
                <a:solidFill>
                  <a:srgbClr val="E8F0F5"/>
                </a:solidFill>
              </a:rPr>
              <a:t>            throw new DomainException(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E8F0F5"/>
                </a:solidFill>
              </a:defRPr>
            </a:pPr>
            <a:r>
              <a:rPr sz="1050" b="0">
                <a:solidFill>
                  <a:srgbClr val="E8F0F5"/>
                </a:solidFill>
              </a:rPr>
              <a:t>                "Experience awarded must be greater than zero.");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E8F0F5"/>
                </a:solidFill>
              </a:defRPr>
            </a:pPr>
            <a:r>
              <a:rPr sz="1050" b="0">
                <a:solidFill>
                  <a:srgbClr val="E8F0F5"/>
                </a:solidFill>
              </a:rPr>
              <a:t>        Points = checked(Points + points);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E8F0F5"/>
                </a:solidFill>
              </a:defRPr>
            </a:pPr>
            <a:r>
              <a:rPr sz="1050" b="0">
                <a:solidFill>
                  <a:srgbClr val="E8F0F5"/>
                </a:solidFill>
              </a:rPr>
              <a:t>    }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E8F0F5"/>
                </a:solidFill>
              </a:defRPr>
            </a:pPr>
            <a:r>
              <a:rPr sz="1050" b="0">
                <a:solidFill>
                  <a:srgbClr val="E8F0F5"/>
                </a:solidFill>
              </a:rPr>
              <a:t>}</a:t>
            </a:r>
          </a:p>
        </p:txBody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2B265A53-8C6C-4773-806F-7330FDE5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209675"/>
            <a:ext cx="2152650" cy="312420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CEB42D24-8B90-4943-945C-F23C0569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438275"/>
            <a:ext cx="17335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BCA351A2-DB32-422C-96FC-806E1C73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495425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B83BD"/>
                </a:solidFill>
              </a:defRPr>
            </a:pPr>
            <a:r>
              <a:rPr sz="1050" b="1">
                <a:solidFill>
                  <a:srgbClr val="0B83BD"/>
                </a:solidFill>
              </a:rPr>
              <a:t>IDENTITY</a:t>
            </a:r>
          </a:p>
        </p:txBody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19C26105-664F-477B-B2DC-EE6F2B12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24050"/>
            <a:ext cx="1733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The Guid distinguishes one tracker from another.</a:t>
            </a:r>
          </a:p>
        </p:txBody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AB7EA7DD-B201-49D1-8066-E08DFC14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95575"/>
            <a:ext cx="17335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DC6FB093-5293-4D8F-9D31-8AFBC336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52725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B83BD"/>
                </a:solidFill>
              </a:defRPr>
            </a:pPr>
            <a:r>
              <a:rPr sz="1050" b="1">
                <a:solidFill>
                  <a:srgbClr val="0B83BD"/>
                </a:solidFill>
              </a:rPr>
              <a:t>LIFECYCLE</a:t>
            </a:r>
          </a:p>
        </p:txBody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39591181-67E0-43FE-B14F-0A10F33A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81350"/>
            <a:ext cx="1733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Points change over time, but callers cannot bypass Add().</a:t>
            </a:r>
          </a:p>
        </p:txBody>
      </p:sp>
    </p:spTree>
    <p:extLst>
      <p:ext uri="{BB962C8B-B14F-4D97-AF65-F5344CB8AC3E}">
        <p14:creationId xmlns:p14="http://schemas.microsoft.com/office/powerpoint/2010/main" val="4750772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53;p41">
            <a:extLst xmlns:a="http://schemas.openxmlformats.org/drawingml/2006/main">
              <a:ext uri="{FF2B5EF4-FFF2-40B4-BE49-F238E27FC236}">
                <a16:creationId xmlns:a16="http://schemas.microsoft.com/office/drawing/2014/main" id="{4E50A3D4-955B-4238-8F9E-D40BFCB6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-2" y="198"/>
            <a:ext cx="9144001" cy="930692"/>
          </a:xfrm>
          <a:prstGeom xmlns:a="http://schemas.openxmlformats.org/drawingml/2006/main" prst="flowChartManualInput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cxnSp>
        <p:nvCxnSpPr>
          <p:cNvPr id="274" name="Google Shape;254;p41"/>
          <p:cNvCxnSpPr/>
          <p:nvPr/>
        </p:nvCxnSpPr>
        <p:spPr>
          <a:xfrm xmlns:a="http://schemas.openxmlformats.org/drawingml/2006/main" rot="10800000">
            <a:off x="500941" y="665081"/>
            <a:ext cx="676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5" name="Google Shape;255;p41">
            <a:extLst xmlns:a="http://schemas.openxmlformats.org/drawingml/2006/main">
              <a:ext uri="{FF2B5EF4-FFF2-40B4-BE49-F238E27FC236}">
                <a16:creationId xmlns:a16="http://schemas.microsoft.com/office/drawing/2014/main" id="{C45CC5A5-1D09-4CB5-A6D0-5AC8443A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9015" y="-959005"/>
            <a:ext cx="184800" cy="30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256" name="Google Shape;256;p41">
            <a:extLst xmlns:a="http://schemas.openxmlformats.org/drawingml/2006/main">
              <a:ext uri="{FF2B5EF4-FFF2-40B4-BE49-F238E27FC236}">
                <a16:creationId xmlns:a16="http://schemas.microsoft.com/office/drawing/2014/main" id="{4D899EF8-86A0-4890-B6EC-C76D54DD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536" y="202121"/>
            <a:ext cx="8096250" cy="400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sz="2600">
                <a:solidFill>
                  <a:schemeClr val="accent2"/>
                </a:solidFill>
                <a:latin typeface="Inter Tight ExtraBold"/>
                <a:ea typeface="Inter Tight ExtraBold"/>
                <a:cs typeface="Inter Tight ExtraBold"/>
              </a:rPr>
              <a:t>The aggregate root is the consistency boundary</a:t>
            </a:r>
          </a:p>
        </p:txBody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98027F90-295B-4D90-99AB-FF7DBF0F4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B76"/>
                </a:solidFill>
              </a:defRPr>
            </a:pPr>
            <a:r>
              <a:rPr sz="1650" b="0">
                <a:solidFill>
                  <a:srgbClr val="5F6B76"/>
                </a:solidFill>
              </a:rPr>
              <a:t>Character is the only public doorway to inventory and progression changes.</a:t>
            </a:r>
          </a:p>
        </p:txBody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D37B8261-89A4-4E76-930D-ECE83169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581275"/>
            <a:ext cx="575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99CF4061-4FF8-40F9-9698-1C0E9D3C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8859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2F5F7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5FE0672B-AF58-456D-A5A1-485385D1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86000"/>
            <a:ext cx="1543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Controller</a:t>
            </a:r>
          </a:p>
        </p:txBody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1BB44AE9-D428-4522-B3C9-3D27B36E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18859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F3D088C8-5BBB-4E3E-9C65-21135E1E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286000"/>
            <a:ext cx="1543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83BD"/>
                </a:solidFill>
              </a:defRPr>
            </a:pPr>
            <a:r>
              <a:rPr sz="1500" b="1">
                <a:solidFill>
                  <a:srgbClr val="0B83BD"/>
                </a:solidFill>
              </a:rPr>
              <a:t>Character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0B83BD"/>
                </a:solidFill>
              </a:defRPr>
            </a:pPr>
            <a:r>
              <a:rPr sz="1500" b="1">
                <a:solidFill>
                  <a:srgbClr val="0B83BD"/>
                </a:solidFill>
              </a:rPr>
              <a:t>Aggregate Root</a:t>
            </a:r>
          </a:p>
        </p:txBody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86B0F8A6-B2BC-4B1A-9596-F56DE2EB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00250"/>
            <a:ext cx="18859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2F5F7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78208C7D-6A27-43B4-AE15-A9C3601C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86000"/>
            <a:ext cx="1543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Inventory +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Experience</a:t>
            </a:r>
          </a:p>
        </p:txBody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262F80FC-1F5F-4649-91ED-C85A614E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27647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5F6B76"/>
                </a:solidFill>
              </a:defRPr>
            </a:pPr>
            <a:r>
              <a:rPr sz="1050" b="1">
                <a:solidFill>
                  <a:srgbClr val="5F6B76"/>
                </a:solidFill>
              </a:rPr>
              <a:t>request</a:t>
            </a:r>
          </a:p>
        </p:txBody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02C401E5-4EC6-46F8-9DC1-8F795896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7647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5F6B76"/>
                </a:solidFill>
              </a:defRPr>
            </a:pPr>
            <a:r>
              <a:rPr sz="1050" b="1">
                <a:solidFill>
                  <a:srgbClr val="5F6B76"/>
                </a:solidFill>
              </a:rPr>
              <a:t>controlled change</a:t>
            </a:r>
          </a:p>
        </p:txBody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4C3D2C3B-CFBA-44AA-AC98-7F78AF66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90925"/>
            <a:ext cx="7048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F53A0246-B9C1-4CE0-89E8-E84C04799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71900"/>
            <a:ext cx="662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9A4F13"/>
                </a:solidFill>
              </a:defRPr>
            </a:pPr>
            <a:r>
              <a:rPr sz="1575" b="1">
                <a:solidFill>
                  <a:srgbClr val="9A4F13"/>
                </a:solidFill>
              </a:rPr>
              <a:t>Invariant: a character may equip only a weapon its class can use.</a:t>
            </a:r>
          </a:p>
        </p:txBody>
      </p:sp>
    </p:spTree>
    <p:extLst>
      <p:ext uri="{BB962C8B-B14F-4D97-AF65-F5344CB8AC3E}">
        <p14:creationId xmlns:p14="http://schemas.microsoft.com/office/powerpoint/2010/main" val="4750772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53;p41">
            <a:extLst xmlns:a="http://schemas.openxmlformats.org/drawingml/2006/main">
              <a:ext uri="{FF2B5EF4-FFF2-40B4-BE49-F238E27FC236}">
                <a16:creationId xmlns:a16="http://schemas.microsoft.com/office/drawing/2014/main" id="{4E50A3D4-955B-4238-8F9E-D40BFCB6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-2" y="198"/>
            <a:ext cx="9144001" cy="930692"/>
          </a:xfrm>
          <a:prstGeom xmlns:a="http://schemas.openxmlformats.org/drawingml/2006/main" prst="flowChartManualInput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cxnSp>
        <p:nvCxnSpPr>
          <p:cNvPr id="268" name="Google Shape;254;p41"/>
          <p:cNvCxnSpPr/>
          <p:nvPr/>
        </p:nvCxnSpPr>
        <p:spPr>
          <a:xfrm xmlns:a="http://schemas.openxmlformats.org/drawingml/2006/main" rot="10800000">
            <a:off x="500941" y="665081"/>
            <a:ext cx="676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5" name="Google Shape;255;p41">
            <a:extLst xmlns:a="http://schemas.openxmlformats.org/drawingml/2006/main">
              <a:ext uri="{FF2B5EF4-FFF2-40B4-BE49-F238E27FC236}">
                <a16:creationId xmlns:a16="http://schemas.microsoft.com/office/drawing/2014/main" id="{C45CC5A5-1D09-4CB5-A6D0-5AC8443A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9015" y="-959005"/>
            <a:ext cx="184800" cy="30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256" name="Google Shape;256;p41">
            <a:extLst xmlns:a="http://schemas.openxmlformats.org/drawingml/2006/main">
              <a:ext uri="{FF2B5EF4-FFF2-40B4-BE49-F238E27FC236}">
                <a16:creationId xmlns:a16="http://schemas.microsoft.com/office/drawing/2014/main" id="{4D899EF8-86A0-4890-B6EC-C76D54DD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536" y="202121"/>
            <a:ext cx="8096250" cy="400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sz="2600">
                <a:solidFill>
                  <a:schemeClr val="accent2"/>
                </a:solidFill>
                <a:latin typeface="Inter Tight ExtraBold"/>
                <a:ea typeface="Inter Tight ExtraBold"/>
                <a:cs typeface="Inter Tight ExtraBold"/>
              </a:rPr>
              <a:t>A richer enumeration gives named choices behavior</a:t>
            </a:r>
          </a:p>
        </p:txBody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B799DCF6-0EA0-49A7-9D4A-60B6CEA7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811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B76"/>
                </a:solidFill>
              </a:defRPr>
            </a:pPr>
            <a:r>
              <a:rPr sz="1500" b="0">
                <a:solidFill>
                  <a:srgbClr val="5F6B76"/>
                </a:solidFill>
              </a:rPr>
              <a:t>Use a class-based enumeration when a simple enum needs validation, lookup, or domain behavior.</a:t>
            </a:r>
          </a:p>
        </p:txBody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BB8F8FA2-3731-4FB2-98AE-9EB933F5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5619750" cy="22098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16212B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DF844CB8-471A-40EC-91C0-D06DB234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27685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E8F0F5"/>
                </a:solidFill>
              </a:defRPr>
            </a:pPr>
            <a:r>
              <a:rPr sz="1050" b="0">
                <a:solidFill>
                  <a:srgbClr val="E8F0F5"/>
                </a:solidFill>
              </a:rPr>
              <a:t>public sealed class WeaponProficiency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E8F0F5"/>
                </a:solidFill>
              </a:defRPr>
            </a:pPr>
            <a:r>
              <a:rPr sz="1050" b="0">
                <a:solidFill>
                  <a:srgbClr val="E8F0F5"/>
                </a:solidFill>
              </a:rPr>
              <a:t>    : Enumeration&lt;WeaponProficiency, string&gt;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E8F0F5"/>
                </a:solidFill>
              </a:defRPr>
            </a:pPr>
            <a:r>
              <a:rPr sz="1050" b="0">
                <a:solidFill>
                  <a:srgbClr val="E8F0F5"/>
                </a:solidFill>
              </a:rPr>
              <a:t>{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E8F0F5"/>
                </a:solidFill>
              </a:defRPr>
            </a:pPr>
            <a:r>
              <a:rPr sz="1050" b="0">
                <a:solidFill>
                  <a:srgbClr val="E8F0F5"/>
                </a:solidFill>
              </a:rPr>
              <a:t>    public static readonly WeaponProficiency Simple = new("Simple");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E8F0F5"/>
                </a:solidFill>
              </a:defRPr>
            </a:pPr>
            <a:r>
              <a:rPr sz="1050" b="0">
                <a:solidFill>
                  <a:srgbClr val="E8F0F5"/>
                </a:solidFill>
              </a:rPr>
              <a:t>    public static readonly WeaponProficiency Martial = new("Martial");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50" b="0">
                <a:solidFill>
                  <a:srgbClr val="E8F0F5"/>
                </a:solidFill>
              </a:defRPr>
            </a:pPr>
            <a:r>
              <a:rPr sz="1050" b="0">
                <a:solidFill>
                  <a:srgbClr val="E8F0F5"/>
                </a:solidFill>
              </a:rPr>
              <a:t>    private WeaponProficiency(string value) : base(value) { }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E8F0F5"/>
                </a:solidFill>
              </a:defRPr>
            </a:pPr>
            <a:r>
              <a:rPr sz="1050" b="0">
                <a:solidFill>
                  <a:srgbClr val="E8F0F5"/>
                </a:solidFill>
              </a:rPr>
              <a:t>}</a:t>
            </a:r>
          </a:p>
        </p:txBody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FFADE9FF-160C-4774-95CB-16FFAABAE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90700"/>
            <a:ext cx="2228850" cy="22098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407C4EAA-FAF6-4A4B-AA74-CB294B72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193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83BD"/>
                </a:solidFill>
              </a:defRPr>
            </a:pPr>
            <a:r>
              <a:rPr sz="1425" b="1">
                <a:solidFill>
                  <a:srgbClr val="0B83BD"/>
                </a:solidFill>
              </a:rPr>
              <a:t>Compared with strings</a:t>
            </a:r>
          </a:p>
        </p:txBody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7948696C-38BA-4F95-B6E9-9D1519E00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66975"/>
            <a:ext cx="1809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"Martal" compiles.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WeaponProficiency.Martial is discoverable and valid by construction.</a:t>
            </a:r>
          </a:p>
        </p:txBody>
      </p:sp>
    </p:spTree>
    <p:extLst>
      <p:ext uri="{BB962C8B-B14F-4D97-AF65-F5344CB8AC3E}">
        <p14:creationId xmlns:p14="http://schemas.microsoft.com/office/powerpoint/2010/main" val="4750772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53;p41">
            <a:extLst xmlns:a="http://schemas.openxmlformats.org/drawingml/2006/main">
              <a:ext uri="{FF2B5EF4-FFF2-40B4-BE49-F238E27FC236}">
                <a16:creationId xmlns:a16="http://schemas.microsoft.com/office/drawing/2014/main" id="{4E50A3D4-955B-4238-8F9E-D40BFCB6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-2" y="198"/>
            <a:ext cx="9144001" cy="930692"/>
          </a:xfrm>
          <a:prstGeom xmlns:a="http://schemas.openxmlformats.org/drawingml/2006/main" prst="flowChartManualInput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cxnSp>
        <p:nvCxnSpPr>
          <p:cNvPr id="278" name="Google Shape;254;p41"/>
          <p:cNvCxnSpPr/>
          <p:nvPr/>
        </p:nvCxnSpPr>
        <p:spPr>
          <a:xfrm xmlns:a="http://schemas.openxmlformats.org/drawingml/2006/main" rot="10800000">
            <a:off x="500941" y="665081"/>
            <a:ext cx="676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5" name="Google Shape;255;p41">
            <a:extLst xmlns:a="http://schemas.openxmlformats.org/drawingml/2006/main">
              <a:ext uri="{FF2B5EF4-FFF2-40B4-BE49-F238E27FC236}">
                <a16:creationId xmlns:a16="http://schemas.microsoft.com/office/drawing/2014/main" id="{C45CC5A5-1D09-4CB5-A6D0-5AC8443A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9015" y="-959005"/>
            <a:ext cx="184800" cy="30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256" name="Google Shape;256;p41">
            <a:extLst xmlns:a="http://schemas.openxmlformats.org/drawingml/2006/main">
              <a:ext uri="{FF2B5EF4-FFF2-40B4-BE49-F238E27FC236}">
                <a16:creationId xmlns:a16="http://schemas.microsoft.com/office/drawing/2014/main" id="{4D899EF8-86A0-4890-B6EC-C76D54DD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536" y="202121"/>
            <a:ext cx="8096250" cy="400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sz="2600">
                <a:solidFill>
                  <a:schemeClr val="accent2"/>
                </a:solidFill>
                <a:latin typeface="Inter Tight ExtraBold"/>
                <a:ea typeface="Inter Tight ExtraBold"/>
                <a:cs typeface="Inter Tight ExtraBold"/>
              </a:rPr>
              <a:t>Encapsulation makes invalid state difficult to create</a:t>
            </a:r>
          </a:p>
        </p:txBody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7257E55C-41C9-48BF-B02A-52E1065F3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4191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B83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B6769CA9-B382-4764-AD6F-2A9FEB92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511D0D21-AF4F-4CB5-876C-02D64BBD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09675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F2937"/>
                </a:solidFill>
              </a:defRPr>
            </a:pPr>
            <a:r>
              <a:rPr sz="1200" b="1">
                <a:solidFill>
                  <a:srgbClr val="1F2937"/>
                </a:solidFill>
              </a:rPr>
              <a:t>INTERNAL CONSTRUCTOR</a:t>
            </a:r>
          </a:p>
        </p:txBody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84717837-1F5B-4704-BA6A-484688F47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181100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Frameworks and the data layer can rehydrate an object without making construction public.</a:t>
            </a:r>
          </a:p>
        </p:txBody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D7E74B00-8C3F-48B5-A562-5201BE53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4191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B83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DB976721-B373-42C2-B114-B78DA726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AE189370-DF08-4B53-AF3C-8EC5D32D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47875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F2937"/>
                </a:solidFill>
              </a:defRPr>
            </a:pPr>
            <a:r>
              <a:rPr sz="1200" b="1">
                <a:solidFill>
                  <a:srgbClr val="1F2937"/>
                </a:solidFill>
              </a:rPr>
              <a:t>FACTORY METHOD</a:t>
            </a:r>
          </a:p>
        </p:txBody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C9CBF4C7-B020-430E-A7E7-6234C732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19300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Create(...) provides the safe, intention-revealing path for new objects.</a:t>
            </a:r>
          </a:p>
        </p:txBody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0DD201BB-6A32-4CAA-9696-2634DD2B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76550"/>
            <a:ext cx="4191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B83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0A836A50-D25A-4E3C-8028-0CABC9B1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337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0AAA8CE9-D1DA-4449-8030-388459E7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86075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F2937"/>
                </a:solidFill>
              </a:defRPr>
            </a:pPr>
            <a:r>
              <a:rPr sz="1200" b="1">
                <a:solidFill>
                  <a:srgbClr val="1F2937"/>
                </a:solidFill>
              </a:rPr>
              <a:t>PRIVATE SETTERS</a:t>
            </a:r>
          </a:p>
        </p:txBody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8ED66431-8A53-4784-8F91-8F47A966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57500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State changes only through methods that enforce business rules.</a:t>
            </a:r>
          </a:p>
        </p:txBody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8B506F4F-2853-469F-BDF8-8652625B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4191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29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65DCF270-28ED-423B-B6AF-8A905224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719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F0D38DA1-BDAC-4D2C-8251-E32AF0DA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F2937"/>
                </a:solidFill>
              </a:defRPr>
            </a:pPr>
            <a:r>
              <a:rPr sz="1200" b="1">
                <a:solidFill>
                  <a:srgbClr val="1F2937"/>
                </a:solidFill>
              </a:rPr>
              <a:t>DOMAIN EXCEPTIONS</a:t>
            </a:r>
          </a:p>
        </p:txBody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C81C7E75-1A0A-4CC4-B612-8ADB2F15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95700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Rule violations use domain language and fail close to the cause.</a:t>
            </a:r>
          </a:p>
        </p:txBody>
      </p:sp>
    </p:spTree>
    <p:extLst>
      <p:ext uri="{BB962C8B-B14F-4D97-AF65-F5344CB8AC3E}">
        <p14:creationId xmlns:p14="http://schemas.microsoft.com/office/powerpoint/2010/main" val="4750772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53;p41">
            <a:extLst xmlns:a="http://schemas.openxmlformats.org/drawingml/2006/main">
              <a:ext uri="{FF2B5EF4-FFF2-40B4-BE49-F238E27FC236}">
                <a16:creationId xmlns:a16="http://schemas.microsoft.com/office/drawing/2014/main" id="{4E50A3D4-955B-4238-8F9E-D40BFCB6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-2" y="198"/>
            <a:ext cx="9144001" cy="930692"/>
          </a:xfrm>
          <a:prstGeom xmlns:a="http://schemas.openxmlformats.org/drawingml/2006/main" prst="flowChartManualInput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cxnSp>
        <p:nvCxnSpPr>
          <p:cNvPr id="276" name="Google Shape;254;p41"/>
          <p:cNvCxnSpPr/>
          <p:nvPr/>
        </p:nvCxnSpPr>
        <p:spPr>
          <a:xfrm xmlns:a="http://schemas.openxmlformats.org/drawingml/2006/main" rot="10800000">
            <a:off x="500941" y="665081"/>
            <a:ext cx="676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5" name="Google Shape;255;p41">
            <a:extLst xmlns:a="http://schemas.openxmlformats.org/drawingml/2006/main">
              <a:ext uri="{FF2B5EF4-FFF2-40B4-BE49-F238E27FC236}">
                <a16:creationId xmlns:a16="http://schemas.microsoft.com/office/drawing/2014/main" id="{C45CC5A5-1D09-4CB5-A6D0-5AC8443A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9015" y="-959005"/>
            <a:ext cx="184800" cy="30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256" name="Google Shape;256;p41">
            <a:extLst xmlns:a="http://schemas.openxmlformats.org/drawingml/2006/main">
              <a:ext uri="{FF2B5EF4-FFF2-40B4-BE49-F238E27FC236}">
                <a16:creationId xmlns:a16="http://schemas.microsoft.com/office/drawing/2014/main" id="{4D899EF8-86A0-4890-B6EC-C76D54DD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536" y="202121"/>
            <a:ext cx="8096250" cy="400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sz="2600">
                <a:solidFill>
                  <a:schemeClr val="accent2"/>
                </a:solidFill>
                <a:latin typeface="Inter Tight ExtraBold"/>
                <a:ea typeface="Inter Tight ExtraBold"/>
                <a:cs typeface="Inter Tight ExtraBold"/>
              </a:rPr>
              <a:t>One method shows the pieces working together</a:t>
            </a:r>
          </a:p>
        </p:txBody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AB37E8FE-F039-4AAA-993B-5C3BA945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5715000" cy="3105150"/>
          </a:xfrm>
          <a:prstGeom xmlns:a="http://schemas.openxmlformats.org/drawingml/2006/main" prst="roundRect">
            <a:avLst>
              <a:gd name="adj" fmla="val 3681"/>
            </a:avLst>
          </a:prstGeom>
          <a:solidFill xmlns:a="http://schemas.openxmlformats.org/drawingml/2006/main">
            <a:srgbClr val="16212B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4EED59F5-98CA-4A15-9262-93F01511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537210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E8F0F5"/>
                </a:solidFill>
              </a:defRPr>
            </a:pPr>
            <a:r>
              <a:rPr sz="1050" b="0">
                <a:solidFill>
                  <a:srgbClr val="E8F0F5"/>
                </a:solidFill>
              </a:rPr>
              <a:t>public void Equip(Guid inventoryItemId)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E8F0F5"/>
                </a:solidFill>
              </a:defRPr>
            </a:pPr>
            <a:r>
              <a:rPr sz="1050" b="0">
                <a:solidFill>
                  <a:srgbClr val="E8F0F5"/>
                </a:solidFill>
              </a:rPr>
              <a:t>{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E8F0F5"/>
                </a:solidFill>
              </a:defRPr>
            </a:pPr>
            <a:r>
              <a:rPr sz="1050" b="0">
                <a:solidFill>
                  <a:srgbClr val="E8F0F5"/>
                </a:solidFill>
              </a:rPr>
              <a:t>    InventoryItem item = _inventory.Get(inventoryItemId);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50" b="0">
                <a:solidFill>
                  <a:srgbClr val="E8F0F5"/>
                </a:solidFill>
              </a:defRPr>
            </a:pPr>
            <a:r>
              <a:rPr sz="1050" b="0">
                <a:solidFill>
                  <a:srgbClr val="E8F0F5"/>
                </a:solidFill>
              </a:rPr>
              <a:t>    if (item.Item is not Weapon weapon)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E8F0F5"/>
                </a:solidFill>
              </a:defRPr>
            </a:pPr>
            <a:r>
              <a:rPr sz="1050" b="0">
                <a:solidFill>
                  <a:srgbClr val="E8F0F5"/>
                </a:solidFill>
              </a:rPr>
              <a:t>        throw new DomainException(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E8F0F5"/>
                </a:solidFill>
              </a:defRPr>
            </a:pPr>
            <a:r>
              <a:rPr sz="1050" b="0">
                <a:solidFill>
                  <a:srgbClr val="E8F0F5"/>
                </a:solidFill>
              </a:rPr>
              <a:t>            $"{item.Item.Name} is not a weapon and cannot be equipped.");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50" b="0">
                <a:solidFill>
                  <a:srgbClr val="E8F0F5"/>
                </a:solidFill>
              </a:defRPr>
            </a:pPr>
            <a:r>
              <a:rPr sz="1050" b="0">
                <a:solidFill>
                  <a:srgbClr val="E8F0F5"/>
                </a:solidFill>
              </a:rPr>
              <a:t>    if (!Class.CanUse(weapon))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E8F0F5"/>
                </a:solidFill>
              </a:defRPr>
            </a:pPr>
            <a:r>
              <a:rPr sz="1050" b="0">
                <a:solidFill>
                  <a:srgbClr val="E8F0F5"/>
                </a:solidFill>
              </a:rPr>
              <a:t>        throw new DomainException(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E8F0F5"/>
                </a:solidFill>
              </a:defRPr>
            </a:pPr>
            <a:r>
              <a:rPr sz="1050" b="0">
                <a:solidFill>
                  <a:srgbClr val="E8F0F5"/>
                </a:solidFill>
              </a:rPr>
              <a:t>            $"A {Class.Name} cannot equip {weapon.Name}.");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50" b="0">
                <a:solidFill>
                  <a:srgbClr val="E8F0F5"/>
                </a:solidFill>
              </a:defRPr>
            </a:pPr>
            <a:r>
              <a:rPr sz="1050" b="0">
                <a:solidFill>
                  <a:srgbClr val="E8F0F5"/>
                </a:solidFill>
              </a:rPr>
              <a:t>    EquippedWeaponItemId = item.Id;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E8F0F5"/>
                </a:solidFill>
              </a:defRPr>
            </a:pPr>
            <a:r>
              <a:rPr sz="1050" b="0">
                <a:solidFill>
                  <a:srgbClr val="E8F0F5"/>
                </a:solidFill>
              </a:rPr>
              <a:t>}</a:t>
            </a:r>
          </a:p>
        </p:txBody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90ABC075-6DA4-4A12-B594-DCBD5641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285875"/>
            <a:ext cx="361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B83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6F046820-2060-4E38-AA0C-952845BCA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3430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AABD26D7-E3E2-49ED-BE04-49CF828B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323975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B76"/>
                </a:solidFill>
              </a:defRPr>
            </a:pPr>
            <a:r>
              <a:rPr sz="1200" b="0">
                <a:solidFill>
                  <a:srgbClr val="5F6B76"/>
                </a:solidFill>
              </a:rPr>
              <a:t>Entity identity selects the inventory item</a:t>
            </a:r>
          </a:p>
        </p:txBody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D8B8755D-E78E-4656-A5C9-07AF67A0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90725"/>
            <a:ext cx="361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B83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D70716D5-1666-44A2-AD04-2B4862DB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478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EA4D91D4-4068-4563-B2CE-D98661FE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28825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B76"/>
                </a:solidFill>
              </a:defRPr>
            </a:pPr>
            <a:r>
              <a:rPr sz="1200" b="0">
                <a:solidFill>
                  <a:srgbClr val="5F6B76"/>
                </a:solidFill>
              </a:rPr>
              <a:t>Aggregate root controls the operation</a:t>
            </a:r>
          </a:p>
        </p:txBody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408E6CD3-0ECC-4BCD-BF9A-CA6A8863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95575"/>
            <a:ext cx="361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B83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276E4C13-326E-49DC-B5DC-6004A2CD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527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F1554032-B98B-4F3B-957E-1EE8E2E7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733675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B76"/>
                </a:solidFill>
              </a:defRPr>
            </a:pPr>
            <a:r>
              <a:rPr sz="1200" b="0">
                <a:solidFill>
                  <a:srgbClr val="5F6B76"/>
                </a:solidFill>
              </a:rPr>
              <a:t>Enumeration/value objects express valid concepts</a:t>
            </a:r>
          </a:p>
        </p:txBody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794A2BC0-A969-4B7E-BCB7-9102A45F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00425"/>
            <a:ext cx="361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29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F7E9706A-21A3-45C0-BADA-FA9F0251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4575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AC19720A-7AFD-419A-88B6-31395DD0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438525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B76"/>
                </a:solidFill>
              </a:defRPr>
            </a:pPr>
            <a:r>
              <a:rPr sz="1200" b="0">
                <a:solidFill>
                  <a:srgbClr val="5F6B76"/>
                </a:solidFill>
              </a:rPr>
              <a:t>Private setter changes state only after rules pass</a:t>
            </a:r>
          </a:p>
        </p:txBody>
      </p:sp>
    </p:spTree>
    <p:extLst>
      <p:ext uri="{BB962C8B-B14F-4D97-AF65-F5344CB8AC3E}">
        <p14:creationId xmlns:p14="http://schemas.microsoft.com/office/powerpoint/2010/main" val="47507726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53;p41">
            <a:extLst xmlns:a="http://schemas.openxmlformats.org/drawingml/2006/main">
              <a:ext uri="{FF2B5EF4-FFF2-40B4-BE49-F238E27FC236}">
                <a16:creationId xmlns:a16="http://schemas.microsoft.com/office/drawing/2014/main" id="{4E50A3D4-955B-4238-8F9E-D40BFCB6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-2" y="198"/>
            <a:ext cx="9144001" cy="930692"/>
          </a:xfrm>
          <a:prstGeom xmlns:a="http://schemas.openxmlformats.org/drawingml/2006/main" prst="flowChartManualInput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cxnSp>
        <p:nvCxnSpPr>
          <p:cNvPr id="277" name="Google Shape;254;p41"/>
          <p:cNvCxnSpPr/>
          <p:nvPr/>
        </p:nvCxnSpPr>
        <p:spPr>
          <a:xfrm xmlns:a="http://schemas.openxmlformats.org/drawingml/2006/main" rot="10800000">
            <a:off x="500941" y="665081"/>
            <a:ext cx="676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5" name="Google Shape;255;p41">
            <a:extLst xmlns:a="http://schemas.openxmlformats.org/drawingml/2006/main">
              <a:ext uri="{FF2B5EF4-FFF2-40B4-BE49-F238E27FC236}">
                <a16:creationId xmlns:a16="http://schemas.microsoft.com/office/drawing/2014/main" id="{C45CC5A5-1D09-4CB5-A6D0-5AC8443A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9015" y="-959005"/>
            <a:ext cx="184800" cy="30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256" name="Google Shape;256;p41">
            <a:extLst xmlns:a="http://schemas.openxmlformats.org/drawingml/2006/main">
              <a:ext uri="{FF2B5EF4-FFF2-40B4-BE49-F238E27FC236}">
                <a16:creationId xmlns:a16="http://schemas.microsoft.com/office/drawing/2014/main" id="{4D899EF8-86A0-4890-B6EC-C76D54DD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536" y="202121"/>
            <a:ext cx="8096250" cy="400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sz="2600">
                <a:solidFill>
                  <a:schemeClr val="accent2"/>
                </a:solidFill>
                <a:latin typeface="Inter Tight ExtraBold"/>
                <a:ea typeface="Inter Tight ExtraBold"/>
                <a:cs typeface="Inter Tight ExtraBold"/>
              </a:rPr>
              <a:t>Your Week 3 goal: build one behavior-rich domain object</a:t>
            </a:r>
          </a:p>
        </p:txBody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1A70039C-5CFF-4B59-8F98-5A50F37A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F6B76"/>
                </a:solidFill>
              </a:defRPr>
            </a:pPr>
            <a:r>
              <a:rPr sz="1725" b="0">
                <a:solidFill>
                  <a:srgbClr val="5F6B76"/>
                </a:solidFill>
              </a:rPr>
              <a:t>Start small. Protect one real rule from your API’s domain.</a:t>
            </a:r>
          </a:p>
        </p:txBody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6FDDD1FA-5D1C-4CC7-BFBC-0BEE927E9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335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2994A"/>
                </a:solidFill>
              </a:defRPr>
            </a:pPr>
            <a:r>
              <a:rPr sz="1200" b="1">
                <a:solidFill>
                  <a:srgbClr val="F2994A"/>
                </a:solidFill>
              </a:rPr>
              <a:t>01</a:t>
            </a:r>
          </a:p>
        </p:txBody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183E37EC-1A86-4506-9252-1C008C953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7335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F2937"/>
                </a:solidFill>
              </a:defRPr>
            </a:pPr>
            <a:r>
              <a:rPr sz="1425" b="1">
                <a:solidFill>
                  <a:srgbClr val="1F2937"/>
                </a:solidFill>
              </a:rPr>
              <a:t>Create a domain object</a:t>
            </a:r>
          </a:p>
        </p:txBody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967E22AE-8FFB-4C17-BF89-35CD537B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335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Give it identity or meaningful value.</a:t>
            </a:r>
          </a:p>
        </p:txBody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8CA80F0C-681F-44AC-8327-3F37DDA2C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2994A"/>
                </a:solidFill>
              </a:defRPr>
            </a:pPr>
            <a:r>
              <a:rPr sz="1200" b="1">
                <a:solidFill>
                  <a:srgbClr val="F2994A"/>
                </a:solidFill>
              </a:rPr>
              <a:t>02</a:t>
            </a:r>
          </a:p>
        </p:txBody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9A15A23B-E224-4AB9-B088-822006C3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812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F2937"/>
                </a:solidFill>
              </a:defRPr>
            </a:pPr>
            <a:r>
              <a:rPr sz="1425" b="1">
                <a:solidFill>
                  <a:srgbClr val="1F2937"/>
                </a:solidFill>
              </a:rPr>
              <a:t>Encapsulate a rule</a:t>
            </a:r>
          </a:p>
        </p:txBody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8125E2BF-BE7B-48B7-9A6A-8FDF81D7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812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Use a factory or behavior method; keep setters private.</a:t>
            </a:r>
          </a:p>
        </p:txBody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F281DC09-B619-4CBF-8390-9CB88129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89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2994A"/>
                </a:solidFill>
              </a:defRPr>
            </a:pPr>
            <a:r>
              <a:rPr sz="1200" b="1">
                <a:solidFill>
                  <a:srgbClr val="F2994A"/>
                </a:solidFill>
              </a:rPr>
              <a:t>03</a:t>
            </a:r>
          </a:p>
        </p:txBody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E0A69413-3CA8-466E-A5CE-70F9386AD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289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F2937"/>
                </a:solidFill>
              </a:defRPr>
            </a:pPr>
            <a:r>
              <a:rPr sz="1425" b="1">
                <a:solidFill>
                  <a:srgbClr val="1F2937"/>
                </a:solidFill>
              </a:rPr>
              <a:t>Add a domain exception</a:t>
            </a:r>
          </a:p>
        </p:txBody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2F1E715A-87CE-4F3E-9288-9128F7CD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289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Reject one invalid operation in domain language.</a:t>
            </a:r>
          </a:p>
        </p:txBody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907DF423-4B73-480A-AF3A-C82C6049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76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2994A"/>
                </a:solidFill>
              </a:defRPr>
            </a:pPr>
            <a:r>
              <a:rPr sz="1200" b="1">
                <a:solidFill>
                  <a:srgbClr val="F2994A"/>
                </a:solidFill>
              </a:rPr>
              <a:t>04</a:t>
            </a:r>
          </a:p>
        </p:txBody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CCDDE66F-9E24-48CF-AF09-91D4E5368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766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F2937"/>
                </a:solidFill>
              </a:defRPr>
            </a:pPr>
            <a:r>
              <a:rPr sz="1425" b="1">
                <a:solidFill>
                  <a:srgbClr val="1F2937"/>
                </a:solidFill>
              </a:rPr>
              <a:t>Connect an endpoint</a:t>
            </a:r>
          </a:p>
        </p:txBody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7CB41BA5-16E9-4E3F-A224-C275787D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766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Let the controller translate HTTP—not decide the rule.</a:t>
            </a:r>
          </a:p>
        </p:txBody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0359A5FB-AAC9-4E21-B8C2-04D503DC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81500"/>
            <a:ext cx="70485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A99964DB-9E01-40C9-AE6D-000FDF2E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862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83BD"/>
                </a:solidFill>
              </a:defRPr>
            </a:pPr>
            <a:r>
              <a:rPr sz="1350" b="1">
                <a:solidFill>
                  <a:srgbClr val="0B83BD"/>
                </a:solidFill>
              </a:rPr>
              <a:t>The test: can a caller put the object into an invalid state without using reflection?</a:t>
            </a:r>
          </a:p>
        </p:txBody>
      </p:sp>
    </p:spTree>
    <p:extLst>
      <p:ext uri="{BB962C8B-B14F-4D97-AF65-F5344CB8AC3E}">
        <p14:creationId xmlns:p14="http://schemas.microsoft.com/office/powerpoint/2010/main" val="475077261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2026-07-29T13:02:21.6910000Z</dcterms:created>
  <dcterms:modified xsi:type="dcterms:W3CDTF">2026-07-29T13:02:21.6910000Z</dcterms:modified>
</coreProperties>
</file>