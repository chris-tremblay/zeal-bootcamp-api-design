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8b6dc20f5495c" /><Relationship Type="http://schemas.openxmlformats.org/officeDocument/2006/relationships/extended-properties" Target="/docProps/app.xml" Id="R513791cf852b4fe9" /><Relationship Type="http://schemas.openxmlformats.org/officeDocument/2006/relationships/officeDocument" Target="/ppt/presentation.xml" Id="Rbd69a79305774e8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6cada9928384f34"/>
    <p:sldMasterId xmlns:r="http://schemas.openxmlformats.org/officeDocument/2006/relationships" id="2147483660" r:id="R8826b5de3b814457"/>
    <p:sldMasterId xmlns:r="http://schemas.openxmlformats.org/officeDocument/2006/relationships" id="2147483673" r:id="R5846c25446a647df"/>
  </p:sldMasterIdLst>
  <p:notesMasterIdLst>
    <p:notesMasterId xmlns:r="http://schemas.openxmlformats.org/officeDocument/2006/relationships" r:id="R87fb9f7efb0a446e"/>
  </p:notesMasterIdLst>
  <p:sldIdLst>
    <p:sldId xmlns:r="http://schemas.openxmlformats.org/officeDocument/2006/relationships" id="256" r:id="R7142b86ba4ef478d"/>
    <p:sldId xmlns:r="http://schemas.openxmlformats.org/officeDocument/2006/relationships" id="257" r:id="R0e7f1621f12245b4"/>
    <p:sldId xmlns:r="http://schemas.openxmlformats.org/officeDocument/2006/relationships" id="258" r:id="Re6658ece18b44632"/>
    <p:sldId xmlns:r="http://schemas.openxmlformats.org/officeDocument/2006/relationships" id="259" r:id="Rf82d4f2647be4692"/>
    <p:sldId xmlns:r="http://schemas.openxmlformats.org/officeDocument/2006/relationships" id="260" r:id="R4803a0b652aa40bd"/>
    <p:sldId xmlns:r="http://schemas.openxmlformats.org/officeDocument/2006/relationships" id="261" r:id="Re82e1f9a8cfe4c2a"/>
    <p:sldId xmlns:r="http://schemas.openxmlformats.org/officeDocument/2006/relationships" id="262" r:id="Rda5f1055235c4054"/>
    <p:sldId xmlns:r="http://schemas.openxmlformats.org/officeDocument/2006/relationships" id="263" r:id="Rb5660c5d42294c6b"/>
    <p:sldId xmlns:r="http://schemas.openxmlformats.org/officeDocument/2006/relationships" id="264" r:id="Rea3924782cef4513"/>
    <p:sldId xmlns:r="http://schemas.openxmlformats.org/officeDocument/2006/relationships" id="265" r:id="Rddd945a30fa94bbe"/>
    <p:sldId xmlns:r="http://schemas.openxmlformats.org/officeDocument/2006/relationships" id="266" r:id="R46be7084e7a74691"/>
    <p:sldId xmlns:r="http://schemas.openxmlformats.org/officeDocument/2006/relationships" id="267" r:id="R3f17681440e4429c"/>
    <p:sldId xmlns:r="http://schemas.openxmlformats.org/officeDocument/2006/relationships" id="268" r:id="Rdb95f6bf234e4231"/>
  </p:sldIdLst>
  <p:sldSz cx="9144000" cy="5143500"/>
  <p:notesSz cx="6858000" cy="9144000"/>
  <p:embeddedFontLst>
    <p:embeddedFont>
      <p:font typeface="Roboto"/>
      <p:regular xmlns:r="http://schemas.openxmlformats.org/officeDocument/2006/relationships" r:id="Rd5006724ba2d4a2c"/>
      <p:bold xmlns:r="http://schemas.openxmlformats.org/officeDocument/2006/relationships" r:id="R12edd097978740ad"/>
      <p:italic xmlns:r="http://schemas.openxmlformats.org/officeDocument/2006/relationships" r:id="Rc0f01087305a463b"/>
      <p:boldItalic xmlns:r="http://schemas.openxmlformats.org/officeDocument/2006/relationships" r:id="R278fb9b83d4e4515"/>
    </p:embeddedFont>
    <p:embeddedFont>
      <p:font typeface="Inter Tight Light"/>
      <p:regular xmlns:r="http://schemas.openxmlformats.org/officeDocument/2006/relationships" r:id="R2c79e0584d5e4f69"/>
      <p:bold xmlns:r="http://schemas.openxmlformats.org/officeDocument/2006/relationships" r:id="R7a6d5de5ea1b43e1"/>
      <p:italic xmlns:r="http://schemas.openxmlformats.org/officeDocument/2006/relationships" r:id="R924397d4b1f34761"/>
      <p:boldItalic xmlns:r="http://schemas.openxmlformats.org/officeDocument/2006/relationships" r:id="R76261839e0b94ae3"/>
    </p:embeddedFont>
    <p:embeddedFont>
      <p:font typeface="Afacad Flux"/>
      <p:regular xmlns:r="http://schemas.openxmlformats.org/officeDocument/2006/relationships" r:id="R300281d03ae64489"/>
      <p:bold xmlns:r="http://schemas.openxmlformats.org/officeDocument/2006/relationships" r:id="Ra8666653008b4a7b"/>
    </p:embeddedFont>
    <p:embeddedFont>
      <p:font typeface="Inter Tight ExtraBold"/>
      <p:bold xmlns:r="http://schemas.openxmlformats.org/officeDocument/2006/relationships" r:id="R55ba4d6db28441e1"/>
      <p:boldItalic xmlns:r="http://schemas.openxmlformats.org/officeDocument/2006/relationships" r:id="R5e9e96e058b8428b"/>
    </p:embeddedFont>
    <p:embeddedFont>
      <p:font typeface="Inter Tight"/>
      <p:regular xmlns:r="http://schemas.openxmlformats.org/officeDocument/2006/relationships" r:id="R6956c134eade4fb7"/>
      <p:bold xmlns:r="http://schemas.openxmlformats.org/officeDocument/2006/relationships" r:id="R9c2b370b431644a8"/>
      <p:italic xmlns:r="http://schemas.openxmlformats.org/officeDocument/2006/relationships" r:id="R03ffa42ad12c4381"/>
      <p:boldItalic xmlns:r="http://schemas.openxmlformats.org/officeDocument/2006/relationships" r:id="R9617112b3553446b"/>
    </p:embeddedFont>
    <p:embeddedFont>
      <p:font typeface="Inter Tight Black"/>
      <p:bold xmlns:r="http://schemas.openxmlformats.org/officeDocument/2006/relationships" r:id="R9baef8cdef954108"/>
      <p:boldItalic xmlns:r="http://schemas.openxmlformats.org/officeDocument/2006/relationships" r:id="R20f493b1d46d458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e30d395a649f1" /><Relationship Type="http://schemas.openxmlformats.org/officeDocument/2006/relationships/slideMaster" Target="/ppt/slideMasters/slideMaster1.xml" Id="R76cada9928384f34" /><Relationship Type="http://schemas.openxmlformats.org/officeDocument/2006/relationships/slideMaster" Target="/ppt/slideMasters/slideMaster2.xml" Id="R8826b5de3b814457" /><Relationship Type="http://schemas.openxmlformats.org/officeDocument/2006/relationships/slideMaster" Target="/ppt/slideMasters/slideMaster3.xml" Id="R5846c25446a647df" /><Relationship Type="http://schemas.openxmlformats.org/officeDocument/2006/relationships/notesMaster" Target="/ppt/notesMasters/notesMaster1.xml" Id="R87fb9f7efb0a446e" /><Relationship Type="http://schemas.openxmlformats.org/officeDocument/2006/relationships/presProps" Target="/ppt/presProps.xml" Id="R9d60bfe6aaaa468d" /><Relationship Type="http://schemas.openxmlformats.org/officeDocument/2006/relationships/tableStyles" Target="/ppt/tableStyles.xml" Id="Rcd4b0176d8bd46e5" /><Relationship Type="http://schemas.openxmlformats.org/officeDocument/2006/relationships/font" Target="/ppt/fonts/font.dat" Id="Rd5006724ba2d4a2c" /><Relationship Type="http://schemas.openxmlformats.org/officeDocument/2006/relationships/font" Target="/ppt/fonts/font2.dat" Id="R12edd097978740ad" /><Relationship Type="http://schemas.openxmlformats.org/officeDocument/2006/relationships/font" Target="/ppt/fonts/font3.dat" Id="Rc0f01087305a463b" /><Relationship Type="http://schemas.openxmlformats.org/officeDocument/2006/relationships/font" Target="/ppt/fonts/font4.dat" Id="R278fb9b83d4e4515" /><Relationship Type="http://schemas.openxmlformats.org/officeDocument/2006/relationships/font" Target="/ppt/fonts/font5.dat" Id="R2c79e0584d5e4f69" /><Relationship Type="http://schemas.openxmlformats.org/officeDocument/2006/relationships/font" Target="/ppt/fonts/font6.dat" Id="R7a6d5de5ea1b43e1" /><Relationship Type="http://schemas.openxmlformats.org/officeDocument/2006/relationships/font" Target="/ppt/fonts/font7.dat" Id="R924397d4b1f34761" /><Relationship Type="http://schemas.openxmlformats.org/officeDocument/2006/relationships/font" Target="/ppt/fonts/font8.dat" Id="R76261839e0b94ae3" /><Relationship Type="http://schemas.openxmlformats.org/officeDocument/2006/relationships/font" Target="/ppt/fonts/font9.dat" Id="R300281d03ae64489" /><Relationship Type="http://schemas.openxmlformats.org/officeDocument/2006/relationships/font" Target="/ppt/fonts/font10.dat" Id="Ra8666653008b4a7b" /><Relationship Type="http://schemas.openxmlformats.org/officeDocument/2006/relationships/font" Target="/ppt/fonts/font11.dat" Id="R55ba4d6db28441e1" /><Relationship Type="http://schemas.openxmlformats.org/officeDocument/2006/relationships/font" Target="/ppt/fonts/font12.dat" Id="R5e9e96e058b8428b" /><Relationship Type="http://schemas.openxmlformats.org/officeDocument/2006/relationships/font" Target="/ppt/fonts/font13.dat" Id="R6956c134eade4fb7" /><Relationship Type="http://schemas.openxmlformats.org/officeDocument/2006/relationships/font" Target="/ppt/fonts/font14.dat" Id="R9c2b370b431644a8" /><Relationship Type="http://schemas.openxmlformats.org/officeDocument/2006/relationships/font" Target="/ppt/fonts/font15.dat" Id="R03ffa42ad12c4381" /><Relationship Type="http://schemas.openxmlformats.org/officeDocument/2006/relationships/font" Target="/ppt/fonts/font16.dat" Id="R9617112b3553446b" /><Relationship Type="http://schemas.openxmlformats.org/officeDocument/2006/relationships/font" Target="/ppt/fonts/font17.dat" Id="R9baef8cdef954108" /><Relationship Type="http://schemas.openxmlformats.org/officeDocument/2006/relationships/font" Target="/ppt/fonts/font18.dat" Id="R20f493b1d46d4585" /><Relationship Type="http://schemas.openxmlformats.org/officeDocument/2006/relationships/slide" Target="/ppt/slides/slide1.xml" Id="R7142b86ba4ef478d" /><Relationship Type="http://schemas.openxmlformats.org/officeDocument/2006/relationships/slide" Target="/ppt/slides/slide2.xml" Id="R0e7f1621f12245b4" /><Relationship Type="http://schemas.openxmlformats.org/officeDocument/2006/relationships/slide" Target="/ppt/slides/slide3.xml" Id="Re6658ece18b44632" /><Relationship Type="http://schemas.openxmlformats.org/officeDocument/2006/relationships/slide" Target="/ppt/slides/slide4.xml" Id="Rf82d4f2647be4692" /><Relationship Type="http://schemas.openxmlformats.org/officeDocument/2006/relationships/slide" Target="/ppt/slides/slide5.xml" Id="R4803a0b652aa40bd" /><Relationship Type="http://schemas.openxmlformats.org/officeDocument/2006/relationships/slide" Target="/ppt/slides/slide6.xml" Id="Re82e1f9a8cfe4c2a" /><Relationship Type="http://schemas.openxmlformats.org/officeDocument/2006/relationships/slide" Target="/ppt/slides/slide7.xml" Id="Rda5f1055235c4054" /><Relationship Type="http://schemas.openxmlformats.org/officeDocument/2006/relationships/slide" Target="/ppt/slides/slide8.xml" Id="Rb5660c5d42294c6b" /><Relationship Type="http://schemas.openxmlformats.org/officeDocument/2006/relationships/slide" Target="/ppt/slides/slide9.xml" Id="Rea3924782cef4513" /><Relationship Type="http://schemas.openxmlformats.org/officeDocument/2006/relationships/slide" Target="/ppt/slides/slide10.xml" Id="Rddd945a30fa94bbe" /><Relationship Type="http://schemas.openxmlformats.org/officeDocument/2006/relationships/slide" Target="/ppt/slides/slide11.xml" Id="R46be7084e7a74691" /><Relationship Type="http://schemas.openxmlformats.org/officeDocument/2006/relationships/slide" Target="/ppt/slides/slide12.xml" Id="R3f17681440e4429c" /><Relationship Type="http://schemas.openxmlformats.org/officeDocument/2006/relationships/slide" Target="/ppt/slides/slide13.xml" Id="Rdb95f6bf234e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e8ae91c4f0c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bf207b376404c" /><Relationship Type="http://schemas.openxmlformats.org/officeDocument/2006/relationships/notesMaster" Target="/ppt/notesMasters/notesMaster1.xml" Id="Rfbbcd030885b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bdeca8c214239" /><Relationship Type="http://schemas.openxmlformats.org/officeDocument/2006/relationships/notesMaster" Target="/ppt/notesMasters/notesMaster1.xml" Id="R4f218e0776e745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a90fd527d4427" /><Relationship Type="http://schemas.openxmlformats.org/officeDocument/2006/relationships/notesMaster" Target="/ppt/notesMasters/notesMaster1.xml" Id="R2285fa60b54241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300180eaff43e1" /><Relationship Type="http://schemas.openxmlformats.org/officeDocument/2006/relationships/notesMaster" Target="/ppt/notesMasters/notesMaster1.xml" Id="Rf1fe87b663ca47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b069145196458e" /><Relationship Type="http://schemas.openxmlformats.org/officeDocument/2006/relationships/notesMaster" Target="/ppt/notesMasters/notesMaster1.xml" Id="Rbb78a39cd209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c66f9d36f649d2" /><Relationship Type="http://schemas.openxmlformats.org/officeDocument/2006/relationships/notesMaster" Target="/ppt/notesMasters/notesMaster1.xml" Id="Rd3ed3d07df3a45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8ee6b1fc14746" /><Relationship Type="http://schemas.openxmlformats.org/officeDocument/2006/relationships/notesMaster" Target="/ppt/notesMasters/notesMaster1.xml" Id="Rbec8c5fb5ccc42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b2eacc629469f" /><Relationship Type="http://schemas.openxmlformats.org/officeDocument/2006/relationships/notesMaster" Target="/ppt/notesMasters/notesMaster1.xml" Id="Rc3091169713849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2b617c24da4497" /><Relationship Type="http://schemas.openxmlformats.org/officeDocument/2006/relationships/notesMaster" Target="/ppt/notesMasters/notesMaster1.xml" Id="Redf30bc3a79244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7a70a945f9412c" /><Relationship Type="http://schemas.openxmlformats.org/officeDocument/2006/relationships/notesMaster" Target="/ppt/notesMasters/notesMaster1.xml" Id="Rf5c291ef545646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6c62b08a2b424d" /><Relationship Type="http://schemas.openxmlformats.org/officeDocument/2006/relationships/notesMaster" Target="/ppt/notesMasters/notesMaster1.xml" Id="Rfbd34485a1b146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c3f0ed14ad44c6" /><Relationship Type="http://schemas.openxmlformats.org/officeDocument/2006/relationships/notesMaster" Target="/ppt/notesMasters/notesMaster1.xml" Id="R9d6e91f7c0c941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0b72d4d8f46ec" /><Relationship Type="http://schemas.openxmlformats.org/officeDocument/2006/relationships/notesMaster" Target="/ppt/notesMasters/notesMaster1.xml" Id="R3ad10aa2c5184a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- Course syllabus and local bootcamp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Course syllabus; local API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src/Zeal.Bootcamp.DnD.Api/Controllers/CharactersController.cs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ASP.NET Core controller and contract patterns demonstrated in the local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src/Zeal.Bootcamp.DnD.Api/Controllers/CharactersController.cs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src/Zeal.Bootcamp.DnD.Api/Controllers/CharactersController.cs; route/query/header examples are illustrative ASP.NET Core binding equivalents.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src/Zeal.Bootcamp.DnD.Api/Contracts/Requests/CreateCharacterRequest.cs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src/Zeal.Bootcamp.DnD.Api/Controllers/CharactersController.cs; src/Zeal.Bootcamp.DnD.Application/Commands/CreateCharacter/CreateCharacterCommand.cs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src/Zeal.Bootcamp.DnD.Api/Controllers/CharactersController.cs; domain behavior in src/Zeal.Bootcamp.DnD.Domain/Characters/Character.cs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src/Zeal.Bootcamp.DnD.Api/Contracts/Responses/CreateCharacterResponse.cs; src/Zeal.Bootcamp.DnD.Api/Controllers/CharactersController.cs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src/Zeal.Bootcamp.DnD.Api/Controllers/ODataController.cs; src/Zeal.Bootcamp.DnD.Application/Data/Queries/ListCharacters/ListCharactersDataQueryResult.cs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src/Zeal.Bootcamp.DnD.Api/Program.cs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Course syllabus; local bootcamp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942f9af274d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7a9aeccb843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66407248c4c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a2a64db824b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964ab206446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1cb5186d04e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b1d0416814c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5c5a9fce245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8886c051941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0e7e071e243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86ffc55054f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79c0704bc3466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467285483c47c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6617e0f97f400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7dc0257bba47d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e190af9db4455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87d99e236847f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a9e9fa4fbd495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4615c2ccef489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3f719a6eb54c7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a28a855f424fe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d79d2594eb476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0bb03727aa40ea" /><Relationship Type="http://schemas.openxmlformats.org/officeDocument/2006/relationships/image" Target="/ppt/media/image.png" Id="R1f27628e180d450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1e0096c921a471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5da20a0796405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1312f98b69419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6c09121272f4ba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e1bdaa6098c415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5598831-8EC0-4054-B936-15F992E54A5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B63BD7F-0FBC-4618-9748-594102EAF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6E8D8E9-B0BA-4941-8476-C2CBD4B10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DDD19BB-91F0-4F43-9467-D672517BF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B92075D-0A74-4B46-89C9-96DD327CA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6379593-7E0F-4478-A79F-8ABF04C92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0697C9FE-8671-4DE9-A6BE-C75B34B00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DB594E8-E927-44BA-ACB6-57DC79F3FA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F532C63C-5297-4F29-8546-29E7979C7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649E350B-5BA8-4B3E-ACDE-7FE065249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0C505418-5593-4653-B8A7-6B5F3AA50E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1698256-3F83-4FF2-A383-5C348AAAF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940E4547-2677-4597-87BC-541374F4F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13E238CF-BBD8-4DC5-B4D9-246FAABD98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F0120261-0D61-46E5-BDE3-A1E0EDA8F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30A75605-E789-40D7-87F1-1B4BE74FBA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5552180C-8CF8-4E57-8455-78C741912D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17AA6A97-5FD5-40E0-8B6E-A3D4FBF9A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B03B2C3C-FBCD-4476-8879-3C84FD824E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222E529F-7751-40D7-A863-0F16E056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71DCA2F4-9E45-40A3-840D-30C5D001D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700099E-9072-40DE-9829-98B5905A4D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DC2C6AA3-DACF-4FE0-9FB0-8CB14C0D56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AB4BC879-F68E-474B-A4E7-F7A9CBD851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9B9ADCD8-2213-42DA-BFE0-96351B5CF6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8D1B300-0C5F-473F-88A3-ACC808BBA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FFC19078-551C-4367-B707-A5FFC6DDBC9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B705198-D609-4FA1-8D86-BD2E46517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5B34E8E-7336-4BCD-A3E8-B23EE0D64B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F9F36E4-FEF4-4097-8B3D-6DEAD0A350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F735D7A0-3C27-48D0-AD72-CD299C87808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CFCB7893-4BAE-41CE-A361-C890A3E402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F5C59F2D-BD02-4DF4-BCA3-57CECDE1F3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2CC94EF6-1CFA-4892-B57C-4B05A51BB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491DF31D-76F6-4404-9103-107263D196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2D9A7DBE-4B22-4D63-8953-28B273962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CC3879F6-4058-4D83-AE52-997FADCD86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038F6F80-FB20-4F75-B2FA-4420AFC0AF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7">
            <a:extLst xmlns:a="http://schemas.openxmlformats.org/drawingml/2006/main">
              <a:ext uri="{FF2B5EF4-FFF2-40B4-BE49-F238E27FC236}">
                <a16:creationId xmlns:a16="http://schemas.microsoft.com/office/drawing/2014/main" id="{6FA1D2D0-BBE5-4F83-8736-7D42DA63F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16F11A8D-395E-4EF0-B852-8CEA271E42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F2AF369C-46AD-42B5-9F9E-D0C523C84B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6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3AC7150D-80EB-4252-AD97-72AC4C6B54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9B7BB09A-45CC-43F4-ADBA-F6961DCDD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D448AAAD-381B-444E-967B-3104A1146F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9">
            <a:extLst xmlns:a="http://schemas.openxmlformats.org/drawingml/2006/main">
              <a:ext uri="{FF2B5EF4-FFF2-40B4-BE49-F238E27FC236}">
                <a16:creationId xmlns:a16="http://schemas.microsoft.com/office/drawing/2014/main" id="{FC5BCCB8-0CC8-4AD7-A345-4692AFB5D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1066318D-130A-4ABA-942A-32EF0B091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FF7B20BC-C9ED-44E8-8AAA-0AC6C19FB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20">
            <a:extLst xmlns:a="http://schemas.openxmlformats.org/drawingml/2006/main">
              <a:ext uri="{FF2B5EF4-FFF2-40B4-BE49-F238E27FC236}">
                <a16:creationId xmlns:a16="http://schemas.microsoft.com/office/drawing/2014/main" id="{581CBC4D-EC94-4D21-A063-CDC7A0A16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79" name="Google Shape;79;p20">
            <a:extLst xmlns:a="http://schemas.openxmlformats.org/drawingml/2006/main">
              <a:ext uri="{FF2B5EF4-FFF2-40B4-BE49-F238E27FC236}">
                <a16:creationId xmlns:a16="http://schemas.microsoft.com/office/drawing/2014/main" id="{5F623E14-3EC7-4077-B35A-ECD45DE9D4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21">
            <a:extLst xmlns:a="http://schemas.openxmlformats.org/drawingml/2006/main">
              <a:ext uri="{FF2B5EF4-FFF2-40B4-BE49-F238E27FC236}">
                <a16:creationId xmlns:a16="http://schemas.microsoft.com/office/drawing/2014/main" id="{F025CE31-1B4C-48DD-8F33-057C1C62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21">
            <a:extLst xmlns:a="http://schemas.openxmlformats.org/drawingml/2006/main">
              <a:ext uri="{FF2B5EF4-FFF2-40B4-BE49-F238E27FC236}">
                <a16:creationId xmlns:a16="http://schemas.microsoft.com/office/drawing/2014/main" id="{47249C98-621A-40FD-8A2C-AAAEA1E58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83" name="Google Shape;83;p21">
            <a:extLst xmlns:a="http://schemas.openxmlformats.org/drawingml/2006/main">
              <a:ext uri="{FF2B5EF4-FFF2-40B4-BE49-F238E27FC236}">
                <a16:creationId xmlns:a16="http://schemas.microsoft.com/office/drawing/2014/main" id="{F8B7DFB3-0ACB-47E4-9F04-DCD2EB9C4B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84" name="Google Shape;84;p21">
            <a:extLst xmlns:a="http://schemas.openxmlformats.org/drawingml/2006/main">
              <a:ext uri="{FF2B5EF4-FFF2-40B4-BE49-F238E27FC236}">
                <a16:creationId xmlns:a16="http://schemas.microsoft.com/office/drawing/2014/main" id="{DE785423-CF05-45A1-A91B-FFA199DC5F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5" name="Google Shape;85;p21">
            <a:extLst xmlns:a="http://schemas.openxmlformats.org/drawingml/2006/main">
              <a:ext uri="{FF2B5EF4-FFF2-40B4-BE49-F238E27FC236}">
                <a16:creationId xmlns:a16="http://schemas.microsoft.com/office/drawing/2014/main" id="{1F1C71D0-36D9-473F-AD75-DC2B9882A9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22">
            <a:extLst xmlns:a="http://schemas.openxmlformats.org/drawingml/2006/main">
              <a:ext uri="{FF2B5EF4-FFF2-40B4-BE49-F238E27FC236}">
                <a16:creationId xmlns:a16="http://schemas.microsoft.com/office/drawing/2014/main" id="{75B65192-40DE-41F6-B98D-3129B3A11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88" name="Google Shape;88;p22">
            <a:extLst xmlns:a="http://schemas.openxmlformats.org/drawingml/2006/main">
              <a:ext uri="{FF2B5EF4-FFF2-40B4-BE49-F238E27FC236}">
                <a16:creationId xmlns:a16="http://schemas.microsoft.com/office/drawing/2014/main" id="{CB547345-774B-4888-86F7-A84CEEAAD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23">
            <a:extLst xmlns:a="http://schemas.openxmlformats.org/drawingml/2006/main">
              <a:ext uri="{FF2B5EF4-FFF2-40B4-BE49-F238E27FC236}">
                <a16:creationId xmlns:a16="http://schemas.microsoft.com/office/drawing/2014/main" id="{3EFDB922-B81B-4F41-86CB-2C93D39E4A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1" name="Google Shape;91;p23">
            <a:extLst xmlns:a="http://schemas.openxmlformats.org/drawingml/2006/main">
              <a:ext uri="{FF2B5EF4-FFF2-40B4-BE49-F238E27FC236}">
                <a16:creationId xmlns:a16="http://schemas.microsoft.com/office/drawing/2014/main" id="{64324242-A302-40ED-8436-0D277C28B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2" name="Google Shape;92;p23">
            <a:extLst xmlns:a="http://schemas.openxmlformats.org/drawingml/2006/main">
              <a:ext uri="{FF2B5EF4-FFF2-40B4-BE49-F238E27FC236}">
                <a16:creationId xmlns:a16="http://schemas.microsoft.com/office/drawing/2014/main" id="{8A4A84BE-D328-46FD-A65B-8EBB4FED4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24">
            <a:extLst xmlns:a="http://schemas.openxmlformats.org/drawingml/2006/main">
              <a:ext uri="{FF2B5EF4-FFF2-40B4-BE49-F238E27FC236}">
                <a16:creationId xmlns:a16="http://schemas.microsoft.com/office/drawing/2014/main" id="{4E152B4D-7AA6-4793-A099-E7BD21A7A6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9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27628e180d450a">
            <a:alphaModFix/>
          </a:blip>
          <a:srcRect xmlns:a="http://schemas.openxmlformats.org/drawingml/2006/main" l="0" t="0" r="76536" b="0"/>
          <a:stretch xmlns:a="http://schemas.openxmlformats.org/drawingml/2006/main"/>
        </p:blipFill>
        <p:spPr>
          <a:xfrm xmlns:a="http://schemas.openxmlformats.org/drawingml/2006/main">
            <a:off x="8815751" y="4683775"/>
            <a:ext cx="258600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Google Shape;97;p25">
            <a:extLst xmlns:a="http://schemas.openxmlformats.org/drawingml/2006/main">
              <a:ext uri="{FF2B5EF4-FFF2-40B4-BE49-F238E27FC236}">
                <a16:creationId xmlns:a16="http://schemas.microsoft.com/office/drawing/2014/main" id="{F258B795-D935-47D8-BAEF-66CADE2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293048">
            <a:off x="6851623" y="-2339201"/>
            <a:ext cx="3707761" cy="8529736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F76BA">
              <a:alpha val="303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27">
            <a:extLst xmlns:a="http://schemas.openxmlformats.org/drawingml/2006/main">
              <a:ext uri="{FF2B5EF4-FFF2-40B4-BE49-F238E27FC236}">
                <a16:creationId xmlns:a16="http://schemas.microsoft.com/office/drawing/2014/main" id="{FBED90B4-D0FC-42E5-8A44-A780939B19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04" name="Google Shape;104;p27">
            <a:extLst xmlns:a="http://schemas.openxmlformats.org/drawingml/2006/main">
              <a:ext uri="{FF2B5EF4-FFF2-40B4-BE49-F238E27FC236}">
                <a16:creationId xmlns:a16="http://schemas.microsoft.com/office/drawing/2014/main" id="{78BCD21C-D277-4BB2-9392-656D47E97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05" name="Google Shape;105;p27">
            <a:extLst xmlns:a="http://schemas.openxmlformats.org/drawingml/2006/main">
              <a:ext uri="{FF2B5EF4-FFF2-40B4-BE49-F238E27FC236}">
                <a16:creationId xmlns:a16="http://schemas.microsoft.com/office/drawing/2014/main" id="{808ACF72-6DDE-4B82-BEF1-FE702FC3C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8">
            <a:extLst xmlns:a="http://schemas.openxmlformats.org/drawingml/2006/main">
              <a:ext uri="{FF2B5EF4-FFF2-40B4-BE49-F238E27FC236}">
                <a16:creationId xmlns:a16="http://schemas.microsoft.com/office/drawing/2014/main" id="{91396517-CD2F-49C9-B748-58CB4A38A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8">
            <a:extLst xmlns:a="http://schemas.openxmlformats.org/drawingml/2006/main">
              <a:ext uri="{FF2B5EF4-FFF2-40B4-BE49-F238E27FC236}">
                <a16:creationId xmlns:a16="http://schemas.microsoft.com/office/drawing/2014/main" id="{ED787204-AEF6-4A81-A4B4-80E79BBB5A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29">
            <a:extLst xmlns:a="http://schemas.openxmlformats.org/drawingml/2006/main">
              <a:ext uri="{FF2B5EF4-FFF2-40B4-BE49-F238E27FC236}">
                <a16:creationId xmlns:a16="http://schemas.microsoft.com/office/drawing/2014/main" id="{006C4AAD-C063-4702-AA47-4D7CA1AD0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11" name="Google Shape;111;p29">
            <a:extLst xmlns:a="http://schemas.openxmlformats.org/drawingml/2006/main">
              <a:ext uri="{FF2B5EF4-FFF2-40B4-BE49-F238E27FC236}">
                <a16:creationId xmlns:a16="http://schemas.microsoft.com/office/drawing/2014/main" id="{E43737EF-5BF4-43FC-87E8-7038EE1775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30">
            <a:extLst xmlns:a="http://schemas.openxmlformats.org/drawingml/2006/main">
              <a:ext uri="{FF2B5EF4-FFF2-40B4-BE49-F238E27FC236}">
                <a16:creationId xmlns:a16="http://schemas.microsoft.com/office/drawing/2014/main" id="{31672C32-00F2-44C8-82B8-B3A38036B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114" name="Google Shape;114;p30">
            <a:extLst xmlns:a="http://schemas.openxmlformats.org/drawingml/2006/main">
              <a:ext uri="{FF2B5EF4-FFF2-40B4-BE49-F238E27FC236}">
                <a16:creationId xmlns:a16="http://schemas.microsoft.com/office/drawing/2014/main" id="{B6BAFA6C-152F-4FAF-9CB6-2C87F520E1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31">
            <a:extLst xmlns:a="http://schemas.openxmlformats.org/drawingml/2006/main">
              <a:ext uri="{FF2B5EF4-FFF2-40B4-BE49-F238E27FC236}">
                <a16:creationId xmlns:a16="http://schemas.microsoft.com/office/drawing/2014/main" id="{2ACD4D30-F39B-44A2-B516-CF16428EF6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887b10db241a8" /><Relationship Type="http://schemas.openxmlformats.org/officeDocument/2006/relationships/slideLayout" Target="/ppt/slideLayouts/slideLayout1.xml" Id="R583602d12db14d79" /><Relationship Type="http://schemas.openxmlformats.org/officeDocument/2006/relationships/slideLayout" Target="/ppt/slideLayouts/slideLayout2.xml" Id="R91ac2fcb57f7400c" /><Relationship Type="http://schemas.openxmlformats.org/officeDocument/2006/relationships/slideLayout" Target="/ppt/slideLayouts/slideLayout3.xml" Id="R8a4383bdb04e4a42" /><Relationship Type="http://schemas.openxmlformats.org/officeDocument/2006/relationships/slideLayout" Target="/ppt/slideLayouts/slideLayout4.xml" Id="R9724674774074153" /><Relationship Type="http://schemas.openxmlformats.org/officeDocument/2006/relationships/slideLayout" Target="/ppt/slideLayouts/slideLayout5.xml" Id="Re5edd4862ac44157" /><Relationship Type="http://schemas.openxmlformats.org/officeDocument/2006/relationships/slideLayout" Target="/ppt/slideLayouts/slideLayout6.xml" Id="Ra6e5866ae1fd4512" /><Relationship Type="http://schemas.openxmlformats.org/officeDocument/2006/relationships/slideLayout" Target="/ppt/slideLayouts/slideLayout7.xml" Id="R857f3c688b074f8a" /><Relationship Type="http://schemas.openxmlformats.org/officeDocument/2006/relationships/slideLayout" Target="/ppt/slideLayouts/slideLayout8.xml" Id="R3e44b0b4fc6e4d39" /><Relationship Type="http://schemas.openxmlformats.org/officeDocument/2006/relationships/slideLayout" Target="/ppt/slideLayouts/slideLayout9.xml" Id="Rc013cda7f4034ecb" /><Relationship Type="http://schemas.openxmlformats.org/officeDocument/2006/relationships/slideLayout" Target="/ppt/slideLayouts/slideLayout10.xml" Id="R01471a0a4add4df9" /><Relationship Type="http://schemas.openxmlformats.org/officeDocument/2006/relationships/slideLayout" Target="/ppt/slideLayouts/slideLayout11.xml" Id="Rad9719a24d234b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d463ca6ca94e6b" /><Relationship Type="http://schemas.openxmlformats.org/officeDocument/2006/relationships/slideLayout" Target="/ppt/slideLayouts/slideLayout12.xml" Id="R71ae0bd22f3d42b2" /><Relationship Type="http://schemas.openxmlformats.org/officeDocument/2006/relationships/slideLayout" Target="/ppt/slideLayouts/slideLayout13.xml" Id="R64e3d11f3e414de9" /><Relationship Type="http://schemas.openxmlformats.org/officeDocument/2006/relationships/slideLayout" Target="/ppt/slideLayouts/slideLayout14.xml" Id="R1dceba48c87f4ccb" /><Relationship Type="http://schemas.openxmlformats.org/officeDocument/2006/relationships/slideLayout" Target="/ppt/slideLayouts/slideLayout15.xml" Id="Re13262a74f204be6" /><Relationship Type="http://schemas.openxmlformats.org/officeDocument/2006/relationships/slideLayout" Target="/ppt/slideLayouts/slideLayout16.xml" Id="R3dd733c588ba4ba5" /><Relationship Type="http://schemas.openxmlformats.org/officeDocument/2006/relationships/slideLayout" Target="/ppt/slideLayouts/slideLayout17.xml" Id="Re36efa11083244ef" /><Relationship Type="http://schemas.openxmlformats.org/officeDocument/2006/relationships/slideLayout" Target="/ppt/slideLayouts/slideLayout18.xml" Id="R953a7de231d54db8" /><Relationship Type="http://schemas.openxmlformats.org/officeDocument/2006/relationships/slideLayout" Target="/ppt/slideLayouts/slideLayout19.xml" Id="R27bbd0be2f2c47c2" /><Relationship Type="http://schemas.openxmlformats.org/officeDocument/2006/relationships/slideLayout" Target="/ppt/slideLayouts/slideLayout20.xml" Id="R26fac972bcd6422c" /><Relationship Type="http://schemas.openxmlformats.org/officeDocument/2006/relationships/slideLayout" Target="/ppt/slideLayouts/slideLayout21.xml" Id="R8b788b96787f4677" /><Relationship Type="http://schemas.openxmlformats.org/officeDocument/2006/relationships/slideLayout" Target="/ppt/slideLayouts/slideLayout22.xml" Id="R75a2151fb0b04601" /><Relationship Type="http://schemas.openxmlformats.org/officeDocument/2006/relationships/slideLayout" Target="/ppt/slideLayouts/slideLayout23.xml" Id="R6616465d52e8402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08259daa921497b" /><Relationship Type="http://schemas.openxmlformats.org/officeDocument/2006/relationships/slideLayout" Target="/ppt/slideLayouts/slideLayout24.xml" Id="Refdda5542f4a48c4" /><Relationship Type="http://schemas.openxmlformats.org/officeDocument/2006/relationships/slideLayout" Target="/ppt/slideLayouts/slideLayout25.xml" Id="Rb2ccfa5b88d0434f" /><Relationship Type="http://schemas.openxmlformats.org/officeDocument/2006/relationships/slideLayout" Target="/ppt/slideLayouts/slideLayout26.xml" Id="Rae4abff799aa4681" /><Relationship Type="http://schemas.openxmlformats.org/officeDocument/2006/relationships/slideLayout" Target="/ppt/slideLayouts/slideLayout27.xml" Id="Ra76ba95295ef4c1f" /><Relationship Type="http://schemas.openxmlformats.org/officeDocument/2006/relationships/slideLayout" Target="/ppt/slideLayouts/slideLayout28.xml" Id="Rf3c53992869b430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BA6A068-8FA2-42C7-8A1F-0F8A11E99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9D0DC3-AEF6-42FF-B539-48D4A2F20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DEE6C49-158E-44DE-AEE5-06629975F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602d12db14d79"/>
    <p:sldLayoutId xmlns:r="http://schemas.openxmlformats.org/officeDocument/2006/relationships" id="2147483650" r:id="R91ac2fcb57f7400c"/>
    <p:sldLayoutId xmlns:r="http://schemas.openxmlformats.org/officeDocument/2006/relationships" id="2147483651" r:id="R8a4383bdb04e4a42"/>
    <p:sldLayoutId xmlns:r="http://schemas.openxmlformats.org/officeDocument/2006/relationships" id="2147483652" r:id="R9724674774074153"/>
    <p:sldLayoutId xmlns:r="http://schemas.openxmlformats.org/officeDocument/2006/relationships" id="2147483653" r:id="Re5edd4862ac44157"/>
    <p:sldLayoutId xmlns:r="http://schemas.openxmlformats.org/officeDocument/2006/relationships" id="2147483654" r:id="Ra6e5866ae1fd4512"/>
    <p:sldLayoutId xmlns:r="http://schemas.openxmlformats.org/officeDocument/2006/relationships" id="2147483655" r:id="R857f3c688b074f8a"/>
    <p:sldLayoutId xmlns:r="http://schemas.openxmlformats.org/officeDocument/2006/relationships" id="2147483656" r:id="R3e44b0b4fc6e4d39"/>
    <p:sldLayoutId xmlns:r="http://schemas.openxmlformats.org/officeDocument/2006/relationships" id="2147483657" r:id="Rc013cda7f4034ecb"/>
    <p:sldLayoutId xmlns:r="http://schemas.openxmlformats.org/officeDocument/2006/relationships" id="2147483658" r:id="R01471a0a4add4df9"/>
    <p:sldLayoutId xmlns:r="http://schemas.openxmlformats.org/officeDocument/2006/relationships" id="2147483659" r:id="Rad9719a24d234b0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988C9C0C-D894-4419-87EE-FDF160A4A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9A5F4569-1D18-4CD5-B891-51483C22CF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5263CDEA-2DC2-49DB-B8ED-682F6D6951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1ae0bd22f3d42b2"/>
    <p:sldLayoutId xmlns:r="http://schemas.openxmlformats.org/officeDocument/2006/relationships" id="2147483662" r:id="R64e3d11f3e414de9"/>
    <p:sldLayoutId xmlns:r="http://schemas.openxmlformats.org/officeDocument/2006/relationships" id="2147483663" r:id="R1dceba48c87f4ccb"/>
    <p:sldLayoutId xmlns:r="http://schemas.openxmlformats.org/officeDocument/2006/relationships" id="2147483664" r:id="Re13262a74f204be6"/>
    <p:sldLayoutId xmlns:r="http://schemas.openxmlformats.org/officeDocument/2006/relationships" id="2147483665" r:id="R3dd733c588ba4ba5"/>
    <p:sldLayoutId xmlns:r="http://schemas.openxmlformats.org/officeDocument/2006/relationships" id="2147483666" r:id="Re36efa11083244ef"/>
    <p:sldLayoutId xmlns:r="http://schemas.openxmlformats.org/officeDocument/2006/relationships" id="2147483667" r:id="R953a7de231d54db8"/>
    <p:sldLayoutId xmlns:r="http://schemas.openxmlformats.org/officeDocument/2006/relationships" id="2147483668" r:id="R27bbd0be2f2c47c2"/>
    <p:sldLayoutId xmlns:r="http://schemas.openxmlformats.org/officeDocument/2006/relationships" id="2147483669" r:id="R26fac972bcd6422c"/>
    <p:sldLayoutId xmlns:r="http://schemas.openxmlformats.org/officeDocument/2006/relationships" id="2147483670" r:id="R8b788b96787f4677"/>
    <p:sldLayoutId xmlns:r="http://schemas.openxmlformats.org/officeDocument/2006/relationships" id="2147483671" r:id="R75a2151fb0b04601"/>
    <p:sldLayoutId xmlns:r="http://schemas.openxmlformats.org/officeDocument/2006/relationships" id="2147483672" r:id="R6616465d52e8402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26">
            <a:extLst xmlns:a="http://schemas.openxmlformats.org/drawingml/2006/main">
              <a:ext uri="{FF2B5EF4-FFF2-40B4-BE49-F238E27FC236}">
                <a16:creationId xmlns:a16="http://schemas.microsoft.com/office/drawing/2014/main" id="{CE07DB51-0455-4CCB-BFCC-0AF47A596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0" name="Google Shape;100;p26">
            <a:extLst xmlns:a="http://schemas.openxmlformats.org/drawingml/2006/main">
              <a:ext uri="{FF2B5EF4-FFF2-40B4-BE49-F238E27FC236}">
                <a16:creationId xmlns:a16="http://schemas.microsoft.com/office/drawing/2014/main" id="{799EFAB0-91B3-49BF-ADAE-6692CBC83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1" name="Google Shape;101;p26">
            <a:extLst xmlns:a="http://schemas.openxmlformats.org/drawingml/2006/main">
              <a:ext uri="{FF2B5EF4-FFF2-40B4-BE49-F238E27FC236}">
                <a16:creationId xmlns:a16="http://schemas.microsoft.com/office/drawing/2014/main" id="{012EC415-DEF3-4557-80F3-C442641E48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efdda5542f4a48c4"/>
    <p:sldLayoutId xmlns:r="http://schemas.openxmlformats.org/officeDocument/2006/relationships" id="2147483675" r:id="Rb2ccfa5b88d0434f"/>
    <p:sldLayoutId xmlns:r="http://schemas.openxmlformats.org/officeDocument/2006/relationships" id="2147483676" r:id="Rae4abff799aa4681"/>
    <p:sldLayoutId xmlns:r="http://schemas.openxmlformats.org/officeDocument/2006/relationships" id="2147483677" r:id="Ra76ba95295ef4c1f"/>
    <p:sldLayoutId xmlns:r="http://schemas.openxmlformats.org/officeDocument/2006/relationships" id="2147483678" r:id="Rf3c53992869b430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eefcd9b124b2d" /><Relationship Type="http://schemas.openxmlformats.org/officeDocument/2006/relationships/image" Target="/ppt/media/image2.png" Id="R92b35d1ca5cb4958" /><Relationship Type="http://schemas.openxmlformats.org/officeDocument/2006/relationships/image" Target="/ppt/media/image3.png" Id="R8757d5ae49444aaf" /><Relationship Type="http://schemas.openxmlformats.org/officeDocument/2006/relationships/image" Target="/ppt/media/image4.png" Id="Rd93778e7de64453d" /><Relationship Type="http://schemas.openxmlformats.org/officeDocument/2006/relationships/image" Target="/ppt/media/image5.png" Id="Rfa88acb4c215496a" /><Relationship Type="http://schemas.openxmlformats.org/officeDocument/2006/relationships/image" Target="/ppt/media/image6.png" Id="Ra923ae88b48940d1" /><Relationship Type="http://schemas.openxmlformats.org/officeDocument/2006/relationships/image" Target="/ppt/media/image7.png" Id="R890039b15d444816" /><Relationship Type="http://schemas.openxmlformats.org/officeDocument/2006/relationships/notesSlide" Target="/ppt/notesSlides/notesSlide1.xml" Id="Rf54ffeb445eb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e5e0e0014554d22" /><Relationship Type="http://schemas.openxmlformats.org/officeDocument/2006/relationships/notesSlide" Target="/ppt/notesSlides/notesSlide2.xml" Id="Rbef8f9ee91e144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e47f879a45b444a9" /><Relationship Type="http://schemas.openxmlformats.org/officeDocument/2006/relationships/notesSlide" Target="/ppt/notesSlides/notesSlide3.xml" Id="Re5d6ca0c8fd143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04f7e9509d664309" /><Relationship Type="http://schemas.openxmlformats.org/officeDocument/2006/relationships/notesSlide" Target="/ppt/notesSlides/notesSlide4.xml" Id="Re4ac22064b96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0f4a664c70b43d4" /><Relationship Type="http://schemas.openxmlformats.org/officeDocument/2006/relationships/notesSlide" Target="/ppt/notesSlides/notesSlide5.xml" Id="R11b6c20287d044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04b0b69ce1374734" /><Relationship Type="http://schemas.openxmlformats.org/officeDocument/2006/relationships/notesSlide" Target="/ppt/notesSlides/notesSlide6.xml" Id="Ra5cf224f5a20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4fa05926cc7457e" /><Relationship Type="http://schemas.openxmlformats.org/officeDocument/2006/relationships/notesSlide" Target="/ppt/notesSlides/notesSlide7.xml" Id="R388a9771a5b3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c6c9b1409034ddb" /><Relationship Type="http://schemas.openxmlformats.org/officeDocument/2006/relationships/notesSlide" Target="/ppt/notesSlides/notesSlide8.xml" Id="R14a39a60161b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4af341cec414a16" /><Relationship Type="http://schemas.openxmlformats.org/officeDocument/2006/relationships/notesSlide" Target="/ppt/notesSlides/notesSlide9.xml" Id="R7d63084ebba841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ba8320845884601" /><Relationship Type="http://schemas.openxmlformats.org/officeDocument/2006/relationships/notesSlide" Target="/ppt/notesSlides/notesSlide10.xml" Id="R17e8ad0631a941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114d72b8adc4868" /><Relationship Type="http://schemas.openxmlformats.org/officeDocument/2006/relationships/notesSlide" Target="/ppt/notesSlides/notesSlide11.xml" Id="R20de5f8da1ec43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6de0deca11d64704" /><Relationship Type="http://schemas.openxmlformats.org/officeDocument/2006/relationships/notesSlide" Target="/ppt/notesSlides/notesSlide12.xml" Id="Re6d4b978e7ed43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62998338dd7843c7" /><Relationship Type="http://schemas.openxmlformats.org/officeDocument/2006/relationships/notesSlide" Target="/ppt/notesSlides/notesSlide13.xml" Id="R1bba87f415de4f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2" name="Google Shape;121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b35d1ca5cb4958">
            <a:alphaModFix/>
          </a:blip>
          <a:srcRect xmlns:a="http://schemas.openxmlformats.org/drawingml/2006/main" l="0" t="20" r="0" b="30"/>
          <a:stretch xmlns:a="http://schemas.openxmlformats.org/drawingml/2006/main"/>
        </p:blipFill>
        <p:spPr>
          <a:xfrm xmlns:a="http://schemas.openxmlformats.org/drawingml/2006/main">
            <a:off x="0" y="0"/>
            <a:ext cx="9144001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3" name="Google Shape;122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57d5ae49444a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0325" y="468084"/>
            <a:ext cx="1001023" cy="3431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23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3778e7de6445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2140" y="482376"/>
            <a:ext cx="609352" cy="3145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24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88acb4c21549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66525" y="511393"/>
            <a:ext cx="425966" cy="2565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25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23ae88b48940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61142" y="434787"/>
            <a:ext cx="542033" cy="409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32">
            <a:extLst xmlns:a="http://schemas.openxmlformats.org/drawingml/2006/main">
              <a:ext uri="{FF2B5EF4-FFF2-40B4-BE49-F238E27FC236}">
                <a16:creationId xmlns:a16="http://schemas.microsoft.com/office/drawing/2014/main" id="{709BF5FB-5112-4F47-8EBF-239BE688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875" y="278425"/>
            <a:ext cx="9000" cy="7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8" name="Google Shape;127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039b15d4448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2826" y="390799"/>
            <a:ext cx="299700" cy="49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59" name="Google Shape;128;p32"/>
          <p:cNvCxnSpPr/>
          <p:nvPr/>
        </p:nvCxnSpPr>
        <p:spPr>
          <a:xfrm xmlns:a="http://schemas.openxmlformats.org/drawingml/2006/main">
            <a:off x="497200" y="4298925"/>
            <a:ext cx="0" cy="8544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D29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32">
            <a:extLst xmlns:a="http://schemas.openxmlformats.org/drawingml/2006/main">
              <a:ext uri="{FF2B5EF4-FFF2-40B4-BE49-F238E27FC236}">
                <a16:creationId xmlns:a16="http://schemas.microsoft.com/office/drawing/2014/main" id="{194A114D-79A2-4A99-9076-7F1BC37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25" y="3429000"/>
            <a:ext cx="44202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</a:rPr>
              <a:t>API Design Bootcamp | Week 4</a:t>
            </a:r>
          </a:p>
        </p:txBody>
      </p:sp>
      <p:sp>
        <p:nvSpPr>
          <p:cNvPr id="130" name="Google Shape;130;p32">
            <a:extLst xmlns:a="http://schemas.openxmlformats.org/drawingml/2006/main">
              <a:ext uri="{FF2B5EF4-FFF2-40B4-BE49-F238E27FC236}">
                <a16:creationId xmlns:a16="http://schemas.microsoft.com/office/drawing/2014/main" id="{4FE7C99B-9DF8-4B3C-AD7C-0BC153A7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46" y="3749326"/>
            <a:ext cx="614038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The Presentation Layer</a:t>
            </a:r>
          </a:p>
        </p:txBody>
      </p:sp>
    </p:spTree>
    <p:extLst>
      <p:ext uri="{BB962C8B-B14F-4D97-AF65-F5344CB8AC3E}">
        <p14:creationId xmlns:p14="http://schemas.microsoft.com/office/powerpoint/2010/main" val="1216901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4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Presentation is the user interface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191AE59-B4A6-4AF4-9474-F69BB07D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“User” can mean a person—or another application.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C851258-B915-40B1-B996-ED26CFE4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809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98FE9C4-CF72-4ED8-9C61-3643F5CA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WEB UI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B73F4D3-9A65-4BA1-800B-A4179D3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clicks + forms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83FF414-CE86-4AAD-9175-75D116E5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1809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6B93C62-626A-471E-BCB1-E0F8FEE3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MOBILE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1C86BBC-5B55-4D55-A9B2-7ECAA21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93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touch + device input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3CFCC55-717F-40EA-939D-8EAA4489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47875"/>
            <a:ext cx="1809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1A56614-0439-4A0D-871A-E37B35B2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CLI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954E6A4-FAC3-4A3C-A0A9-8EDC985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commands + text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CE0585E-D356-4E45-916E-C18741D5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47875"/>
            <a:ext cx="1809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4FCAAB3-89E6-4B1D-A53A-9EE7CE1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API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269F1F2-A698-411C-A21C-34379F4C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HTTP requests + responses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DE280F0-2AFB-43AD-9003-762590B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708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83BD"/>
                </a:solidFill>
              </a:defRPr>
            </a:pPr>
            <a:r>
              <a:rPr sz="1575" b="1">
                <a:solidFill>
                  <a:srgbClr val="0B83BD"/>
                </a:solidFill>
              </a:rPr>
              <a:t>Presentation is an interface boundary—not a synonym for a screen.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4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An API endpoint is a presentation surface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A117B93-9CBB-43E7-A993-A6FE7FDE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619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2E7B26D-0E20-430C-ABB3-A32DBD7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5353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[ApiController]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[Route("api/[controller]")]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public sealed class CharactersController(IMediator mediator)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    : ControllerBase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    [HttpPost]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    public async Task&lt;ActionResult&lt;CreateCharacterResponse&gt;&gt;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        CreateCharacter([FromBody] CreateCharacterRequest request, ...)</a:t>
            </a:r>
          </a:p>
          <a:p xmlns:a="http://schemas.openxmlformats.org/drawingml/2006/main">
            <a:pPr algn="l">
              <a:defRPr sz="1050" b="0">
                <a:solidFill>
                  <a:srgbClr val="EDF4F7"/>
                </a:solidFill>
              </a:defRPr>
            </a:pPr>
            <a:r>
              <a:rPr sz="1050" b="0">
                <a:solidFill>
                  <a:srgbClr val="EDF4F7"/>
                </a:solidFill>
              </a:rPr>
              <a:t>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CC726B5-48CE-41BC-903E-09F15D7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192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DF407B3-23AB-45A5-ADB4-C6DA4B2B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5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ROUTE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83FE56F-2530-4D62-AF6A-475749B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192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Where is it?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0870AF0-7CAC-432E-BAAA-A5FF86F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E711289-464C-44F2-A0B2-55F6838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VERB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F07314F-A826-437A-8551-BBF1F07A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9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What operation?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3C96929-376A-4809-B7EC-C28C149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E77C560-31C6-46C9-8E0C-186CFA8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REQUEST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F686FE1-0962-486D-ACD7-730689C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68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What may enter?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21BEFFC-A078-40C4-9259-C831E40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217E623-8061-4697-BEF6-32F2593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6964FF4-5CD1-4FDD-A423-F3F7859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5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What leaves?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4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HTTP carries input and output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E4D0C56-552E-4FF2-A07F-99EA0A0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INPUT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DC1F4CA-917D-454A-BB92-4ED1CCF3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62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83BD"/>
                </a:solidFill>
              </a:defRPr>
            </a:pPr>
            <a:r>
              <a:rPr sz="1200" b="1">
                <a:solidFill>
                  <a:srgbClr val="0B83BD"/>
                </a:solidFill>
              </a:rPr>
              <a:t>OUTPUT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D9D9BDB-8BCD-4D03-819B-C2A7EC72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531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1D42F1D-9706-4F35-A493-C8F3DD8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581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C87BAC7-E77B-4F95-B3A9-7221DAB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HTTP request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C8F705F-B596-4F9C-AF12-B95997E4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1581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4F8FBAF-D0B8-49D3-9D7F-3DEEFFD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Model binding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13D0D89-D055-46AE-BBBB-B611027F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1581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29A2819-4FEB-4064-ABA8-5DCD1AF4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Application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158B633-155C-4D61-8C50-5255BC5B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581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247509C-1AD6-4E7F-9D1A-876F1D8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HTTP response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30B578B-4188-4DB3-882A-6E0E3ECF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6B76"/>
                </a:solidFill>
              </a:defRPr>
            </a:pPr>
            <a:r>
              <a:rPr sz="1275" b="1">
                <a:solidFill>
                  <a:srgbClr val="5F6B76"/>
                </a:solidFill>
              </a:rPr>
              <a:t>route • query • headers • body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A2CF8D6-9441-450C-BE16-0BA3496D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480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6B76"/>
                </a:solidFill>
              </a:defRPr>
            </a:pPr>
            <a:r>
              <a:rPr sz="1275" b="1">
                <a:solidFill>
                  <a:srgbClr val="5F6B76"/>
                </a:solidFill>
              </a:rPr>
              <a:t>status • headers • response body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1DEB376-7166-4E99-A292-4065B231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57675"/>
            <a:ext cx="613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The presentation layer translates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67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Routes and verbs identify operations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1068D7A-E4EC-478D-9283-0D9F74F3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2197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45942E6-FCBB-4289-8A35-A6EED11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4953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[Route("api/[controller]")]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public sealed class CharactersController : ControllerBase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[HttpPost]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public async Task&lt;ActionResult&lt;CreateCharacterResponse&gt;&gt;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    CreateCharacter(...)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40BFF20-E798-43FA-BDAD-6BF47FC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57300"/>
            <a:ext cx="25908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8C634B2-C070-4083-899B-91BBDC71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954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994A"/>
                </a:solidFill>
              </a:defRPr>
            </a:pPr>
            <a:r>
              <a:rPr sz="1950" b="1">
                <a:solidFill>
                  <a:srgbClr val="F2994A"/>
                </a:solidFill>
              </a:rPr>
              <a:t>POST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F3F0992-E0F0-4B1F-BBCB-6794AA2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97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/api/characters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AC45465-DB13-4E72-B193-7579B35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550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[controller] becomes “characters”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[HttpPost] selects the HTTP operation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4A5A97B-E959-40F9-94D2-79FA860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689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83BD"/>
                </a:solidFill>
              </a:defRPr>
            </a:pPr>
            <a:r>
              <a:rPr sz="1500" b="1">
                <a:solidFill>
                  <a:srgbClr val="0B83BD"/>
                </a:solidFill>
              </a:rPr>
              <a:t>Together they form the public address of the use case.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6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Model binding reads HTTP input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CFF8026-6971-4016-B953-781541F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URL / ROUTE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4E03BB0-D638-413B-B88F-ABCE83E2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001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/characters/{id}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933509D-03F7-4881-BAFC-2CA2AC25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001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[FromRoute] Guid id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F52174C-7AA3-4A10-9E5B-A942524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3D4C614-A323-456E-B3FF-CD8311AD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QUERY STRING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AC76191-7EF7-4BEA-A547-B8985A5D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193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?className=Fighter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ADEE227-11D5-440E-B442-48A75AA6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[FromQuery] string className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EE390B6-FB9E-4D50-A05A-2A04962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76FC180-CD86-405A-9F20-F55D8F7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HEADERS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51D2A06-311D-45EF-AD1D-2B1600E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X-Correlation-Id: ...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551372A-3D60-403F-BF54-2C7DBC3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[FromHeader] string correlationId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A4B706F-8BCC-4AB1-A59D-67DE024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A2C02E7-6FCE-4430-88F1-5177D5E7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</a:defRPr>
            </a:pPr>
            <a:r>
              <a:rPr sz="1125" b="1">
                <a:solidFill>
                  <a:srgbClr val="F2994A"/>
                </a:solidFill>
              </a:rPr>
              <a:t>BODY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C05B1B4-9003-4103-9B2F-5D43C47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{ "name": "Aria" }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D6D7CC2-5458-416E-80CF-8081FB4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[FromBody] CreateCharacterRequest request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EFD3862-608F-49D0-B17B-AB176B0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3BD"/>
                </a:solidFill>
              </a:defRPr>
            </a:pPr>
            <a:r>
              <a:rPr sz="1275" b="1">
                <a:solidFill>
                  <a:srgbClr val="0B83BD"/>
                </a:solidFill>
              </a:rPr>
              <a:t>The repository already uses [FromBody]; the other attributes follow the same boundary pattern.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7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Request contracts protect the boundary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971661C-9753-4192-8B6A-647CDDFF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C412B79-65DD-4489-A318-7A3C724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495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public sealed class CreateCharacterRequest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    public required string Name { get; init;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    public required string ClassName { get; init;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    public required string Weapon { get; init; }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9E98384-74EA-4539-8F10-FAA680A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239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The contract is: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673B2EF-1516-40F0-866C-C0CF8CED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361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F083E37-17B9-47C0-AB22-A90AC638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6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7B33E24-8302-42B2-9F55-050136F2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client-facing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8AB8928-EE4B-4ED3-97DE-41C9023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361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3AD9B1D-9E8E-46D0-8070-D7A1154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24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6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7C98397-A8B7-411F-B4D8-2C448BD0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serializable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7E05947-D4F4-4F77-B72B-36A40505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361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F6452BF-CA49-4887-9DBE-EFA2D7A8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6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168EA38-07F0-4EF9-88D1-F19424EB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versionable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8C97017-BE6D-451E-851F-A3FE859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361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1F9149F-32DA-4CEC-B6EC-A6CF5EF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6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DEAE620-057C-4107-8CB9-6F05C33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separate from domain behavior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18A8EA5-B3E8-4360-9257-A651594F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609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AC0F046-9BD4-4B91-9F29-92DA4D9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Do not expose Character just because its properties look convenient.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69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Controllers translate into use cases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EA8AC09-448A-420D-981D-85891617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048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43C17F5-048E-49BD-8FAC-EE0200D1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47815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var command = new CreateCharacterCommand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Name = request.Name,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ClassName = request.ClassName,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Weapon = request.Weapon,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Guid characterId =</a:t>
            </a:r>
          </a:p>
          <a:p xmlns:a="http://schemas.openxmlformats.org/drawingml/2006/main">
            <a:pPr algn="l">
              <a:defRPr sz="1200" b="0">
                <a:solidFill>
                  <a:srgbClr val="EDF4F7"/>
                </a:solidFill>
              </a:defRPr>
            </a:pPr>
            <a:r>
              <a:rPr sz="1200" b="0">
                <a:solidFill>
                  <a:srgbClr val="EDF4F7"/>
                </a:solidFill>
              </a:rPr>
              <a:t>    await mediator.Send(command, cancellationToken);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B8D95AD-4937-4EC4-AF1A-2D5D401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E1FF90F-AF1A-402B-9751-769DA4F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1066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CA3A1E8-EDB9-4FD9-A198-257DD72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99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REQUEST</a:t>
            </a:r>
          </a:p>
          <a:p xmlns:a="http://schemas.openxmlformats.org/drawingml/2006/main">
            <a:pPr algn="ctr"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CONTRACT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9C04F39-64FA-4B89-BB38-8512D27F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144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A33056C-25DD-4BB3-A8EE-7E264046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APPLICATION</a:t>
            </a:r>
          </a:p>
          <a:p xmlns:a="http://schemas.openxmlformats.org/drawingml/2006/main">
            <a:pPr algn="ctr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COMMAND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9C6DC3B-6300-4A64-B1DC-23596A30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994A"/>
                </a:solidFill>
              </a:defRPr>
            </a:pPr>
            <a:r>
              <a:rPr sz="1350" b="1">
                <a:solidFill>
                  <a:srgbClr val="F2994A"/>
                </a:solidFill>
              </a:rPr>
              <a:t>HTTP vocabulary stops here.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02E8C7A-53B1-4026-9C7B-9DAB37B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716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4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F6B76"/>
                </a:solidFill>
              </a:defRPr>
            </a:pPr>
            <a:r>
              <a:rPr sz="1425" b="1">
                <a:solidFill>
                  <a:srgbClr val="5F6B76"/>
                </a:solidFill>
              </a:rPr>
              <a:t>Mapping is intentional: the external shape may change without redesigning the domain.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80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Controllers translate; domains decide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ACC072B-C446-4A62-BF61-D27FEF50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3BD"/>
                </a:solidFill>
              </a:defRPr>
            </a:pPr>
            <a:r>
              <a:rPr sz="1200" b="1">
                <a:solidFill>
                  <a:srgbClr val="0B83BD"/>
                </a:solidFill>
              </a:rPr>
              <a:t>CONTROLLER SHOULD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5D853E7-9EB7-40CB-8582-34CA2B16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2192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CONTROLLER SHOULD NOT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C31D3F0-D87C-4C88-9BD0-9460AAB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CE5881B-3BBB-4631-9F33-D82E37D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Bind and validate HTTP input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CA9D530-2B4A-4556-8C4A-B36CC4A9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ECF785C-0696-45B2-94E3-D71CE22A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Map contracts to commands or queries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21C2D3C-29AC-4FF5-ADA7-52DD622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7EA1FEE-83C9-4B9C-8FE0-E38E60F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Delegate the use case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ECF8C62-7B95-4E72-B093-B07B1D3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01F1C9B-1C09-4E2F-96EA-3B81B951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Choose the HTTP response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88CB5573-FC4D-4F08-B92E-E9818AFA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33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2900D95-8F15-4085-8EFF-26B787EA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Decide weapon proficiency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1BAD7FC-454D-4792-8F1A-84796F43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145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BF1900C-5ED2-4370-9365-4F523767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95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Calculate character rules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0DA5331-D8E0-41F7-9E22-40F941F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143CEF0-AEAD-4B75-8DA7-82D8F39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Know database structure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D45B718-899E-454F-8832-E9F5499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766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532E87E-1CC4-4A2F-9CCE-9CE3924D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575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Mutate domain state directly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039A2E1E-4C03-447C-9C73-373443C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6819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543BD20-3048-4533-BD64-58D2FC4F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If it is a business rule, it belongs behind the presentation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2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Response contracts shape API output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849CF51-705F-40F6-9BBE-F563C7F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5219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EF716AD-5FA9-4412-A7BE-8FD6901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public sealed class CreateCharacterResponse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    public required Guid Id { get; init; }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var response = new CreateCharacterResponse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    Id = characterId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return Created($"api/characters/{characterId}", response);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08DB7B1-45D6-48F8-BE11-417831D1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52550"/>
            <a:ext cx="9906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66642B5-2D04-437F-86F7-F467E05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906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201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CE33FB3-7D74-4C7D-96BF-2A0D34A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3525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Created status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99BE397-51FB-430E-A2CB-445BC69C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9906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27CD2DE-B87D-4D92-B8F8-91135FEA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Location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0123039-E06D-4019-993C-38F70D3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288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92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Resource URL header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70302F7-5D3E-4FFB-B907-71B4A376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9906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AA93672-A419-4501-86B0-3B9559CA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JSON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ED97BE8-53C6-4CD3-903E-5C012BFB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31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Response body contract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BCEB92D-67B7-48E5-8F12-2052AC2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0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49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Output is designed for the client—not copied from the domain.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67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Query strings can shape a read operation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2B4FB42-BF8D-40E0-83DD-EB951401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334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CF27AAC-325B-47F8-BC9B-B331F3D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5067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[HttpGet("characters")]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[EnableQuery]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public async Task&lt;IQueryable&lt;ListCharactersDataQueryResult&gt;&gt;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    GetCharacters(CancellationToken cancellationToken)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    =&gt; await mediator.Send(</a:t>
            </a:r>
          </a:p>
          <a:p xmlns:a="http://schemas.openxmlformats.org/drawingml/2006/main">
            <a:pPr algn="l">
              <a:defRPr sz="1125" b="0">
                <a:solidFill>
                  <a:srgbClr val="EDF4F7"/>
                </a:solidFill>
              </a:defRPr>
            </a:pPr>
            <a:r>
              <a:rPr sz="1125" b="0">
                <a:solidFill>
                  <a:srgbClr val="EDF4F7"/>
                </a:solidFill>
              </a:rPr>
              <a:t>        new ListCharactersQuery(), cancellationToken);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D36AC6C-8921-4CE0-A4FA-B2FBA4E8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8115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1766398-82E2-476D-9CDE-196071E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GET /odata/characters?$filter=ClassName eq 'Fighter'&amp;$select=Id,Name,WeaponName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5E2A03D-8839-4403-B6A6-6C9A6F87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</a:defRPr>
            </a:pPr>
            <a:r>
              <a:rPr sz="1125" b="1">
                <a:solidFill>
                  <a:srgbClr val="F2994A"/>
                </a:solidFill>
              </a:rPr>
              <a:t>filter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0A385AA-A499-4D0C-AB3D-8C0CF3F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select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4CA03BA-4766-4596-B619-DF1DB9C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30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7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B76"/>
                </a:solidFill>
              </a:defRPr>
            </a:pPr>
            <a:r>
              <a:rPr sz="1350" b="1">
                <a:solidFill>
                  <a:srgbClr val="5F6B76"/>
                </a:solidFill>
              </a:rPr>
              <a:t>The URL carries presentation choices about the returned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0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Startup publishes the API interface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B5DD839-A7B5-4870-9210-3B1BC497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46291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16212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A9BD75E-6C61-406E-94EC-4FD0835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43624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builder.Services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    .AddControllers()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    .AddOData(options =&gt; { ...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builder.Services.AddEndpointsApiExplorer();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builder.Services.AddSwaggerGen();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app.UseSwagger();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app.UseSwaggerUI();</a:t>
            </a:r>
          </a:p>
          <a:p xmlns:a="http://schemas.openxmlformats.org/drawingml/2006/main">
            <a:pPr algn="l">
              <a:defRPr sz="1275" b="0">
                <a:solidFill>
                  <a:srgbClr val="EDF4F7"/>
                </a:solidFill>
              </a:defRPr>
            </a:pPr>
            <a:r>
              <a:rPr sz="1275" b="0">
                <a:solidFill>
                  <a:srgbClr val="EDF4F7"/>
                </a:solidFill>
              </a:rPr>
              <a:t>app.MapControllers();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788D147-CD47-463E-9F23-1E68936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811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3BD"/>
                </a:solidFill>
              </a:defRPr>
            </a:pPr>
            <a:r>
              <a:rPr sz="1275" b="1">
                <a:solidFill>
                  <a:srgbClr val="0B83BD"/>
                </a:solidFill>
              </a:rPr>
              <a:t>AddControllers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A6B13C9-C81A-4F83-8528-03DAB244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Discover controllers + model binding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3D7B610-332D-4B88-A5B8-758E653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574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994A"/>
                </a:solidFill>
              </a:defRPr>
            </a:pPr>
            <a:r>
              <a:rPr sz="1275" b="1">
                <a:solidFill>
                  <a:srgbClr val="F2994A"/>
                </a:solidFill>
              </a:rPr>
              <a:t>Swagger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7DDB619-C133-4EEF-82D2-9BCBEFF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574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Describe and explore the API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25ECB0E-24FA-4E92-9BCE-0DBD3D9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337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3BD"/>
                </a:solidFill>
              </a:defRPr>
            </a:pPr>
            <a:r>
              <a:rPr sz="1275" b="1">
                <a:solidFill>
                  <a:srgbClr val="0B83BD"/>
                </a:solidFill>
              </a:rPr>
              <a:t>MapControllers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DAABF92-8738-4798-A5A2-75E53761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Publish attributed routes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4B8C7D0-810F-4572-9779-620AE997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67437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59E74D3-3EE7-40A0-A9A2-FD23B9D4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Configuration wires the interface; controllers define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5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51" y="202075"/>
            <a:ext cx="58287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Week 4: build a client-facing contract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641EB5A-6F55-46AE-9B0F-73CC047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811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</a:defRPr>
            </a:pPr>
            <a:r>
              <a:rPr sz="1725" b="0">
                <a:solidFill>
                  <a:srgbClr val="5F6B76"/>
                </a:solidFill>
              </a:rPr>
              <a:t>Build an endpoint without letting HTTP concerns leak inward.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FBEF4BB-DED7-4F09-B377-FC1677A6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01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2252115-A0BD-464D-AB2C-B8752986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14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Create a response model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B4267B8-1083-4688-96F1-09ADE158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Return only what the API consumer needs.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977E7E6-2395-42FC-9345-318EC3FF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02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A315718-09F2-462B-9176-AAC7E79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Add a read endpoint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51C2CA2-BEF6-44B0-8A81-8D4F725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Choose the route, verb, and input locations.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C3B32AB-5810-4FAD-AC25-93EE8510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03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640F3E4-2829-4389-B754-24F8AB2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Map at the boundary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7BBB9C5-A599-4127-8657-0ACC6A8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Translate internal data into the response contract.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1FDA84C-E92A-4CA7-8EE7-8F72ED92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04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7140002-ACFB-48D7-9B3E-944420A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Keep rules behind it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53BAAF1-1523-495D-83A3-B24F541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The controller coordinates; the domain decides.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E90ACE5-9458-45DB-A7FD-7F661841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73533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236E233-B521-4137-92A9-258471C0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Final test: if HTTP disappeared, could the use case still run?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2026-07-29T12:50:57.4700000Z</dcterms:created>
  <dcterms:modified xsi:type="dcterms:W3CDTF">2026-07-29T12:50:57.4700000Z</dcterms:modified>
</coreProperties>
</file>