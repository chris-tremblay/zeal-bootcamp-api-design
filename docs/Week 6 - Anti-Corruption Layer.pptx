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3" r:id="rId3"/>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type="screen16x9"/>
  <p:notesSz cx="6858000" cy="9144000"/>
  <p:embeddedFontLst>
    <p:embeddedFont>
      <p:font typeface="Inter Tight ExtraBold" panose="020B0604020202020204" charset="0"/>
      <p:bold r:id="rId15"/>
      <p:boldItalic r:id="rId16"/>
    </p:embeddedFont>
    <p:embeddedFont>
      <p:font typeface="Inter Tight Light" panose="020B0604020202020204" charset="0"/>
      <p:regular r:id="rId17"/>
      <p:bold r:id="rId18"/>
      <p:italic r:id="rId19"/>
      <p:boldItalic r:id="rId20"/>
    </p:embeddedFont>
    <p:embeddedFont>
      <p:font typeface="Roboto" panose="02000000000000000000" pitchFamily="2"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73" d="100"/>
          <a:sy n="173" d="100"/>
        </p:scale>
        <p:origin x="768" y="5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font" Target="fonts/font7.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0.fntdata"/><Relationship Id="rId5" Type="http://schemas.openxmlformats.org/officeDocument/2006/relationships/slide" Target="slides/slide2.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15000"/>
              </a:lnSpc>
              <a:spcBef>
                <a:spcPts val="0"/>
              </a:spcBef>
              <a:spcAft>
                <a:spcPts val="0"/>
              </a:spcAft>
              <a:buNone/>
            </a:pPr>
            <a:r>
              <a:t>[Sources]</a:t>
            </a:r>
          </a:p>
          <a:p>
            <a:pPr marL="0" lvl="0" indent="0" algn="l">
              <a:lnSpc>
                <a:spcPct val="115000"/>
              </a:lnSpc>
              <a:spcBef>
                <a:spcPts val="0"/>
              </a:spcBef>
              <a:spcAft>
                <a:spcPts val="0"/>
              </a:spcAft>
              <a:buNone/>
            </a:pPr>
            <a:r>
              <a:t>- docs/Syllabus.docx</a:t>
            </a:r>
          </a:p>
          <a:p>
            <a:pPr marL="0" lvl="0" indent="0" algn="l">
              <a:lnSpc>
                <a:spcPct val="115000"/>
              </a:lnSpc>
              <a:spcBef>
                <a:spcPts val="0"/>
              </a:spcBef>
              <a:spcAft>
                <a:spcPts val="0"/>
              </a:spcAft>
              <a:buNone/>
            </a:pPr>
            <a:r>
              <a:t>- Local bootcamp repository.</a:t>
            </a:r>
          </a:p>
          <a:p>
            <a:pPr marL="0" lvl="0" indent="0" algn="l">
              <a:lnSpc>
                <a:spcPct val="115000"/>
              </a:lnSpc>
              <a:spcBef>
                <a:spcPts val="0"/>
              </a:spcBef>
              <a:spcAft>
                <a:spcPts val="0"/>
              </a:spcAft>
              <a:buNone/>
            </a:pPr>
            <a:endParaRPr/>
          </a:p>
          <a:p>
            <a:pPr marL="0" lvl="0" indent="0" algn="l">
              <a:lnSpc>
                <a:spcPct val="115000"/>
              </a:lnSpc>
              <a:spcBef>
                <a:spcPts val="0"/>
              </a:spcBef>
              <a:spcAft>
                <a:spcPts val="0"/>
              </a:spcAft>
              <a:buNone/>
            </a:pPr>
            <a:r>
              <a:t>[Timing] 0:30</a:t>
            </a:r>
          </a:p>
          <a:p>
            <a:pPr marL="0" lvl="0" indent="0" algn="l">
              <a:lnSpc>
                <a:spcPct val="115000"/>
              </a:lnSpc>
              <a:spcBef>
                <a:spcPts val="0"/>
              </a:spcBef>
              <a:spcAft>
                <a:spcPts val="0"/>
              </a:spcAft>
              <a:buNone/>
            </a:pPr>
            <a:r>
              <a:t>Introduce this as a focused stretch topic for the Week 6 Q&amp;A and working session. The central question is: how do we integrate another system without adopting its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docs/Syllabus.docx</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2:00</a:t>
            </a:r>
          </a:p>
          <a:p>
            <a:pPr marL="0" lvl="0" indent="0" algn="l">
              <a:lnSpc>
                <a:spcPct val="100000"/>
              </a:lnSpc>
              <a:spcBef>
                <a:spcPts val="0"/>
              </a:spcBef>
              <a:spcAft>
                <a:spcPts val="0"/>
              </a:spcAft>
              <a:buSzPts val="1100"/>
              <a:buNone/>
            </a:pPr>
            <a:r>
              <a:t>Use a hypothetical D&amp;D catalog provider. It may call a proficiency martial-melee, represent damage as 1d8, and communicate failures through HTTP. None of those details should automatically become domain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src/Zeal.Bootcamp.DnD.Application/Commands/CreateCharacter/CreateCharacterCommandHandler.cs</a:t>
            </a:r>
          </a:p>
          <a:p>
            <a:pPr marL="0" lvl="0" indent="0" algn="l">
              <a:lnSpc>
                <a:spcPct val="100000"/>
              </a:lnSpc>
              <a:spcBef>
                <a:spcPts val="0"/>
              </a:spcBef>
              <a:spcAft>
                <a:spcPts val="0"/>
              </a:spcAft>
              <a:buSzPts val="1100"/>
              <a:buNone/>
            </a:pPr>
            <a:r>
              <a:t>- src/Zeal.Bootcamp.DnD.Application/Services/Catalogs/IWeaponCatalog.cs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2:30</a:t>
            </a:r>
          </a:p>
          <a:p>
            <a:pPr marL="0" lvl="0" indent="0" algn="l">
              <a:lnSpc>
                <a:spcPct val="100000"/>
              </a:lnSpc>
              <a:spcBef>
                <a:spcPts val="0"/>
              </a:spcBef>
              <a:spcAft>
                <a:spcPts val="0"/>
              </a:spcAft>
              <a:buSzPts val="1100"/>
              <a:buNone/>
            </a:pPr>
            <a:r>
              <a:t>Contrast the dependency directions. The handler should ask for a weapon using an application capability; it should not know which provider, endpoint, DTO, or status code supplies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Local bootcamp layered-architecture patterns.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2:30</a:t>
            </a:r>
          </a:p>
          <a:p>
            <a:pPr marL="0" lvl="0" indent="0" algn="l">
              <a:lnSpc>
                <a:spcPct val="100000"/>
              </a:lnSpc>
              <a:spcBef>
                <a:spcPts val="0"/>
              </a:spcBef>
              <a:spcAft>
                <a:spcPts val="0"/>
              </a:spcAft>
              <a:buSzPts val="1100"/>
              <a:buNone/>
            </a:pPr>
            <a:r>
              <a:t>Walk left to right. The client DTO is truthful to the provider. The translator is truthful to our model. The anti-corruption layer owns the difference between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src/Zeal.Bootcamp.DnD.Application/Services/Catalogs/IWeaponCatalog.cs</a:t>
            </a:r>
          </a:p>
          <a:p>
            <a:pPr marL="0" lvl="0" indent="0" algn="l">
              <a:lnSpc>
                <a:spcPct val="100000"/>
              </a:lnSpc>
              <a:spcBef>
                <a:spcPts val="0"/>
              </a:spcBef>
              <a:spcAft>
                <a:spcPts val="0"/>
              </a:spcAft>
              <a:buSzPts val="1100"/>
              <a:buNone/>
            </a:pPr>
            <a:r>
              <a:t>- src/Zeal.Bootcamp.DnD.Application/Commands/CreateCharacter/CreateCharacterCommandHandler.cs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2:30</a:t>
            </a:r>
          </a:p>
          <a:p>
            <a:pPr marL="0" lvl="0" indent="0" algn="l">
              <a:lnSpc>
                <a:spcPct val="100000"/>
              </a:lnSpc>
              <a:spcBef>
                <a:spcPts val="0"/>
              </a:spcBef>
              <a:spcAft>
                <a:spcPts val="0"/>
              </a:spcAft>
              <a:buSzPts val="1100"/>
              <a:buNone/>
            </a:pPr>
            <a:r>
              <a:t>This is the closest existing seam in the repository. The current catalog is local, but an external implementation can sit behind the same application-owned concept. A real network implementation would likely evolve Find to an asynchronous contract.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Hypothetical ExternalWeaponCatalog example based on the repository's IWeaponCatalog seam.</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3:00</a:t>
            </a:r>
          </a:p>
          <a:p>
            <a:pPr marL="0" lvl="0" indent="0" algn="l">
              <a:lnSpc>
                <a:spcPct val="100000"/>
              </a:lnSpc>
              <a:spcBef>
                <a:spcPts val="0"/>
              </a:spcBef>
              <a:spcAft>
                <a:spcPts val="0"/>
              </a:spcAft>
              <a:buSzPts val="1100"/>
              <a:buNone/>
            </a:pPr>
            <a:r>
              <a:t>Define each role. The client speaks transport. The DTO mirrors the provider. The translator protects semantics. The adapter implements the application port and coordinates the pieces.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src/Zeal.Bootcamp.DnD.Domain/Weapons/Weapon.cs</a:t>
            </a:r>
          </a:p>
          <a:p>
            <a:pPr marL="0" lvl="0" indent="0" algn="l">
              <a:lnSpc>
                <a:spcPct val="100000"/>
              </a:lnSpc>
              <a:spcBef>
                <a:spcPts val="0"/>
              </a:spcBef>
              <a:spcAft>
                <a:spcPts val="0"/>
              </a:spcAft>
              <a:buSzPts val="1100"/>
              <a:buNone/>
            </a:pPr>
            <a:r>
              <a:t>- src/Zeal.Bootcamp.DnD.Domain/Weapons/WeaponProficiency.cs</a:t>
            </a:r>
          </a:p>
          <a:p>
            <a:pPr marL="0" lvl="0" indent="0" algn="l">
              <a:lnSpc>
                <a:spcPct val="100000"/>
              </a:lnSpc>
              <a:spcBef>
                <a:spcPts val="0"/>
              </a:spcBef>
              <a:spcAft>
                <a:spcPts val="0"/>
              </a:spcAft>
              <a:buSzPts val="1100"/>
              <a:buNone/>
            </a:pPr>
            <a:r>
              <a:t>- Hypothetical ExternalWeaponDto and translation example.</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3:00</a:t>
            </a:r>
          </a:p>
          <a:p>
            <a:pPr marL="0" lvl="0" indent="0" algn="l">
              <a:lnSpc>
                <a:spcPct val="100000"/>
              </a:lnSpc>
              <a:spcBef>
                <a:spcPts val="0"/>
              </a:spcBef>
              <a:spcAft>
                <a:spcPts val="0"/>
              </a:spcAft>
              <a:buSzPts val="1100"/>
              <a:buNone/>
            </a:pPr>
            <a:r>
              <a:t>Explain that translation is not property copying. It decides what an external category means in our language and rejects unknown meanings deliberately. Weapon.Create and Damage.Parse are illustrative extensions, not current repository members.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Hypothetical integration error types for teaching purposes.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2:00</a:t>
            </a:r>
          </a:p>
          <a:p>
            <a:pPr marL="0" lvl="0" indent="0" algn="l">
              <a:lnSpc>
                <a:spcPct val="100000"/>
              </a:lnSpc>
              <a:spcBef>
                <a:spcPts val="0"/>
              </a:spcBef>
              <a:spcAft>
                <a:spcPts val="0"/>
              </a:spcAft>
              <a:buSzPts val="1100"/>
              <a:buNone/>
            </a:pPr>
            <a:r>
              <a:t>Successful values are not the only translation. Convert external failures into stable application language, preserve the original cause for diagnostics, and avoid leaking status codes into domain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docs/Week 4 - Presentation Layer.pptx</a:t>
            </a:r>
          </a:p>
          <a:p>
            <a:pPr marL="0" lvl="0" indent="0" algn="l">
              <a:lnSpc>
                <a:spcPct val="100000"/>
              </a:lnSpc>
              <a:spcBef>
                <a:spcPts val="0"/>
              </a:spcBef>
              <a:spcAft>
                <a:spcPts val="0"/>
              </a:spcAft>
              <a:buSzPts val="1100"/>
              <a:buNone/>
            </a:pPr>
            <a:r>
              <a:t>- docs/Week 5 - Data Layer.pptx</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2:00</a:t>
            </a:r>
          </a:p>
          <a:p>
            <a:pPr marL="0" lvl="0" indent="0" algn="l">
              <a:lnSpc>
                <a:spcPct val="100000"/>
              </a:lnSpc>
              <a:spcBef>
                <a:spcPts val="0"/>
              </a:spcBef>
              <a:spcAft>
                <a:spcPts val="0"/>
              </a:spcAft>
              <a:buSzPts val="1100"/>
              <a:buNone/>
            </a:pPr>
            <a:r>
              <a:t>Compare the boundaries students have already learned. All can contain mapping, but only the ACL prevents a separate model or bounded context from redefining our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[Sources]</a:t>
            </a:r>
          </a:p>
          <a:p>
            <a:pPr marL="0" lvl="0" indent="0" algn="l">
              <a:lnSpc>
                <a:spcPct val="100000"/>
              </a:lnSpc>
              <a:spcBef>
                <a:spcPts val="0"/>
              </a:spcBef>
              <a:spcAft>
                <a:spcPts val="0"/>
              </a:spcAft>
              <a:buSzPts val="1100"/>
              <a:buNone/>
            </a:pPr>
            <a:r>
              <a:t>- docs/Syllabus.docx</a:t>
            </a:r>
          </a:p>
          <a:p>
            <a:pPr marL="0" lvl="0" indent="0" algn="l">
              <a:lnSpc>
                <a:spcPct val="100000"/>
              </a:lnSpc>
              <a:spcBef>
                <a:spcPts val="0"/>
              </a:spcBef>
              <a:spcAft>
                <a:spcPts val="0"/>
              </a:spcAft>
              <a:buSzPts val="1100"/>
              <a:buNone/>
            </a:pPr>
            <a:r>
              <a:t>- src/Zeal.Bootcamp.DnD.Application/Services/Catalogs/IWeaponCatalog.cs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[Timing] 1:30</a:t>
            </a:r>
          </a:p>
          <a:p>
            <a:pPr marL="0" lvl="0" indent="0" algn="l">
              <a:lnSpc>
                <a:spcPct val="100000"/>
              </a:lnSpc>
              <a:spcBef>
                <a:spcPts val="0"/>
              </a:spcBef>
              <a:spcAft>
                <a:spcPts val="0"/>
              </a:spcAft>
              <a:buSzPts val="1100"/>
              <a:buNone/>
            </a:pPr>
            <a:r>
              <a:t>Close with the exercise. The desired answer to the final test is: the client, DTOs, translator, adapter, and registration change; the use case and domain remain 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0" name="Google Shape;10;p2">
            <a:extLst>
              <a:ext uri="{FF2B5EF4-FFF2-40B4-BE49-F238E27FC236}">
                <a16:creationId xmlns:a16="http://schemas.microsoft.com/office/drawing/2014/main" id="{05598831-8EC0-4054-B936-15F992E54A5A}"/>
              </a:ext>
            </a:extLst>
          </p:cNvPr>
          <p:cNvSpPr>
            <a:spLocks noGrp="1"/>
          </p:cNvSpPr>
          <p:nvPr>
            <p:ph type="ctrTitle"/>
          </p:nvPr>
        </p:nvSpPr>
        <p:spPr>
          <a:xfrm>
            <a:off x="311708" y="744575"/>
            <a:ext cx="8520600" cy="2052600"/>
          </a:xfrm>
          <a:prstGeom prst="rect">
            <a:avLst/>
          </a:prstGeom>
        </p:spPr>
        <p:txBody>
          <a:bodyPr spcFirstLastPara="1" wrap="square" lIns="91425" tIns="91425" rIns="91425" bIns="91425" anchor="b">
            <a:normAutofit/>
          </a:bodyPr>
          <a:lstStyle>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1" name="Google Shape;11;p2">
            <a:extLst>
              <a:ext uri="{FF2B5EF4-FFF2-40B4-BE49-F238E27FC236}">
                <a16:creationId xmlns:a16="http://schemas.microsoft.com/office/drawing/2014/main" id="{0B63BD7F-0FBC-4618-9748-594102EAF33E}"/>
              </a:ext>
            </a:extLst>
          </p:cNvPr>
          <p:cNvSpPr>
            <a:spLocks noGrp="1"/>
          </p:cNvSpPr>
          <p:nvPr>
            <p:ph type="subTitle" idx="1"/>
          </p:nvPr>
        </p:nvSpPr>
        <p:spPr>
          <a:xfrm>
            <a:off x="311700" y="2834125"/>
            <a:ext cx="8520600" cy="792600"/>
          </a:xfrm>
          <a:prstGeom prst="rect">
            <a:avLst/>
          </a:prstGeom>
        </p:spPr>
        <p:txBody>
          <a:bodyPr spcFirstLastPara="1" wrap="square" lIns="91425" tIns="91425" rIns="91425" bIns="91425" anchor="t">
            <a:norm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sp>
        <p:nvSpPr>
          <p:cNvPr id="12" name="Google Shape;12;p2">
            <a:extLst>
              <a:ext uri="{FF2B5EF4-FFF2-40B4-BE49-F238E27FC236}">
                <a16:creationId xmlns:a16="http://schemas.microsoft.com/office/drawing/2014/main" id="{36E8D8E9-B0BA-4941-8476-C2CBD4B105E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4" name="Google Shape;14;p3">
            <a:extLst>
              <a:ext uri="{FF2B5EF4-FFF2-40B4-BE49-F238E27FC236}">
                <a16:creationId xmlns:a16="http://schemas.microsoft.com/office/drawing/2014/main" id="{7DDD19BB-91F0-4F43-9467-D672517BFE45}"/>
              </a:ext>
            </a:extLst>
          </p:cNvPr>
          <p:cNvSpPr>
            <a:spLocks noGrp="1"/>
          </p:cNvSpPr>
          <p:nvPr>
            <p:ph type="title"/>
          </p:nvPr>
        </p:nvSpPr>
        <p:spPr>
          <a:xfrm>
            <a:off x="311700" y="2150850"/>
            <a:ext cx="8520600" cy="841800"/>
          </a:xfrm>
          <a:prstGeom prst="rect">
            <a:avLst/>
          </a:prstGeom>
        </p:spPr>
        <p:txBody>
          <a:bodyPr spcFirstLastPara="1" wrap="square" lIns="91425" tIns="91425" rIns="91425" bIns="91425" anchor="ctr">
            <a:normAutofit/>
          </a:bodyPr>
          <a:lstStyle>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5" name="Google Shape;15;p3">
            <a:extLst>
              <a:ext uri="{FF2B5EF4-FFF2-40B4-BE49-F238E27FC236}">
                <a16:creationId xmlns:a16="http://schemas.microsoft.com/office/drawing/2014/main" id="{7B92075D-0A74-4B46-89C9-96DD327CA6F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17" name="Google Shape;17;p4">
            <a:extLst>
              <a:ext uri="{FF2B5EF4-FFF2-40B4-BE49-F238E27FC236}">
                <a16:creationId xmlns:a16="http://schemas.microsoft.com/office/drawing/2014/main" id="{B6379593-7E0F-4478-A79F-8ABF04C92373}"/>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18" name="Google Shape;18;p4">
            <a:extLst>
              <a:ext uri="{FF2B5EF4-FFF2-40B4-BE49-F238E27FC236}">
                <a16:creationId xmlns:a16="http://schemas.microsoft.com/office/drawing/2014/main" id="{0697C9FE-8671-4DE9-A6BE-C75B34B0053D}"/>
              </a:ext>
            </a:extLst>
          </p:cNvPr>
          <p:cNvSpPr>
            <a:spLocks noGrp="1"/>
          </p:cNvSpPr>
          <p:nvPr>
            <p:ph type="body" idx="1"/>
          </p:nvPr>
        </p:nvSpPr>
        <p:spPr>
          <a:xfrm>
            <a:off x="311700" y="1152475"/>
            <a:ext cx="8520600" cy="3416400"/>
          </a:xfrm>
          <a:prstGeom prst="rect">
            <a:avLst/>
          </a:prstGeom>
        </p:spPr>
        <p:txBody>
          <a:bodyPr spcFirstLastPara="1" wrap="square" lIns="91425" tIns="91425" rIns="91425" bIns="91425" anchor="t">
            <a:normAutofit/>
          </a:bodyPr>
          <a:lstStyle>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19" name="Google Shape;19;p4">
            <a:extLst>
              <a:ext uri="{FF2B5EF4-FFF2-40B4-BE49-F238E27FC236}">
                <a16:creationId xmlns:a16="http://schemas.microsoft.com/office/drawing/2014/main" id="{DDB594E8-E927-44BA-ACB6-57DC79F3FABE}"/>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21" name="Google Shape;21;p5">
            <a:extLst>
              <a:ext uri="{FF2B5EF4-FFF2-40B4-BE49-F238E27FC236}">
                <a16:creationId xmlns:a16="http://schemas.microsoft.com/office/drawing/2014/main" id="{F532C63C-5297-4F29-8546-29E7979C7D7D}"/>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2" name="Google Shape;22;p5">
            <a:extLst>
              <a:ext uri="{FF2B5EF4-FFF2-40B4-BE49-F238E27FC236}">
                <a16:creationId xmlns:a16="http://schemas.microsoft.com/office/drawing/2014/main" id="{649E350B-5BA8-4B3E-ACDE-7FE065249D40}"/>
              </a:ext>
            </a:extLst>
          </p:cNvPr>
          <p:cNvSpPr>
            <a:spLocks noGrp="1"/>
          </p:cNvSpPr>
          <p:nvPr>
            <p:ph type="body" idx="1"/>
          </p:nvPr>
        </p:nvSpPr>
        <p:spPr>
          <a:xfrm>
            <a:off x="3117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23" name="Google Shape;23;p5">
            <a:extLst>
              <a:ext uri="{FF2B5EF4-FFF2-40B4-BE49-F238E27FC236}">
                <a16:creationId xmlns:a16="http://schemas.microsoft.com/office/drawing/2014/main" id="{0C505418-5593-4653-B8A7-6B5F3AA50E36}"/>
              </a:ext>
            </a:extLst>
          </p:cNvPr>
          <p:cNvSpPr>
            <a:spLocks noGrp="1"/>
          </p:cNvSpPr>
          <p:nvPr>
            <p:ph type="body" idx="2"/>
          </p:nvPr>
        </p:nvSpPr>
        <p:spPr>
          <a:xfrm>
            <a:off x="48324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24" name="Google Shape;24;p5">
            <a:extLst>
              <a:ext uri="{FF2B5EF4-FFF2-40B4-BE49-F238E27FC236}">
                <a16:creationId xmlns:a16="http://schemas.microsoft.com/office/drawing/2014/main" id="{21698256-3F83-4FF2-A383-5C348AAAF01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26" name="Google Shape;26;p6">
            <a:extLst>
              <a:ext uri="{FF2B5EF4-FFF2-40B4-BE49-F238E27FC236}">
                <a16:creationId xmlns:a16="http://schemas.microsoft.com/office/drawing/2014/main" id="{940E4547-2677-4597-87BC-541374F4FCE2}"/>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7" name="Google Shape;27;p6">
            <a:extLst>
              <a:ext uri="{FF2B5EF4-FFF2-40B4-BE49-F238E27FC236}">
                <a16:creationId xmlns:a16="http://schemas.microsoft.com/office/drawing/2014/main" id="{13E238CF-BBD8-4DC5-B4D9-246FAABD9887}"/>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29" name="Google Shape;29;p7">
            <a:extLst>
              <a:ext uri="{FF2B5EF4-FFF2-40B4-BE49-F238E27FC236}">
                <a16:creationId xmlns:a16="http://schemas.microsoft.com/office/drawing/2014/main" id="{F0120261-0D61-46E5-BDE3-A1E0EDA8F6FB}"/>
              </a:ext>
            </a:extLst>
          </p:cNvPr>
          <p:cNvSpPr>
            <a:spLocks noGrp="1"/>
          </p:cNvSpPr>
          <p:nvPr>
            <p:ph type="title"/>
          </p:nvPr>
        </p:nvSpPr>
        <p:spPr>
          <a:xfrm>
            <a:off x="311700" y="555600"/>
            <a:ext cx="2808000" cy="755700"/>
          </a:xfrm>
          <a:prstGeom prst="rect">
            <a:avLst/>
          </a:prstGeom>
        </p:spPr>
        <p:txBody>
          <a:bodyPr spcFirstLastPara="1" wrap="square" lIns="91425" tIns="91425" rIns="91425" bIns="91425" anchor="b">
            <a:normAutofit/>
          </a:bodyPr>
          <a:lstStyle>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30" name="Google Shape;30;p7">
            <a:extLst>
              <a:ext uri="{FF2B5EF4-FFF2-40B4-BE49-F238E27FC236}">
                <a16:creationId xmlns:a16="http://schemas.microsoft.com/office/drawing/2014/main" id="{30A75605-E789-40D7-87F1-1B4BE74FBAC2}"/>
              </a:ext>
            </a:extLst>
          </p:cNvPr>
          <p:cNvSpPr>
            <a:spLocks noGrp="1"/>
          </p:cNvSpPr>
          <p:nvPr>
            <p:ph type="body" idx="1"/>
          </p:nvPr>
        </p:nvSpPr>
        <p:spPr>
          <a:xfrm>
            <a:off x="311700" y="1389600"/>
            <a:ext cx="2808000" cy="3179400"/>
          </a:xfrm>
          <a:prstGeom prst="rect">
            <a:avLst/>
          </a:prstGeom>
        </p:spPr>
        <p:txBody>
          <a:bodyPr spcFirstLastPara="1" wrap="square" lIns="91425" tIns="91425" rIns="91425" bIns="91425" anchor="t">
            <a:normAutofit/>
          </a:bodyPr>
          <a:lstStyle>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31" name="Google Shape;31;p7">
            <a:extLst>
              <a:ext uri="{FF2B5EF4-FFF2-40B4-BE49-F238E27FC236}">
                <a16:creationId xmlns:a16="http://schemas.microsoft.com/office/drawing/2014/main" id="{5552180C-8CF8-4E57-8455-78C741912DF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33" name="Google Shape;33;p8">
            <a:extLst>
              <a:ext uri="{FF2B5EF4-FFF2-40B4-BE49-F238E27FC236}">
                <a16:creationId xmlns:a16="http://schemas.microsoft.com/office/drawing/2014/main" id="{17AA6A97-5FD5-40E0-8B6E-A3D4FBF9A216}"/>
              </a:ext>
            </a:extLst>
          </p:cNvPr>
          <p:cNvSpPr>
            <a:spLocks noGrp="1"/>
          </p:cNvSpPr>
          <p:nvPr>
            <p:ph type="title"/>
          </p:nvPr>
        </p:nvSpPr>
        <p:spPr>
          <a:xfrm>
            <a:off x="490250" y="450150"/>
            <a:ext cx="6367800" cy="4090800"/>
          </a:xfrm>
          <a:prstGeom prst="rect">
            <a:avLst/>
          </a:prstGeom>
        </p:spPr>
        <p:txBody>
          <a:bodyPr spcFirstLastPara="1" wrap="square" lIns="91425" tIns="91425" rIns="91425" bIns="91425" anchor="ctr">
            <a:normAutofit/>
          </a:bodyPr>
          <a:lstStyle>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sp>
        <p:nvSpPr>
          <p:cNvPr id="34" name="Google Shape;34;p8">
            <a:extLst>
              <a:ext uri="{FF2B5EF4-FFF2-40B4-BE49-F238E27FC236}">
                <a16:creationId xmlns:a16="http://schemas.microsoft.com/office/drawing/2014/main" id="{B03B2C3C-FBCD-4476-8879-3C84FD824ED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36" name="Google Shape;36;p9">
            <a:extLst>
              <a:ext uri="{FF2B5EF4-FFF2-40B4-BE49-F238E27FC236}">
                <a16:creationId xmlns:a16="http://schemas.microsoft.com/office/drawing/2014/main" id="{222E529F-7751-40D7-A863-0F16E0565FCB}"/>
              </a:ext>
            </a:extLst>
          </p:cNvPr>
          <p:cNvSpPr>
            <a:spLocks noGrp="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7" name="Google Shape;37;p9">
            <a:extLst>
              <a:ext uri="{FF2B5EF4-FFF2-40B4-BE49-F238E27FC236}">
                <a16:creationId xmlns:a16="http://schemas.microsoft.com/office/drawing/2014/main" id="{71DCA2F4-9E45-40A3-840D-30C5D001DC56}"/>
              </a:ext>
            </a:extLst>
          </p:cNvPr>
          <p:cNvSpPr>
            <a:spLocks noGrp="1"/>
          </p:cNvSpPr>
          <p:nvPr>
            <p:ph type="title"/>
          </p:nvPr>
        </p:nvSpPr>
        <p:spPr>
          <a:xfrm>
            <a:off x="265500" y="1233175"/>
            <a:ext cx="4045200" cy="1482300"/>
          </a:xfrm>
          <a:prstGeom prst="rect">
            <a:avLst/>
          </a:prstGeom>
        </p:spPr>
        <p:txBody>
          <a:bodyPr spcFirstLastPara="1" wrap="square" lIns="91425" tIns="91425" rIns="91425" bIns="91425" anchor="b">
            <a:normAutofit/>
          </a:bodyPr>
          <a:lstStyle>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a:endParaRPr/>
          </a:p>
        </p:txBody>
      </p:sp>
      <p:sp>
        <p:nvSpPr>
          <p:cNvPr id="38" name="Google Shape;38;p9">
            <a:extLst>
              <a:ext uri="{FF2B5EF4-FFF2-40B4-BE49-F238E27FC236}">
                <a16:creationId xmlns:a16="http://schemas.microsoft.com/office/drawing/2014/main" id="{5700099E-9072-40DE-9829-98B5905A4DF7}"/>
              </a:ext>
            </a:extLst>
          </p:cNvPr>
          <p:cNvSpPr>
            <a:spLocks noGrp="1"/>
          </p:cNvSpPr>
          <p:nvPr>
            <p:ph type="subTitle" idx="1"/>
          </p:nvPr>
        </p:nvSpPr>
        <p:spPr>
          <a:xfrm>
            <a:off x="265500" y="2803075"/>
            <a:ext cx="4045200" cy="1235100"/>
          </a:xfrm>
          <a:prstGeom prst="rect">
            <a:avLst/>
          </a:prstGeom>
        </p:spPr>
        <p:txBody>
          <a:bodyPr spcFirstLastPara="1" wrap="square" lIns="91425" tIns="91425" rIns="91425" bIns="91425" anchor="t">
            <a:norm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sp>
        <p:nvSpPr>
          <p:cNvPr id="39" name="Google Shape;39;p9">
            <a:extLst>
              <a:ext uri="{FF2B5EF4-FFF2-40B4-BE49-F238E27FC236}">
                <a16:creationId xmlns:a16="http://schemas.microsoft.com/office/drawing/2014/main" id="{DC2C6AA3-DACF-4FE0-9FB0-8CB14C0D56B5}"/>
              </a:ext>
            </a:extLst>
          </p:cNvPr>
          <p:cNvSpPr>
            <a:spLocks noGrp="1"/>
          </p:cNvSpPr>
          <p:nvPr>
            <p:ph type="body" idx="2"/>
          </p:nvPr>
        </p:nvSpPr>
        <p:spPr>
          <a:xfrm>
            <a:off x="4939500" y="724075"/>
            <a:ext cx="3837000" cy="3695100"/>
          </a:xfrm>
          <a:prstGeom prst="rect">
            <a:avLst/>
          </a:prstGeom>
        </p:spPr>
        <p:txBody>
          <a:bodyPr spcFirstLastPara="1" wrap="square" lIns="91425" tIns="91425" rIns="91425" bIns="91425" anchor="ctr">
            <a:normAutofit/>
          </a:bodyPr>
          <a:lstStyle>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40" name="Google Shape;40;p9">
            <a:extLst>
              <a:ext uri="{FF2B5EF4-FFF2-40B4-BE49-F238E27FC236}">
                <a16:creationId xmlns:a16="http://schemas.microsoft.com/office/drawing/2014/main" id="{AB4BC879-F68E-474B-A4E7-F7A9CBD8519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42" name="Google Shape;42;p10">
            <a:extLst>
              <a:ext uri="{FF2B5EF4-FFF2-40B4-BE49-F238E27FC236}">
                <a16:creationId xmlns:a16="http://schemas.microsoft.com/office/drawing/2014/main" id="{9B9ADCD8-2213-42DA-BFE0-96351B5CF6C8}"/>
              </a:ext>
            </a:extLst>
          </p:cNvPr>
          <p:cNvSpPr>
            <a:spLocks noGrp="1"/>
          </p:cNvSpPr>
          <p:nvPr>
            <p:ph type="body" idx="1"/>
          </p:nvPr>
        </p:nvSpPr>
        <p:spPr>
          <a:xfrm>
            <a:off x="311700" y="4230575"/>
            <a:ext cx="5998800" cy="605100"/>
          </a:xfrm>
          <a:prstGeom prst="rect">
            <a:avLst/>
          </a:prstGeom>
        </p:spPr>
        <p:txBody>
          <a:bodyPr spcFirstLastPara="1" wrap="square" lIns="91425" tIns="91425" rIns="91425" bIns="91425" anchor="ctr">
            <a:normAutofit/>
          </a:bodyPr>
          <a:lstStyle>
            <a:lvl1pPr marL="457200" indent="-228600">
              <a:lnSpc>
                <a:spcPct val="100000"/>
              </a:lnSpc>
              <a:spcBef>
                <a:spcPts val="0"/>
              </a:spcBef>
              <a:spcAft>
                <a:spcPts val="0"/>
              </a:spcAft>
              <a:buSzPts val="1800"/>
              <a:buNone/>
              <a:defRPr/>
            </a:lvl1pPr>
          </a:lstStyle>
          <a:p>
            <a:endParaRPr/>
          </a:p>
        </p:txBody>
      </p:sp>
      <p:sp>
        <p:nvSpPr>
          <p:cNvPr id="43" name="Google Shape;43;p10">
            <a:extLst>
              <a:ext uri="{FF2B5EF4-FFF2-40B4-BE49-F238E27FC236}">
                <a16:creationId xmlns:a16="http://schemas.microsoft.com/office/drawing/2014/main" id="{68D1B300-0C5F-473F-88A3-ACC808BBA1D8}"/>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45" name="Google Shape;45;p11">
            <a:extLst>
              <a:ext uri="{FF2B5EF4-FFF2-40B4-BE49-F238E27FC236}">
                <a16:creationId xmlns:a16="http://schemas.microsoft.com/office/drawing/2014/main" id="{FFC19078-551C-4367-B707-A5FFC6DDBC9E}"/>
              </a:ext>
            </a:extLst>
          </p:cNvPr>
          <p:cNvSpPr>
            <a:spLocks noGrp="1"/>
          </p:cNvSpPr>
          <p:nvPr>
            <p:ph type="title" hasCustomPrompt="1"/>
          </p:nvPr>
        </p:nvSpPr>
        <p:spPr>
          <a:xfrm>
            <a:off x="311700" y="1106125"/>
            <a:ext cx="8520600" cy="1963500"/>
          </a:xfrm>
          <a:prstGeom prst="rect">
            <a:avLst/>
          </a:prstGeom>
        </p:spPr>
        <p:txBody>
          <a:bodyPr spcFirstLastPara="1" wrap="square" lIns="91425" tIns="91425" rIns="91425" bIns="91425" anchor="b">
            <a:normAutofit/>
          </a:bodyPr>
          <a:lstStyle>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46" name="Google Shape;46;p11">
            <a:extLst>
              <a:ext uri="{FF2B5EF4-FFF2-40B4-BE49-F238E27FC236}">
                <a16:creationId xmlns:a16="http://schemas.microsoft.com/office/drawing/2014/main" id="{4B705198-D609-4FA1-8D86-BD2E465170E4}"/>
              </a:ext>
            </a:extLst>
          </p:cNvPr>
          <p:cNvSpPr>
            <a:spLocks noGrp="1"/>
          </p:cNvSpPr>
          <p:nvPr>
            <p:ph type="body" idx="1"/>
          </p:nvPr>
        </p:nvSpPr>
        <p:spPr>
          <a:xfrm>
            <a:off x="311700" y="3152225"/>
            <a:ext cx="8520600" cy="1300800"/>
          </a:xfrm>
          <a:prstGeom prst="rect">
            <a:avLst/>
          </a:prstGeom>
        </p:spPr>
        <p:txBody>
          <a:bodyPr spcFirstLastPara="1" wrap="square" lIns="91425" tIns="91425" rIns="91425" bIns="91425" anchor="t">
            <a:normAutofit/>
          </a:bodyPr>
          <a:lstStyle>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a:endParaRPr/>
          </a:p>
        </p:txBody>
      </p:sp>
      <p:sp>
        <p:nvSpPr>
          <p:cNvPr id="47" name="Google Shape;47;p11">
            <a:extLst>
              <a:ext uri="{FF2B5EF4-FFF2-40B4-BE49-F238E27FC236}">
                <a16:creationId xmlns:a16="http://schemas.microsoft.com/office/drawing/2014/main" id="{55B34E8E-7336-4BCD-A3E8-B23EE0D64B3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49" name="Google Shape;49;p12">
            <a:extLst>
              <a:ext uri="{FF2B5EF4-FFF2-40B4-BE49-F238E27FC236}">
                <a16:creationId xmlns:a16="http://schemas.microsoft.com/office/drawing/2014/main" id="{DF9F36E4-FEF4-4097-8B3D-6DEAD0A35006}"/>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55" name="Google Shape;55;p14">
            <a:extLst>
              <a:ext uri="{FF2B5EF4-FFF2-40B4-BE49-F238E27FC236}">
                <a16:creationId xmlns:a16="http://schemas.microsoft.com/office/drawing/2014/main" id="{F735D7A0-3C27-48D0-AD72-CD299C878080}"/>
              </a:ext>
            </a:extLst>
          </p:cNvPr>
          <p:cNvSpPr>
            <a:spLocks noGrp="1"/>
          </p:cNvSpPr>
          <p:nvPr>
            <p:ph type="ctrTitle"/>
          </p:nvPr>
        </p:nvSpPr>
        <p:spPr>
          <a:xfrm>
            <a:off x="311708" y="744575"/>
            <a:ext cx="8520600" cy="2052600"/>
          </a:xfrm>
          <a:prstGeom prst="rect">
            <a:avLst/>
          </a:prstGeom>
        </p:spPr>
        <p:txBody>
          <a:bodyPr spcFirstLastPara="1" wrap="square" lIns="91425" tIns="91425" rIns="91425" bIns="91425" anchor="b">
            <a:normAutofit/>
          </a:bodyPr>
          <a:lstStyle>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56" name="Google Shape;56;p14">
            <a:extLst>
              <a:ext uri="{FF2B5EF4-FFF2-40B4-BE49-F238E27FC236}">
                <a16:creationId xmlns:a16="http://schemas.microsoft.com/office/drawing/2014/main" id="{CFCB7893-4BAE-41CE-A361-C890A3E4029F}"/>
              </a:ext>
            </a:extLst>
          </p:cNvPr>
          <p:cNvSpPr>
            <a:spLocks noGrp="1"/>
          </p:cNvSpPr>
          <p:nvPr>
            <p:ph type="subTitle" idx="1"/>
          </p:nvPr>
        </p:nvSpPr>
        <p:spPr>
          <a:xfrm>
            <a:off x="311700" y="2834125"/>
            <a:ext cx="8520600" cy="792600"/>
          </a:xfrm>
          <a:prstGeom prst="rect">
            <a:avLst/>
          </a:prstGeom>
        </p:spPr>
        <p:txBody>
          <a:bodyPr spcFirstLastPara="1" wrap="square" lIns="91425" tIns="91425" rIns="91425" bIns="91425" anchor="t">
            <a:norm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sp>
        <p:nvSpPr>
          <p:cNvPr id="57" name="Google Shape;57;p14">
            <a:extLst>
              <a:ext uri="{FF2B5EF4-FFF2-40B4-BE49-F238E27FC236}">
                <a16:creationId xmlns:a16="http://schemas.microsoft.com/office/drawing/2014/main" id="{F5C59F2D-BD02-4DF4-BCA3-57CECDE1F3E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59" name="Google Shape;59;p15">
            <a:extLst>
              <a:ext uri="{FF2B5EF4-FFF2-40B4-BE49-F238E27FC236}">
                <a16:creationId xmlns:a16="http://schemas.microsoft.com/office/drawing/2014/main" id="{2CC94EF6-1CFA-4892-B57C-4B05A51BB5AE}"/>
              </a:ext>
            </a:extLst>
          </p:cNvPr>
          <p:cNvSpPr>
            <a:spLocks noGrp="1"/>
          </p:cNvSpPr>
          <p:nvPr>
            <p:ph type="title"/>
          </p:nvPr>
        </p:nvSpPr>
        <p:spPr>
          <a:xfrm>
            <a:off x="311700" y="2150850"/>
            <a:ext cx="8520600" cy="841800"/>
          </a:xfrm>
          <a:prstGeom prst="rect">
            <a:avLst/>
          </a:prstGeom>
        </p:spPr>
        <p:txBody>
          <a:bodyPr spcFirstLastPara="1" wrap="square" lIns="91425" tIns="91425" rIns="91425" bIns="91425" anchor="ctr">
            <a:normAutofit/>
          </a:bodyPr>
          <a:lstStyle>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60" name="Google Shape;60;p15">
            <a:extLst>
              <a:ext uri="{FF2B5EF4-FFF2-40B4-BE49-F238E27FC236}">
                <a16:creationId xmlns:a16="http://schemas.microsoft.com/office/drawing/2014/main" id="{491DF31D-76F6-4404-9103-107263D19684}"/>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62" name="Google Shape;62;p16">
            <a:extLst>
              <a:ext uri="{FF2B5EF4-FFF2-40B4-BE49-F238E27FC236}">
                <a16:creationId xmlns:a16="http://schemas.microsoft.com/office/drawing/2014/main" id="{2D9A7DBE-4B22-4D63-8953-28B273962AC1}"/>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63" name="Google Shape;63;p16">
            <a:extLst>
              <a:ext uri="{FF2B5EF4-FFF2-40B4-BE49-F238E27FC236}">
                <a16:creationId xmlns:a16="http://schemas.microsoft.com/office/drawing/2014/main" id="{CC3879F6-4058-4D83-AE52-997FADCD86D3}"/>
              </a:ext>
            </a:extLst>
          </p:cNvPr>
          <p:cNvSpPr>
            <a:spLocks noGrp="1"/>
          </p:cNvSpPr>
          <p:nvPr>
            <p:ph type="body" idx="1"/>
          </p:nvPr>
        </p:nvSpPr>
        <p:spPr>
          <a:xfrm>
            <a:off x="311700" y="1152475"/>
            <a:ext cx="8520600" cy="3416400"/>
          </a:xfrm>
          <a:prstGeom prst="rect">
            <a:avLst/>
          </a:prstGeom>
        </p:spPr>
        <p:txBody>
          <a:bodyPr spcFirstLastPara="1" wrap="square" lIns="91425" tIns="91425" rIns="91425" bIns="91425" anchor="t">
            <a:normAutofit/>
          </a:bodyPr>
          <a:lstStyle>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64" name="Google Shape;64;p16">
            <a:extLst>
              <a:ext uri="{FF2B5EF4-FFF2-40B4-BE49-F238E27FC236}">
                <a16:creationId xmlns:a16="http://schemas.microsoft.com/office/drawing/2014/main" id="{038F6F80-FB20-4F75-B2FA-4420AFC0AF98}"/>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66" name="Google Shape;66;p17">
            <a:extLst>
              <a:ext uri="{FF2B5EF4-FFF2-40B4-BE49-F238E27FC236}">
                <a16:creationId xmlns:a16="http://schemas.microsoft.com/office/drawing/2014/main" id="{6FA1D2D0-BBE5-4F83-8736-7D42DA63FE02}"/>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67" name="Google Shape;67;p17">
            <a:extLst>
              <a:ext uri="{FF2B5EF4-FFF2-40B4-BE49-F238E27FC236}">
                <a16:creationId xmlns:a16="http://schemas.microsoft.com/office/drawing/2014/main" id="{16F11A8D-395E-4EF0-B852-8CEA271E421B}"/>
              </a:ext>
            </a:extLst>
          </p:cNvPr>
          <p:cNvSpPr>
            <a:spLocks noGrp="1"/>
          </p:cNvSpPr>
          <p:nvPr>
            <p:ph type="body" idx="1"/>
          </p:nvPr>
        </p:nvSpPr>
        <p:spPr>
          <a:xfrm>
            <a:off x="3117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68" name="Google Shape;68;p17">
            <a:extLst>
              <a:ext uri="{FF2B5EF4-FFF2-40B4-BE49-F238E27FC236}">
                <a16:creationId xmlns:a16="http://schemas.microsoft.com/office/drawing/2014/main" id="{F2AF369C-46AD-42B5-9F9E-D0C523C84B9B}"/>
              </a:ext>
            </a:extLst>
          </p:cNvPr>
          <p:cNvSpPr>
            <a:spLocks noGrp="1"/>
          </p:cNvSpPr>
          <p:nvPr>
            <p:ph type="body" idx="2"/>
          </p:nvPr>
        </p:nvSpPr>
        <p:spPr>
          <a:xfrm>
            <a:off x="4832400" y="1152475"/>
            <a:ext cx="3999900" cy="3416400"/>
          </a:xfrm>
          <a:prstGeom prst="rect">
            <a:avLst/>
          </a:prstGeom>
        </p:spPr>
        <p:txBody>
          <a:bodyPr spcFirstLastPara="1" wrap="square" lIns="91425" tIns="91425" rIns="91425" bIns="91425" anchor="t">
            <a:normAutofit/>
          </a:bodyPr>
          <a:lstStyle>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69" name="Google Shape;69;p17">
            <a:extLst>
              <a:ext uri="{FF2B5EF4-FFF2-40B4-BE49-F238E27FC236}">
                <a16:creationId xmlns:a16="http://schemas.microsoft.com/office/drawing/2014/main" id="{3AC7150D-80EB-4252-AD97-72AC4C6B542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71" name="Google Shape;71;p18">
            <a:extLst>
              <a:ext uri="{FF2B5EF4-FFF2-40B4-BE49-F238E27FC236}">
                <a16:creationId xmlns:a16="http://schemas.microsoft.com/office/drawing/2014/main" id="{9B7BB09A-45CC-43F4-ADBA-F6961DCDD3AF}"/>
              </a:ext>
            </a:extLst>
          </p:cNvPr>
          <p:cNvSpPr>
            <a:spLocks noGrp="1"/>
          </p:cNvSpPr>
          <p:nvPr>
            <p:ph type="title"/>
          </p:nvPr>
        </p:nvSpPr>
        <p:spPr>
          <a:xfrm>
            <a:off x="311700" y="445025"/>
            <a:ext cx="8520600" cy="572700"/>
          </a:xfrm>
          <a:prstGeom prst="rect">
            <a:avLst/>
          </a:prstGeom>
        </p:spPr>
        <p:txBody>
          <a:bodyPr spcFirstLastPara="1" wrap="square" lIns="91425" tIns="91425" rIns="91425" bIns="91425" anchor="t">
            <a:normAutofit/>
          </a:bodyPr>
          <a:lstStyle>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72" name="Google Shape;72;p18">
            <a:extLst>
              <a:ext uri="{FF2B5EF4-FFF2-40B4-BE49-F238E27FC236}">
                <a16:creationId xmlns:a16="http://schemas.microsoft.com/office/drawing/2014/main" id="{D448AAAD-381B-444E-967B-3104A1146F84}"/>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74" name="Google Shape;74;p19">
            <a:extLst>
              <a:ext uri="{FF2B5EF4-FFF2-40B4-BE49-F238E27FC236}">
                <a16:creationId xmlns:a16="http://schemas.microsoft.com/office/drawing/2014/main" id="{FC5BCCB8-0CC8-4AD7-A345-4692AFB5DE84}"/>
              </a:ext>
            </a:extLst>
          </p:cNvPr>
          <p:cNvSpPr>
            <a:spLocks noGrp="1"/>
          </p:cNvSpPr>
          <p:nvPr>
            <p:ph type="title"/>
          </p:nvPr>
        </p:nvSpPr>
        <p:spPr>
          <a:xfrm>
            <a:off x="311700" y="555600"/>
            <a:ext cx="2808000" cy="755700"/>
          </a:xfrm>
          <a:prstGeom prst="rect">
            <a:avLst/>
          </a:prstGeom>
        </p:spPr>
        <p:txBody>
          <a:bodyPr spcFirstLastPara="1" wrap="square" lIns="91425" tIns="91425" rIns="91425" bIns="91425" anchor="b">
            <a:normAutofit/>
          </a:bodyPr>
          <a:lstStyle>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75" name="Google Shape;75;p19">
            <a:extLst>
              <a:ext uri="{FF2B5EF4-FFF2-40B4-BE49-F238E27FC236}">
                <a16:creationId xmlns:a16="http://schemas.microsoft.com/office/drawing/2014/main" id="{1066318D-130A-4ABA-942A-32EF0B091EBA}"/>
              </a:ext>
            </a:extLst>
          </p:cNvPr>
          <p:cNvSpPr>
            <a:spLocks noGrp="1"/>
          </p:cNvSpPr>
          <p:nvPr>
            <p:ph type="body" idx="1"/>
          </p:nvPr>
        </p:nvSpPr>
        <p:spPr>
          <a:xfrm>
            <a:off x="311700" y="1389600"/>
            <a:ext cx="2808000" cy="3179400"/>
          </a:xfrm>
          <a:prstGeom prst="rect">
            <a:avLst/>
          </a:prstGeom>
        </p:spPr>
        <p:txBody>
          <a:bodyPr spcFirstLastPara="1" wrap="square" lIns="91425" tIns="91425" rIns="91425" bIns="91425" anchor="t">
            <a:normAutofit/>
          </a:bodyPr>
          <a:lstStyle>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a:endParaRPr/>
          </a:p>
        </p:txBody>
      </p:sp>
      <p:sp>
        <p:nvSpPr>
          <p:cNvPr id="76" name="Google Shape;76;p19">
            <a:extLst>
              <a:ext uri="{FF2B5EF4-FFF2-40B4-BE49-F238E27FC236}">
                <a16:creationId xmlns:a16="http://schemas.microsoft.com/office/drawing/2014/main" id="{FF7B20BC-C9ED-44E8-8AAA-0AC6C19FB34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78" name="Google Shape;78;p20">
            <a:extLst>
              <a:ext uri="{FF2B5EF4-FFF2-40B4-BE49-F238E27FC236}">
                <a16:creationId xmlns:a16="http://schemas.microsoft.com/office/drawing/2014/main" id="{581CBC4D-EC94-4D21-A063-CDC7A0A16FCA}"/>
              </a:ext>
            </a:extLst>
          </p:cNvPr>
          <p:cNvSpPr>
            <a:spLocks noGrp="1"/>
          </p:cNvSpPr>
          <p:nvPr>
            <p:ph type="title"/>
          </p:nvPr>
        </p:nvSpPr>
        <p:spPr>
          <a:xfrm>
            <a:off x="490250" y="450150"/>
            <a:ext cx="6367800" cy="4090800"/>
          </a:xfrm>
          <a:prstGeom prst="rect">
            <a:avLst/>
          </a:prstGeom>
        </p:spPr>
        <p:txBody>
          <a:bodyPr spcFirstLastPara="1" wrap="square" lIns="91425" tIns="91425" rIns="91425" bIns="91425" anchor="ctr">
            <a:normAutofit/>
          </a:bodyPr>
          <a:lstStyle>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sp>
        <p:nvSpPr>
          <p:cNvPr id="79" name="Google Shape;79;p20">
            <a:extLst>
              <a:ext uri="{FF2B5EF4-FFF2-40B4-BE49-F238E27FC236}">
                <a16:creationId xmlns:a16="http://schemas.microsoft.com/office/drawing/2014/main" id="{5F623E14-3EC7-4077-B35A-ECD45DE9D418}"/>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81" name="Google Shape;81;p21">
            <a:extLst>
              <a:ext uri="{FF2B5EF4-FFF2-40B4-BE49-F238E27FC236}">
                <a16:creationId xmlns:a16="http://schemas.microsoft.com/office/drawing/2014/main" id="{F025CE31-1B4C-48DD-8F33-057C1C62F37B}"/>
              </a:ext>
            </a:extLst>
          </p:cNvPr>
          <p:cNvSpPr>
            <a:spLocks noGrp="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2" name="Google Shape;82;p21">
            <a:extLst>
              <a:ext uri="{FF2B5EF4-FFF2-40B4-BE49-F238E27FC236}">
                <a16:creationId xmlns:a16="http://schemas.microsoft.com/office/drawing/2014/main" id="{47249C98-621A-40FD-8A2C-AAAEA1E5852F}"/>
              </a:ext>
            </a:extLst>
          </p:cNvPr>
          <p:cNvSpPr>
            <a:spLocks noGrp="1"/>
          </p:cNvSpPr>
          <p:nvPr>
            <p:ph type="title"/>
          </p:nvPr>
        </p:nvSpPr>
        <p:spPr>
          <a:xfrm>
            <a:off x="265500" y="1233175"/>
            <a:ext cx="4045200" cy="1482300"/>
          </a:xfrm>
          <a:prstGeom prst="rect">
            <a:avLst/>
          </a:prstGeom>
        </p:spPr>
        <p:txBody>
          <a:bodyPr spcFirstLastPara="1" wrap="square" lIns="91425" tIns="91425" rIns="91425" bIns="91425" anchor="b">
            <a:normAutofit/>
          </a:bodyPr>
          <a:lstStyle>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a:endParaRPr/>
          </a:p>
        </p:txBody>
      </p:sp>
      <p:sp>
        <p:nvSpPr>
          <p:cNvPr id="83" name="Google Shape;83;p21">
            <a:extLst>
              <a:ext uri="{FF2B5EF4-FFF2-40B4-BE49-F238E27FC236}">
                <a16:creationId xmlns:a16="http://schemas.microsoft.com/office/drawing/2014/main" id="{F8B7DFB3-0ACB-47E4-9F04-DCD2EB9C4BC3}"/>
              </a:ext>
            </a:extLst>
          </p:cNvPr>
          <p:cNvSpPr>
            <a:spLocks noGrp="1"/>
          </p:cNvSpPr>
          <p:nvPr>
            <p:ph type="subTitle" idx="1"/>
          </p:nvPr>
        </p:nvSpPr>
        <p:spPr>
          <a:xfrm>
            <a:off x="265500" y="2803075"/>
            <a:ext cx="4045200" cy="1235100"/>
          </a:xfrm>
          <a:prstGeom prst="rect">
            <a:avLst/>
          </a:prstGeom>
        </p:spPr>
        <p:txBody>
          <a:bodyPr spcFirstLastPara="1" wrap="square" lIns="91425" tIns="91425" rIns="91425" bIns="91425" anchor="t">
            <a:normAutofit/>
          </a:bodyPr>
          <a:lstStyle>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sp>
        <p:nvSpPr>
          <p:cNvPr id="84" name="Google Shape;84;p21">
            <a:extLst>
              <a:ext uri="{FF2B5EF4-FFF2-40B4-BE49-F238E27FC236}">
                <a16:creationId xmlns:a16="http://schemas.microsoft.com/office/drawing/2014/main" id="{DE785423-CF05-45A1-A91B-FFA199DC5FBB}"/>
              </a:ext>
            </a:extLst>
          </p:cNvPr>
          <p:cNvSpPr>
            <a:spLocks noGrp="1"/>
          </p:cNvSpPr>
          <p:nvPr>
            <p:ph type="body" idx="2"/>
          </p:nvPr>
        </p:nvSpPr>
        <p:spPr>
          <a:xfrm>
            <a:off x="4939500" y="724075"/>
            <a:ext cx="3837000" cy="3695100"/>
          </a:xfrm>
          <a:prstGeom prst="rect">
            <a:avLst/>
          </a:prstGeom>
        </p:spPr>
        <p:txBody>
          <a:bodyPr spcFirstLastPara="1" wrap="square" lIns="91425" tIns="91425" rIns="91425" bIns="91425" anchor="ctr">
            <a:normAutofit/>
          </a:bodyPr>
          <a:lstStyle>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a:endParaRPr/>
          </a:p>
        </p:txBody>
      </p:sp>
      <p:sp>
        <p:nvSpPr>
          <p:cNvPr id="85" name="Google Shape;85;p21">
            <a:extLst>
              <a:ext uri="{FF2B5EF4-FFF2-40B4-BE49-F238E27FC236}">
                <a16:creationId xmlns:a16="http://schemas.microsoft.com/office/drawing/2014/main" id="{1F1C71D0-36D9-473F-AD75-DC2B9882A976}"/>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87" name="Google Shape;87;p22">
            <a:extLst>
              <a:ext uri="{FF2B5EF4-FFF2-40B4-BE49-F238E27FC236}">
                <a16:creationId xmlns:a16="http://schemas.microsoft.com/office/drawing/2014/main" id="{75B65192-40DE-41F6-B98D-3129B3A11629}"/>
              </a:ext>
            </a:extLst>
          </p:cNvPr>
          <p:cNvSpPr>
            <a:spLocks noGrp="1"/>
          </p:cNvSpPr>
          <p:nvPr>
            <p:ph type="body" idx="1"/>
          </p:nvPr>
        </p:nvSpPr>
        <p:spPr>
          <a:xfrm>
            <a:off x="311700" y="4230575"/>
            <a:ext cx="5998800" cy="605100"/>
          </a:xfrm>
          <a:prstGeom prst="rect">
            <a:avLst/>
          </a:prstGeom>
        </p:spPr>
        <p:txBody>
          <a:bodyPr spcFirstLastPara="1" wrap="square" lIns="91425" tIns="91425" rIns="91425" bIns="91425" anchor="ctr">
            <a:normAutofit/>
          </a:bodyPr>
          <a:lstStyle>
            <a:lvl1pPr marL="457200" indent="-228600">
              <a:lnSpc>
                <a:spcPct val="100000"/>
              </a:lnSpc>
              <a:spcBef>
                <a:spcPts val="0"/>
              </a:spcBef>
              <a:spcAft>
                <a:spcPts val="0"/>
              </a:spcAft>
              <a:buSzPts val="1800"/>
              <a:buNone/>
              <a:defRPr/>
            </a:lvl1pPr>
          </a:lstStyle>
          <a:p>
            <a:endParaRPr/>
          </a:p>
        </p:txBody>
      </p:sp>
      <p:sp>
        <p:nvSpPr>
          <p:cNvPr id="88" name="Google Shape;88;p22">
            <a:extLst>
              <a:ext uri="{FF2B5EF4-FFF2-40B4-BE49-F238E27FC236}">
                <a16:creationId xmlns:a16="http://schemas.microsoft.com/office/drawing/2014/main" id="{CB547345-774B-4888-86F7-A84CEEAADB4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90" name="Google Shape;90;p23">
            <a:extLst>
              <a:ext uri="{FF2B5EF4-FFF2-40B4-BE49-F238E27FC236}">
                <a16:creationId xmlns:a16="http://schemas.microsoft.com/office/drawing/2014/main" id="{3EFDB922-B81B-4F41-86CB-2C93D39E4AA3}"/>
              </a:ext>
            </a:extLst>
          </p:cNvPr>
          <p:cNvSpPr>
            <a:spLocks noGrp="1"/>
          </p:cNvSpPr>
          <p:nvPr>
            <p:ph type="title" hasCustomPrompt="1"/>
          </p:nvPr>
        </p:nvSpPr>
        <p:spPr>
          <a:xfrm>
            <a:off x="311700" y="1106125"/>
            <a:ext cx="8520600" cy="1963500"/>
          </a:xfrm>
          <a:prstGeom prst="rect">
            <a:avLst/>
          </a:prstGeom>
        </p:spPr>
        <p:txBody>
          <a:bodyPr spcFirstLastPara="1" wrap="square" lIns="91425" tIns="91425" rIns="91425" bIns="91425" anchor="b">
            <a:normAutofit/>
          </a:bodyPr>
          <a:lstStyle>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91" name="Google Shape;91;p23">
            <a:extLst>
              <a:ext uri="{FF2B5EF4-FFF2-40B4-BE49-F238E27FC236}">
                <a16:creationId xmlns:a16="http://schemas.microsoft.com/office/drawing/2014/main" id="{64324242-A302-40ED-8436-0D277C28B86B}"/>
              </a:ext>
            </a:extLst>
          </p:cNvPr>
          <p:cNvSpPr>
            <a:spLocks noGrp="1"/>
          </p:cNvSpPr>
          <p:nvPr>
            <p:ph type="body" idx="1"/>
          </p:nvPr>
        </p:nvSpPr>
        <p:spPr>
          <a:xfrm>
            <a:off x="311700" y="3152225"/>
            <a:ext cx="8520600" cy="1300800"/>
          </a:xfrm>
          <a:prstGeom prst="rect">
            <a:avLst/>
          </a:prstGeom>
        </p:spPr>
        <p:txBody>
          <a:bodyPr spcFirstLastPara="1" wrap="square" lIns="91425" tIns="91425" rIns="91425" bIns="91425" anchor="t">
            <a:normAutofit/>
          </a:bodyPr>
          <a:lstStyle>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a:endParaRPr/>
          </a:p>
        </p:txBody>
      </p:sp>
      <p:sp>
        <p:nvSpPr>
          <p:cNvPr id="92" name="Google Shape;92;p23">
            <a:extLst>
              <a:ext uri="{FF2B5EF4-FFF2-40B4-BE49-F238E27FC236}">
                <a16:creationId xmlns:a16="http://schemas.microsoft.com/office/drawing/2014/main" id="{8A4A84BE-D328-46FD-A65B-8EBB4FED4B32}"/>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94" name="Google Shape;94;p24">
            <a:extLst>
              <a:ext uri="{FF2B5EF4-FFF2-40B4-BE49-F238E27FC236}">
                <a16:creationId xmlns:a16="http://schemas.microsoft.com/office/drawing/2014/main" id="{4E152B4D-7AA6-4793-A099-E7BD21A7A6D5}"/>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
        <p:cNvGrpSpPr/>
        <p:nvPr/>
      </p:nvGrpSpPr>
      <p:grpSpPr>
        <a:xfrm>
          <a:off x="0" y="0"/>
          <a:ext cx="0" cy="0"/>
          <a:chOff x="0" y="0"/>
          <a:chExt cx="0" cy="0"/>
        </a:xfrm>
      </p:grpSpPr>
      <p:pic>
        <p:nvPicPr>
          <p:cNvPr id="99" name="Google Shape;96;p25"/>
          <p:cNvPicPr>
            <a:picLocks noChangeAspect="1"/>
          </p:cNvPicPr>
          <p:nvPr/>
        </p:nvPicPr>
        <p:blipFill rotWithShape="1">
          <a:blip r:embed="rId2">
            <a:alphaModFix/>
          </a:blip>
          <a:srcRect r="76536"/>
          <a:stretch/>
        </p:blipFill>
        <p:spPr>
          <a:xfrm>
            <a:off x="8815751" y="4683775"/>
            <a:ext cx="258600" cy="393600"/>
          </a:xfrm>
          <a:prstGeom prst="rect">
            <a:avLst/>
          </a:prstGeom>
          <a:ln>
            <a:noFill/>
          </a:ln>
        </p:spPr>
      </p:pic>
      <p:sp>
        <p:nvSpPr>
          <p:cNvPr id="97" name="Google Shape;97;p25">
            <a:extLst>
              <a:ext uri="{FF2B5EF4-FFF2-40B4-BE49-F238E27FC236}">
                <a16:creationId xmlns:a16="http://schemas.microsoft.com/office/drawing/2014/main" id="{F258B795-D935-47D8-BAEF-66CADE23118E}"/>
              </a:ext>
            </a:extLst>
          </p:cNvPr>
          <p:cNvSpPr>
            <a:spLocks noGrp="1"/>
          </p:cNvSpPr>
          <p:nvPr/>
        </p:nvSpPr>
        <p:spPr>
          <a:xfrm rot="-8293048">
            <a:off x="6851623" y="-2339201"/>
            <a:ext cx="3707761" cy="8529736"/>
          </a:xfrm>
          <a:prstGeom prst="triangle">
            <a:avLst>
              <a:gd name="adj" fmla="val 50000"/>
            </a:avLst>
          </a:prstGeom>
          <a:solidFill>
            <a:srgbClr val="0F76BA">
              <a:alpha val="30380"/>
            </a:srgbClr>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03" name="Google Shape;103;p27">
            <a:extLst>
              <a:ext uri="{FF2B5EF4-FFF2-40B4-BE49-F238E27FC236}">
                <a16:creationId xmlns:a16="http://schemas.microsoft.com/office/drawing/2014/main" id="{FBED90B4-D0FC-42E5-8A44-A780939B1942}"/>
              </a:ext>
            </a:extLst>
          </p:cNvPr>
          <p:cNvSpPr>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ormAutofit/>
          </a:bodyPr>
          <a:lstStyle>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a:endParaRPr/>
          </a:p>
        </p:txBody>
      </p:sp>
      <p:sp>
        <p:nvSpPr>
          <p:cNvPr id="104" name="Google Shape;104;p27">
            <a:extLst>
              <a:ext uri="{FF2B5EF4-FFF2-40B4-BE49-F238E27FC236}">
                <a16:creationId xmlns:a16="http://schemas.microsoft.com/office/drawing/2014/main" id="{78BCD21C-D277-4BB2-9392-656D47E97ED3}"/>
              </a:ext>
            </a:extLst>
          </p:cNvPr>
          <p:cNvSpPr>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ormAutofit/>
          </a:bodyPr>
          <a:lstStyle>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sp>
        <p:nvSpPr>
          <p:cNvPr id="105" name="Google Shape;105;p27">
            <a:extLst>
              <a:ext uri="{FF2B5EF4-FFF2-40B4-BE49-F238E27FC236}">
                <a16:creationId xmlns:a16="http://schemas.microsoft.com/office/drawing/2014/main" id="{808ACF72-6DDE-4B82-BEF1-FE702FC3C3F1}"/>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107" name="Google Shape;107;p28">
            <a:extLst>
              <a:ext uri="{FF2B5EF4-FFF2-40B4-BE49-F238E27FC236}">
                <a16:creationId xmlns:a16="http://schemas.microsoft.com/office/drawing/2014/main" id="{91396517-CD2F-49C9-B748-58CB4A38AB43}"/>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a:endParaRPr/>
          </a:p>
        </p:txBody>
      </p:sp>
      <p:sp>
        <p:nvSpPr>
          <p:cNvPr id="108" name="Google Shape;108;p28">
            <a:extLst>
              <a:ext uri="{FF2B5EF4-FFF2-40B4-BE49-F238E27FC236}">
                <a16:creationId xmlns:a16="http://schemas.microsoft.com/office/drawing/2014/main" id="{ED787204-AEF6-4A81-A4B4-80E79BBB5AB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110" name="Google Shape;110;p29">
            <a:extLst>
              <a:ext uri="{FF2B5EF4-FFF2-40B4-BE49-F238E27FC236}">
                <a16:creationId xmlns:a16="http://schemas.microsoft.com/office/drawing/2014/main" id="{006C4AAD-C063-4702-AA47-4D7CA1AD07C5}"/>
              </a:ext>
            </a:extLst>
          </p:cNvPr>
          <p:cNvSpPr>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ormAutofit/>
          </a:bodyPr>
          <a:lstStyle>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a:endParaRPr/>
          </a:p>
        </p:txBody>
      </p:sp>
      <p:sp>
        <p:nvSpPr>
          <p:cNvPr id="111" name="Google Shape;111;p29">
            <a:extLst>
              <a:ext uri="{FF2B5EF4-FFF2-40B4-BE49-F238E27FC236}">
                <a16:creationId xmlns:a16="http://schemas.microsoft.com/office/drawing/2014/main" id="{E43737EF-5BF4-43FC-87E8-7038EE1775B1}"/>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113" name="Google Shape;113;p30">
            <a:extLst>
              <a:ext uri="{FF2B5EF4-FFF2-40B4-BE49-F238E27FC236}">
                <a16:creationId xmlns:a16="http://schemas.microsoft.com/office/drawing/2014/main" id="{31672C32-00F2-44C8-82B8-B3A38036B5E9}"/>
              </a:ext>
            </a:extLst>
          </p:cNvPr>
          <p:cNvSpPr>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ormAutofit/>
          </a:bodyPr>
          <a:lstStyle>
            <a:lvl1pPr marL="457200" indent="-228600" algn="l">
              <a:lnSpc>
                <a:spcPct val="100000"/>
              </a:lnSpc>
              <a:spcBef>
                <a:spcPts val="0"/>
              </a:spcBef>
              <a:spcAft>
                <a:spcPts val="0"/>
              </a:spcAft>
              <a:buSzPts val="1800"/>
              <a:buNone/>
              <a:defRPr/>
            </a:lvl1pPr>
          </a:lstStyle>
          <a:p>
            <a:endParaRPr/>
          </a:p>
        </p:txBody>
      </p:sp>
      <p:sp>
        <p:nvSpPr>
          <p:cNvPr id="114" name="Google Shape;114;p30">
            <a:extLst>
              <a:ext uri="{FF2B5EF4-FFF2-40B4-BE49-F238E27FC236}">
                <a16:creationId xmlns:a16="http://schemas.microsoft.com/office/drawing/2014/main" id="{B6BAFA6C-152F-4FAF-9CB6-2C87F520E102}"/>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116" name="Google Shape;116;p31">
            <a:extLst>
              <a:ext uri="{FF2B5EF4-FFF2-40B4-BE49-F238E27FC236}">
                <a16:creationId xmlns:a16="http://schemas.microsoft.com/office/drawing/2014/main" id="{2ACD4D30-F39B-44A2-B516-CF16428EF661}"/>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theme" Target="../theme/theme3.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9BA6A068-8FA2-42C7-8A1F-0F8A11E9928E}"/>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a:endParaRPr/>
          </a:p>
        </p:txBody>
      </p:sp>
      <p:sp>
        <p:nvSpPr>
          <p:cNvPr id="7" name="Google Shape;7;p1">
            <a:extLst>
              <a:ext uri="{FF2B5EF4-FFF2-40B4-BE49-F238E27FC236}">
                <a16:creationId xmlns:a16="http://schemas.microsoft.com/office/drawing/2014/main" id="{429D0DC3-AEF6-42FF-B539-48D4A2F20DA9}"/>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a:extLst>
              <a:ext uri="{FF2B5EF4-FFF2-40B4-BE49-F238E27FC236}">
                <a16:creationId xmlns:a16="http://schemas.microsoft.com/office/drawing/2014/main" id="{3DEE6C49-158E-44DE-AEE5-06629975FFC0}"/>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51" name="Google Shape;51;p13">
            <a:extLst>
              <a:ext uri="{FF2B5EF4-FFF2-40B4-BE49-F238E27FC236}">
                <a16:creationId xmlns:a16="http://schemas.microsoft.com/office/drawing/2014/main" id="{988C9C0C-D894-4419-87EE-FDF160A4A44D}"/>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a:endParaRPr/>
          </a:p>
        </p:txBody>
      </p:sp>
      <p:sp>
        <p:nvSpPr>
          <p:cNvPr id="52" name="Google Shape;52;p13">
            <a:extLst>
              <a:ext uri="{FF2B5EF4-FFF2-40B4-BE49-F238E27FC236}">
                <a16:creationId xmlns:a16="http://schemas.microsoft.com/office/drawing/2014/main" id="{9A5F4569-1D18-4CD5-B891-51483C22CFAF}"/>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3" name="Google Shape;53;p13">
            <a:extLst>
              <a:ext uri="{FF2B5EF4-FFF2-40B4-BE49-F238E27FC236}">
                <a16:creationId xmlns:a16="http://schemas.microsoft.com/office/drawing/2014/main" id="{5263CDEA-2DC2-49DB-B8ED-682F6D69518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99" name="Google Shape;99;p26">
            <a:extLst>
              <a:ext uri="{FF2B5EF4-FFF2-40B4-BE49-F238E27FC236}">
                <a16:creationId xmlns:a16="http://schemas.microsoft.com/office/drawing/2014/main" id="{CE07DB51-0455-4CCB-BFCC-0AF47A596F38}"/>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a:endParaRPr/>
          </a:p>
        </p:txBody>
      </p:sp>
      <p:sp>
        <p:nvSpPr>
          <p:cNvPr id="100" name="Google Shape;100;p26">
            <a:extLst>
              <a:ext uri="{FF2B5EF4-FFF2-40B4-BE49-F238E27FC236}">
                <a16:creationId xmlns:a16="http://schemas.microsoft.com/office/drawing/2014/main" id="{799EFAB0-91B3-49BF-ADAE-6692CBC83005}"/>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a:endParaRPr/>
          </a:p>
        </p:txBody>
      </p:sp>
      <p:sp>
        <p:nvSpPr>
          <p:cNvPr id="101" name="Google Shape;101;p26">
            <a:extLst>
              <a:ext uri="{FF2B5EF4-FFF2-40B4-BE49-F238E27FC236}">
                <a16:creationId xmlns:a16="http://schemas.microsoft.com/office/drawing/2014/main" id="{012EC415-DEF3-4557-80F3-C442641E4858}"/>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 name="Google Shape;121;p32"/>
          <p:cNvPicPr>
            <a:picLocks noChangeAspect="1"/>
          </p:cNvPicPr>
          <p:nvPr/>
        </p:nvPicPr>
        <p:blipFill rotWithShape="1">
          <a:blip r:embed="rId3">
            <a:alphaModFix/>
          </a:blip>
          <a:srcRect t="20" b="30"/>
          <a:stretch/>
        </p:blipFill>
        <p:spPr>
          <a:xfrm>
            <a:off x="0" y="0"/>
            <a:ext cx="9144001" cy="5143501"/>
          </a:xfrm>
          <a:prstGeom prst="rect">
            <a:avLst/>
          </a:prstGeom>
          <a:ln>
            <a:noFill/>
          </a:ln>
        </p:spPr>
      </p:pic>
      <p:pic>
        <p:nvPicPr>
          <p:cNvPr id="209" name="Google Shape;122;p32"/>
          <p:cNvPicPr>
            <a:picLocks noChangeAspect="1"/>
          </p:cNvPicPr>
          <p:nvPr/>
        </p:nvPicPr>
        <p:blipFill rotWithShape="1">
          <a:blip r:embed="rId4">
            <a:alphaModFix/>
          </a:blip>
          <a:srcRect/>
          <a:stretch/>
        </p:blipFill>
        <p:spPr>
          <a:xfrm>
            <a:off x="480325" y="468084"/>
            <a:ext cx="1001023" cy="343126"/>
          </a:xfrm>
          <a:prstGeom prst="rect">
            <a:avLst/>
          </a:prstGeom>
          <a:ln>
            <a:noFill/>
          </a:ln>
        </p:spPr>
      </p:pic>
      <p:pic>
        <p:nvPicPr>
          <p:cNvPr id="210" name="Google Shape;123;p32"/>
          <p:cNvPicPr>
            <a:picLocks noChangeAspect="1"/>
          </p:cNvPicPr>
          <p:nvPr/>
        </p:nvPicPr>
        <p:blipFill rotWithShape="1">
          <a:blip r:embed="rId5">
            <a:alphaModFix/>
          </a:blip>
          <a:srcRect/>
          <a:stretch/>
        </p:blipFill>
        <p:spPr>
          <a:xfrm>
            <a:off x="2922140" y="482376"/>
            <a:ext cx="609352" cy="314548"/>
          </a:xfrm>
          <a:prstGeom prst="rect">
            <a:avLst/>
          </a:prstGeom>
          <a:ln>
            <a:noFill/>
          </a:ln>
        </p:spPr>
      </p:pic>
      <p:pic>
        <p:nvPicPr>
          <p:cNvPr id="211" name="Google Shape;124;p32"/>
          <p:cNvPicPr>
            <a:picLocks noChangeAspect="1"/>
          </p:cNvPicPr>
          <p:nvPr/>
        </p:nvPicPr>
        <p:blipFill rotWithShape="1">
          <a:blip r:embed="rId6">
            <a:alphaModFix/>
          </a:blip>
          <a:srcRect/>
          <a:stretch/>
        </p:blipFill>
        <p:spPr>
          <a:xfrm>
            <a:off x="2166525" y="511393"/>
            <a:ext cx="425966" cy="256514"/>
          </a:xfrm>
          <a:prstGeom prst="rect">
            <a:avLst/>
          </a:prstGeom>
          <a:ln>
            <a:noFill/>
          </a:ln>
        </p:spPr>
      </p:pic>
      <p:pic>
        <p:nvPicPr>
          <p:cNvPr id="212" name="Google Shape;125;p32"/>
          <p:cNvPicPr>
            <a:picLocks noChangeAspect="1"/>
          </p:cNvPicPr>
          <p:nvPr/>
        </p:nvPicPr>
        <p:blipFill rotWithShape="1">
          <a:blip r:embed="rId7">
            <a:alphaModFix/>
          </a:blip>
          <a:srcRect/>
          <a:stretch/>
        </p:blipFill>
        <p:spPr>
          <a:xfrm>
            <a:off x="3861142" y="434787"/>
            <a:ext cx="542033" cy="409725"/>
          </a:xfrm>
          <a:prstGeom prst="rect">
            <a:avLst/>
          </a:prstGeom>
          <a:ln>
            <a:noFill/>
          </a:ln>
        </p:spPr>
      </p:pic>
      <p:sp>
        <p:nvSpPr>
          <p:cNvPr id="126" name="Google Shape;126;p32">
            <a:extLst>
              <a:ext uri="{FF2B5EF4-FFF2-40B4-BE49-F238E27FC236}">
                <a16:creationId xmlns:a16="http://schemas.microsoft.com/office/drawing/2014/main" id="{709BF5FB-5112-4F47-8EBF-239BE688A632}"/>
              </a:ext>
            </a:extLst>
          </p:cNvPr>
          <p:cNvSpPr>
            <a:spLocks noGrp="1"/>
          </p:cNvSpPr>
          <p:nvPr/>
        </p:nvSpPr>
        <p:spPr>
          <a:xfrm>
            <a:off x="1827875" y="278425"/>
            <a:ext cx="9000" cy="722400"/>
          </a:xfrm>
          <a:prstGeom prst="rect">
            <a:avLst/>
          </a:prstGeom>
          <a:solidFill>
            <a:srgbClr val="FFFFFF">
              <a:alpha val="25000"/>
            </a:srgbClr>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pic>
        <p:nvPicPr>
          <p:cNvPr id="214" name="Google Shape;127;p32"/>
          <p:cNvPicPr>
            <a:picLocks noChangeAspect="1"/>
          </p:cNvPicPr>
          <p:nvPr/>
        </p:nvPicPr>
        <p:blipFill>
          <a:blip r:embed="rId8">
            <a:alphaModFix/>
          </a:blip>
          <a:stretch>
            <a:fillRect/>
          </a:stretch>
        </p:blipFill>
        <p:spPr>
          <a:xfrm>
            <a:off x="4732826" y="390799"/>
            <a:ext cx="299700" cy="497700"/>
          </a:xfrm>
          <a:prstGeom prst="rect">
            <a:avLst/>
          </a:prstGeom>
          <a:ln>
            <a:noFill/>
          </a:ln>
        </p:spPr>
      </p:pic>
      <p:cxnSp>
        <p:nvCxnSpPr>
          <p:cNvPr id="215" name="Google Shape;128;p32"/>
          <p:cNvCxnSpPr/>
          <p:nvPr/>
        </p:nvCxnSpPr>
        <p:spPr>
          <a:xfrm>
            <a:off x="497200" y="4298925"/>
            <a:ext cx="0" cy="854400"/>
          </a:xfrm>
          <a:prstGeom prst="straightConnector1">
            <a:avLst/>
          </a:prstGeom>
          <a:ln w="28575" cap="flat">
            <a:solidFill>
              <a:srgbClr val="ED2926"/>
            </a:solidFill>
            <a:prstDash val="solid"/>
            <a:round/>
            <a:headEnd type="none" w="med" len="med"/>
            <a:tailEnd type="none" w="med" len="med"/>
          </a:ln>
        </p:spPr>
      </p:cxnSp>
      <p:sp>
        <p:nvSpPr>
          <p:cNvPr id="129" name="Google Shape;129;p32">
            <a:extLst>
              <a:ext uri="{FF2B5EF4-FFF2-40B4-BE49-F238E27FC236}">
                <a16:creationId xmlns:a16="http://schemas.microsoft.com/office/drawing/2014/main" id="{194A114D-79A2-4A99-9076-7F1BC37F5FD5}"/>
              </a:ext>
            </a:extLst>
          </p:cNvPr>
          <p:cNvSpPr>
            <a:spLocks noGrp="1"/>
          </p:cNvSpPr>
          <p:nvPr/>
        </p:nvSpPr>
        <p:spPr>
          <a:xfrm>
            <a:off x="861325" y="3706101"/>
            <a:ext cx="4660248" cy="276999"/>
          </a:xfrm>
          <a:prstGeom prst="rect">
            <a:avLst/>
          </a:prstGeom>
          <a:noFill/>
          <a:ln>
            <a:noFill/>
          </a:ln>
          <a:effectLst>
            <a:outerShdw blurRad="100013" dist="76200" dir="5400000" algn="bl" rotWithShape="0">
              <a:srgbClr val="000000">
                <a:alpha val="20000"/>
              </a:srgbClr>
            </a:outerShdw>
          </a:effectLst>
        </p:spPr>
        <p:txBody>
          <a:bodyPr spcFirstLastPara="1" wrap="square" lIns="0" tIns="0" rIns="0" bIns="0" anchor="b">
            <a:spAutoFit/>
          </a:bodyPr>
          <a:lstStyle/>
          <a:p>
            <a:pPr marL="0" lvl="0" indent="0" algn="l">
              <a:spcBef>
                <a:spcPts val="0"/>
              </a:spcBef>
              <a:spcAft>
                <a:spcPts val="0"/>
              </a:spcAft>
              <a:buNone/>
            </a:pPr>
            <a:r>
              <a:rPr sz="1800" dirty="0">
                <a:solidFill>
                  <a:srgbClr val="FFFFFF"/>
                </a:solidFill>
                <a:latin typeface="Inter Tight Light"/>
                <a:ea typeface="Inter Tight Light"/>
                <a:cs typeface="Inter Tight Light"/>
              </a:rPr>
              <a:t>API Design Bootcamp | Week 6 | Stretch Goal</a:t>
            </a:r>
          </a:p>
        </p:txBody>
      </p:sp>
      <p:sp>
        <p:nvSpPr>
          <p:cNvPr id="130" name="Google Shape;130;p32">
            <a:extLst>
              <a:ext uri="{FF2B5EF4-FFF2-40B4-BE49-F238E27FC236}">
                <a16:creationId xmlns:a16="http://schemas.microsoft.com/office/drawing/2014/main" id="{4FE7C99B-9DF8-4B3C-AD7C-0BC153A70F62}"/>
              </a:ext>
            </a:extLst>
          </p:cNvPr>
          <p:cNvSpPr>
            <a:spLocks noGrp="1"/>
          </p:cNvSpPr>
          <p:nvPr/>
        </p:nvSpPr>
        <p:spPr>
          <a:xfrm>
            <a:off x="861346" y="3749326"/>
            <a:ext cx="6140387" cy="952500"/>
          </a:xfrm>
          <a:prstGeom prst="rect">
            <a:avLst/>
          </a:prstGeom>
          <a:noFill/>
          <a:ln>
            <a:noFill/>
          </a:ln>
          <a:effectLst>
            <a:outerShdw blurRad="100013" dist="76200" dir="5400000" algn="bl" rotWithShape="0">
              <a:srgbClr val="000000">
                <a:alpha val="20000"/>
              </a:srgbClr>
            </a:outerShdw>
          </a:effectLst>
        </p:spPr>
        <p:txBody>
          <a:bodyPr spcFirstLastPara="1" wrap="square" lIns="0" tIns="0" rIns="0" bIns="0" anchor="b">
            <a:spAutoFit/>
          </a:bodyPr>
          <a:lstStyle/>
          <a:p>
            <a:pPr marL="0" lvl="0" indent="0" algn="l">
              <a:spcBef>
                <a:spcPts val="0"/>
              </a:spcBef>
              <a:spcAft>
                <a:spcPts val="0"/>
              </a:spcAft>
              <a:buNone/>
            </a:pPr>
            <a:r>
              <a:rPr sz="2800" b="1">
                <a:solidFill>
                  <a:schemeClr val="lt1"/>
                </a:solidFill>
                <a:latin typeface="Roboto"/>
                <a:ea typeface="Roboto"/>
                <a:cs typeface="Roboto"/>
              </a:rPr>
              <a:t>Anti-Corruption Layer</a:t>
            </a:r>
          </a:p>
        </p:txBody>
      </p:sp>
    </p:spTree>
    <p:extLst>
      <p:ext uri="{BB962C8B-B14F-4D97-AF65-F5344CB8AC3E}">
        <p14:creationId xmlns:p14="http://schemas.microsoft.com/office/powerpoint/2010/main" val="1216901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2"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7044684"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dirty="0">
                <a:solidFill>
                  <a:schemeClr val="accent2"/>
                </a:solidFill>
                <a:latin typeface="Inter Tight ExtraBold"/>
                <a:ea typeface="Inter Tight ExtraBold"/>
                <a:cs typeface="Inter Tight ExtraBold"/>
              </a:rPr>
              <a:t>External systems bring their own language</a:t>
            </a:r>
          </a:p>
        </p:txBody>
      </p:sp>
      <p:sp>
        <p:nvSpPr>
          <p:cNvPr id="259" name="Rectangle 258">
            <a:extLst>
              <a:ext uri="{FF2B5EF4-FFF2-40B4-BE49-F238E27FC236}">
                <a16:creationId xmlns:a16="http://schemas.microsoft.com/office/drawing/2014/main" id="{1191AE59-B4A6-4AF4-9474-F69BB07DBEB3}"/>
              </a:ext>
            </a:extLst>
          </p:cNvPr>
          <p:cNvSpPr>
            <a:spLocks noGrp="1"/>
          </p:cNvSpPr>
          <p:nvPr/>
        </p:nvSpPr>
        <p:spPr>
          <a:xfrm>
            <a:off x="609600" y="1190625"/>
            <a:ext cx="7924800" cy="400050"/>
          </a:xfrm>
          <a:prstGeom prst="rect">
            <a:avLst/>
          </a:prstGeom>
          <a:noFill/>
          <a:ln w="0">
            <a:noFill/>
            <a:prstDash val="solid"/>
          </a:ln>
        </p:spPr>
        <p:txBody>
          <a:bodyPr lIns="57150" tIns="38100" rIns="57150" bIns="38100" anchor="ctr">
            <a:normAutofit fontScale="98762"/>
          </a:bodyPr>
          <a:lstStyle/>
          <a:p>
            <a:pPr algn="ctr">
              <a:buNone/>
              <a:defRPr sz="1875" b="1">
                <a:solidFill>
                  <a:srgbClr val="1F2937"/>
                </a:solidFill>
              </a:defRPr>
            </a:pPr>
            <a:r>
              <a:rPr sz="1875" b="1">
                <a:solidFill>
                  <a:srgbClr val="1F2937"/>
                </a:solidFill>
              </a:rPr>
              <a:t>The provider describes its world—not the domain model we designed.</a:t>
            </a:r>
          </a:p>
        </p:txBody>
      </p:sp>
      <p:sp>
        <p:nvSpPr>
          <p:cNvPr id="260" name="Rectangle: Rounded Corners 259">
            <a:extLst>
              <a:ext uri="{FF2B5EF4-FFF2-40B4-BE49-F238E27FC236}">
                <a16:creationId xmlns:a16="http://schemas.microsoft.com/office/drawing/2014/main" id="{9C851258-B915-40B1-B996-ED26CFE4A12F}"/>
              </a:ext>
            </a:extLst>
          </p:cNvPr>
          <p:cNvSpPr>
            <a:spLocks noGrp="1"/>
          </p:cNvSpPr>
          <p:nvPr/>
        </p:nvSpPr>
        <p:spPr>
          <a:xfrm>
            <a:off x="514350" y="2047875"/>
            <a:ext cx="1809750" cy="1409700"/>
          </a:xfrm>
          <a:prstGeom prst="roundRect">
            <a:avLst>
              <a:gd name="adj" fmla="val 8108"/>
            </a:avLst>
          </a:prstGeom>
          <a:solidFill>
            <a:srgbClr val="FFFFFF"/>
          </a:solidFill>
          <a:ln w="9525">
            <a:solidFill>
              <a:srgbClr val="D8E0E5"/>
            </a:solidFill>
            <a:prstDash val="solid"/>
          </a:ln>
        </p:spPr>
        <p:txBody>
          <a:bodyPr/>
          <a:lstStyle/>
          <a:p>
            <a:endParaRPr/>
          </a:p>
        </p:txBody>
      </p:sp>
      <p:sp>
        <p:nvSpPr>
          <p:cNvPr id="261" name="Rectangle 260">
            <a:extLst>
              <a:ext uri="{FF2B5EF4-FFF2-40B4-BE49-F238E27FC236}">
                <a16:creationId xmlns:a16="http://schemas.microsoft.com/office/drawing/2014/main" id="{C98FE9C4-CF72-4ED8-9C61-3643F5CA794A}"/>
              </a:ext>
            </a:extLst>
          </p:cNvPr>
          <p:cNvSpPr>
            <a:spLocks noGrp="1"/>
          </p:cNvSpPr>
          <p:nvPr/>
        </p:nvSpPr>
        <p:spPr>
          <a:xfrm>
            <a:off x="685800" y="2266950"/>
            <a:ext cx="1466850" cy="285750"/>
          </a:xfrm>
          <a:prstGeom prst="rect">
            <a:avLst/>
          </a:prstGeom>
          <a:noFill/>
          <a:ln w="0">
            <a:noFill/>
            <a:prstDash val="solid"/>
          </a:ln>
        </p:spPr>
        <p:txBody>
          <a:bodyPr lIns="57150" tIns="38100" rIns="57150" bIns="38100" anchor="ctr">
            <a:normAutofit/>
          </a:bodyPr>
          <a:lstStyle/>
          <a:p>
            <a:pPr algn="ctr">
              <a:buNone/>
              <a:defRPr sz="1350" b="1">
                <a:solidFill>
                  <a:srgbClr val="1F2937"/>
                </a:solidFill>
              </a:defRPr>
            </a:pPr>
            <a:r>
              <a:rPr sz="1350" b="1">
                <a:solidFill>
                  <a:srgbClr val="1F2937"/>
                </a:solidFill>
              </a:rPr>
              <a:t>VOCABULARY</a:t>
            </a:r>
          </a:p>
        </p:txBody>
      </p:sp>
      <p:sp>
        <p:nvSpPr>
          <p:cNvPr id="262" name="Rectangle 261">
            <a:extLst>
              <a:ext uri="{FF2B5EF4-FFF2-40B4-BE49-F238E27FC236}">
                <a16:creationId xmlns:a16="http://schemas.microsoft.com/office/drawing/2014/main" id="{AB73F4D3-9A65-4BA1-800B-A4179D351C72}"/>
              </a:ext>
            </a:extLst>
          </p:cNvPr>
          <p:cNvSpPr>
            <a:spLocks noGrp="1"/>
          </p:cNvSpPr>
          <p:nvPr/>
        </p:nvSpPr>
        <p:spPr>
          <a:xfrm>
            <a:off x="685800" y="2762250"/>
            <a:ext cx="1466850" cy="361950"/>
          </a:xfrm>
          <a:prstGeom prst="rect">
            <a:avLst/>
          </a:prstGeom>
          <a:noFill/>
          <a:ln w="0">
            <a:noFill/>
            <a:prstDash val="solid"/>
          </a:ln>
        </p:spPr>
        <p:txBody>
          <a:bodyPr lIns="57150" tIns="38100" rIns="57150" bIns="38100" anchor="ctr">
            <a:normAutofit/>
          </a:bodyPr>
          <a:lstStyle/>
          <a:p>
            <a:pPr algn="ctr">
              <a:buNone/>
              <a:defRPr sz="1200" b="0">
                <a:solidFill>
                  <a:srgbClr val="5F6B76"/>
                </a:solidFill>
              </a:defRPr>
            </a:pPr>
            <a:r>
              <a:rPr sz="1200" b="0">
                <a:solidFill>
                  <a:srgbClr val="5F6B76"/>
                </a:solidFill>
              </a:rPr>
              <a:t>different names</a:t>
            </a:r>
          </a:p>
        </p:txBody>
      </p:sp>
      <p:sp>
        <p:nvSpPr>
          <p:cNvPr id="263" name="Rectangle: Rounded Corners 262">
            <a:extLst>
              <a:ext uri="{FF2B5EF4-FFF2-40B4-BE49-F238E27FC236}">
                <a16:creationId xmlns:a16="http://schemas.microsoft.com/office/drawing/2014/main" id="{483FF414-CE86-4AAD-9175-75D116E5276F}"/>
              </a:ext>
            </a:extLst>
          </p:cNvPr>
          <p:cNvSpPr>
            <a:spLocks noGrp="1"/>
          </p:cNvSpPr>
          <p:nvPr/>
        </p:nvSpPr>
        <p:spPr>
          <a:xfrm>
            <a:off x="2667000" y="2047875"/>
            <a:ext cx="1809750" cy="1409700"/>
          </a:xfrm>
          <a:prstGeom prst="roundRect">
            <a:avLst>
              <a:gd name="adj" fmla="val 8108"/>
            </a:avLst>
          </a:prstGeom>
          <a:solidFill>
            <a:srgbClr val="FFFFFF"/>
          </a:solidFill>
          <a:ln w="9525">
            <a:solidFill>
              <a:srgbClr val="D8E0E5"/>
            </a:solidFill>
            <a:prstDash val="solid"/>
          </a:ln>
        </p:spPr>
        <p:txBody>
          <a:bodyPr/>
          <a:lstStyle/>
          <a:p>
            <a:endParaRPr/>
          </a:p>
        </p:txBody>
      </p:sp>
      <p:sp>
        <p:nvSpPr>
          <p:cNvPr id="264" name="Rectangle 263">
            <a:extLst>
              <a:ext uri="{FF2B5EF4-FFF2-40B4-BE49-F238E27FC236}">
                <a16:creationId xmlns:a16="http://schemas.microsoft.com/office/drawing/2014/main" id="{76B93C62-626A-471E-BCB1-E0F8FEE39ABA}"/>
              </a:ext>
            </a:extLst>
          </p:cNvPr>
          <p:cNvSpPr>
            <a:spLocks noGrp="1"/>
          </p:cNvSpPr>
          <p:nvPr/>
        </p:nvSpPr>
        <p:spPr>
          <a:xfrm>
            <a:off x="2838450" y="2266950"/>
            <a:ext cx="1466850" cy="285750"/>
          </a:xfrm>
          <a:prstGeom prst="rect">
            <a:avLst/>
          </a:prstGeom>
          <a:noFill/>
          <a:ln w="0">
            <a:noFill/>
            <a:prstDash val="solid"/>
          </a:ln>
        </p:spPr>
        <p:txBody>
          <a:bodyPr lIns="57150" tIns="38100" rIns="57150" bIns="38100" anchor="ctr">
            <a:normAutofit/>
          </a:bodyPr>
          <a:lstStyle/>
          <a:p>
            <a:pPr algn="ctr">
              <a:buNone/>
              <a:defRPr sz="1350" b="1">
                <a:solidFill>
                  <a:srgbClr val="1F2937"/>
                </a:solidFill>
              </a:defRPr>
            </a:pPr>
            <a:r>
              <a:rPr sz="1350" b="1">
                <a:solidFill>
                  <a:srgbClr val="1F2937"/>
                </a:solidFill>
              </a:rPr>
              <a:t>SHAPE</a:t>
            </a:r>
          </a:p>
        </p:txBody>
      </p:sp>
      <p:sp>
        <p:nvSpPr>
          <p:cNvPr id="265" name="Rectangle 264">
            <a:extLst>
              <a:ext uri="{FF2B5EF4-FFF2-40B4-BE49-F238E27FC236}">
                <a16:creationId xmlns:a16="http://schemas.microsoft.com/office/drawing/2014/main" id="{71C86BBC-5B55-4D55-A9B2-7ECAA21A70AE}"/>
              </a:ext>
            </a:extLst>
          </p:cNvPr>
          <p:cNvSpPr>
            <a:spLocks noGrp="1"/>
          </p:cNvSpPr>
          <p:nvPr/>
        </p:nvSpPr>
        <p:spPr>
          <a:xfrm>
            <a:off x="2838450" y="2762250"/>
            <a:ext cx="1466850" cy="361950"/>
          </a:xfrm>
          <a:prstGeom prst="rect">
            <a:avLst/>
          </a:prstGeom>
          <a:noFill/>
          <a:ln w="0">
            <a:noFill/>
            <a:prstDash val="solid"/>
          </a:ln>
        </p:spPr>
        <p:txBody>
          <a:bodyPr lIns="57150" tIns="38100" rIns="57150" bIns="38100" anchor="ctr">
            <a:normAutofit/>
          </a:bodyPr>
          <a:lstStyle/>
          <a:p>
            <a:pPr algn="ctr">
              <a:buNone/>
              <a:defRPr sz="1200" b="0">
                <a:solidFill>
                  <a:srgbClr val="5F6B76"/>
                </a:solidFill>
              </a:defRPr>
            </a:pPr>
            <a:r>
              <a:rPr sz="1200" b="0">
                <a:solidFill>
                  <a:srgbClr val="5F6B76"/>
                </a:solidFill>
              </a:rPr>
              <a:t>different fields</a:t>
            </a:r>
          </a:p>
        </p:txBody>
      </p:sp>
      <p:sp>
        <p:nvSpPr>
          <p:cNvPr id="266" name="Rectangle: Rounded Corners 265">
            <a:extLst>
              <a:ext uri="{FF2B5EF4-FFF2-40B4-BE49-F238E27FC236}">
                <a16:creationId xmlns:a16="http://schemas.microsoft.com/office/drawing/2014/main" id="{83CFCC55-717F-40EA-939D-8EAA4489A384}"/>
              </a:ext>
            </a:extLst>
          </p:cNvPr>
          <p:cNvSpPr>
            <a:spLocks noGrp="1"/>
          </p:cNvSpPr>
          <p:nvPr/>
        </p:nvSpPr>
        <p:spPr>
          <a:xfrm>
            <a:off x="4819650" y="2047875"/>
            <a:ext cx="1809750" cy="1409700"/>
          </a:xfrm>
          <a:prstGeom prst="roundRect">
            <a:avLst>
              <a:gd name="adj" fmla="val 8108"/>
            </a:avLst>
          </a:prstGeom>
          <a:solidFill>
            <a:srgbClr val="FFFFFF"/>
          </a:solidFill>
          <a:ln w="9525">
            <a:solidFill>
              <a:srgbClr val="D8E0E5"/>
            </a:solidFill>
            <a:prstDash val="solid"/>
          </a:ln>
        </p:spPr>
        <p:txBody>
          <a:bodyPr/>
          <a:lstStyle/>
          <a:p>
            <a:endParaRPr/>
          </a:p>
        </p:txBody>
      </p:sp>
      <p:sp>
        <p:nvSpPr>
          <p:cNvPr id="267" name="Rectangle 266">
            <a:extLst>
              <a:ext uri="{FF2B5EF4-FFF2-40B4-BE49-F238E27FC236}">
                <a16:creationId xmlns:a16="http://schemas.microsoft.com/office/drawing/2014/main" id="{D1A56614-0439-4A0D-871A-E37B35B2EE08}"/>
              </a:ext>
            </a:extLst>
          </p:cNvPr>
          <p:cNvSpPr>
            <a:spLocks noGrp="1"/>
          </p:cNvSpPr>
          <p:nvPr/>
        </p:nvSpPr>
        <p:spPr>
          <a:xfrm>
            <a:off x="4991100" y="2266950"/>
            <a:ext cx="1466850" cy="285750"/>
          </a:xfrm>
          <a:prstGeom prst="rect">
            <a:avLst/>
          </a:prstGeom>
          <a:noFill/>
          <a:ln w="0">
            <a:noFill/>
            <a:prstDash val="solid"/>
          </a:ln>
        </p:spPr>
        <p:txBody>
          <a:bodyPr lIns="57150" tIns="38100" rIns="57150" bIns="38100" anchor="ctr">
            <a:normAutofit/>
          </a:bodyPr>
          <a:lstStyle/>
          <a:p>
            <a:pPr algn="ctr">
              <a:buNone/>
              <a:defRPr sz="1350" b="1">
                <a:solidFill>
                  <a:srgbClr val="1F2937"/>
                </a:solidFill>
              </a:defRPr>
            </a:pPr>
            <a:r>
              <a:rPr sz="1350" b="1">
                <a:solidFill>
                  <a:srgbClr val="1F2937"/>
                </a:solidFill>
              </a:rPr>
              <a:t>LIFECYCLE</a:t>
            </a:r>
          </a:p>
        </p:txBody>
      </p:sp>
      <p:sp>
        <p:nvSpPr>
          <p:cNvPr id="268" name="Rectangle 267">
            <a:extLst>
              <a:ext uri="{FF2B5EF4-FFF2-40B4-BE49-F238E27FC236}">
                <a16:creationId xmlns:a16="http://schemas.microsoft.com/office/drawing/2014/main" id="{3954E6A4-FAC3-4A3C-A0A9-8EDC985A40AD}"/>
              </a:ext>
            </a:extLst>
          </p:cNvPr>
          <p:cNvSpPr>
            <a:spLocks noGrp="1"/>
          </p:cNvSpPr>
          <p:nvPr/>
        </p:nvSpPr>
        <p:spPr>
          <a:xfrm>
            <a:off x="4991100" y="2762250"/>
            <a:ext cx="1466850" cy="361950"/>
          </a:xfrm>
          <a:prstGeom prst="rect">
            <a:avLst/>
          </a:prstGeom>
          <a:noFill/>
          <a:ln w="0">
            <a:noFill/>
            <a:prstDash val="solid"/>
          </a:ln>
        </p:spPr>
        <p:txBody>
          <a:bodyPr lIns="57150" tIns="38100" rIns="57150" bIns="38100" anchor="ctr">
            <a:normAutofit/>
          </a:bodyPr>
          <a:lstStyle/>
          <a:p>
            <a:pPr algn="ctr">
              <a:buNone/>
              <a:defRPr sz="1200" b="0">
                <a:solidFill>
                  <a:srgbClr val="5F6B76"/>
                </a:solidFill>
              </a:defRPr>
            </a:pPr>
            <a:r>
              <a:rPr sz="1200" b="0">
                <a:solidFill>
                  <a:srgbClr val="5F6B76"/>
                </a:solidFill>
              </a:rPr>
              <a:t>different behavior</a:t>
            </a:r>
          </a:p>
        </p:txBody>
      </p:sp>
      <p:sp>
        <p:nvSpPr>
          <p:cNvPr id="269" name="Rectangle: Rounded Corners 268">
            <a:extLst>
              <a:ext uri="{FF2B5EF4-FFF2-40B4-BE49-F238E27FC236}">
                <a16:creationId xmlns:a16="http://schemas.microsoft.com/office/drawing/2014/main" id="{ECE0585E-D356-4E45-916E-C18741D5D999}"/>
              </a:ext>
            </a:extLst>
          </p:cNvPr>
          <p:cNvSpPr>
            <a:spLocks noGrp="1"/>
          </p:cNvSpPr>
          <p:nvPr/>
        </p:nvSpPr>
        <p:spPr>
          <a:xfrm>
            <a:off x="6972300" y="2047875"/>
            <a:ext cx="1809750" cy="1409700"/>
          </a:xfrm>
          <a:prstGeom prst="roundRect">
            <a:avLst>
              <a:gd name="adj" fmla="val 8108"/>
            </a:avLst>
          </a:prstGeom>
          <a:solidFill>
            <a:srgbClr val="EAF5FA"/>
          </a:solidFill>
          <a:ln w="9525">
            <a:solidFill>
              <a:srgbClr val="D8E0E5"/>
            </a:solidFill>
            <a:prstDash val="solid"/>
          </a:ln>
        </p:spPr>
        <p:txBody>
          <a:bodyPr/>
          <a:lstStyle/>
          <a:p>
            <a:endParaRPr/>
          </a:p>
        </p:txBody>
      </p:sp>
      <p:sp>
        <p:nvSpPr>
          <p:cNvPr id="270" name="Rectangle 269">
            <a:extLst>
              <a:ext uri="{FF2B5EF4-FFF2-40B4-BE49-F238E27FC236}">
                <a16:creationId xmlns:a16="http://schemas.microsoft.com/office/drawing/2014/main" id="{24FCAAB3-89E6-4B1D-A53A-9EE7CE1AF678}"/>
              </a:ext>
            </a:extLst>
          </p:cNvPr>
          <p:cNvSpPr>
            <a:spLocks noGrp="1"/>
          </p:cNvSpPr>
          <p:nvPr/>
        </p:nvSpPr>
        <p:spPr>
          <a:xfrm>
            <a:off x="7143750" y="2266950"/>
            <a:ext cx="1466850" cy="285750"/>
          </a:xfrm>
          <a:prstGeom prst="rect">
            <a:avLst/>
          </a:prstGeom>
          <a:noFill/>
          <a:ln w="0">
            <a:noFill/>
            <a:prstDash val="solid"/>
          </a:ln>
        </p:spPr>
        <p:txBody>
          <a:bodyPr lIns="57150" tIns="38100" rIns="57150" bIns="38100" anchor="ctr">
            <a:normAutofit/>
          </a:bodyPr>
          <a:lstStyle/>
          <a:p>
            <a:pPr algn="ctr">
              <a:buNone/>
              <a:defRPr sz="1350" b="1">
                <a:solidFill>
                  <a:srgbClr val="0B83BD"/>
                </a:solidFill>
              </a:defRPr>
            </a:pPr>
            <a:r>
              <a:rPr sz="1350" b="1">
                <a:solidFill>
                  <a:srgbClr val="0B83BD"/>
                </a:solidFill>
              </a:rPr>
              <a:t>FAILURE</a:t>
            </a:r>
          </a:p>
        </p:txBody>
      </p:sp>
      <p:sp>
        <p:nvSpPr>
          <p:cNvPr id="271" name="Rectangle 270">
            <a:extLst>
              <a:ext uri="{FF2B5EF4-FFF2-40B4-BE49-F238E27FC236}">
                <a16:creationId xmlns:a16="http://schemas.microsoft.com/office/drawing/2014/main" id="{D269F1F2-A698-411C-A21C-34379F4C2EC6}"/>
              </a:ext>
            </a:extLst>
          </p:cNvPr>
          <p:cNvSpPr>
            <a:spLocks noGrp="1"/>
          </p:cNvSpPr>
          <p:nvPr/>
        </p:nvSpPr>
        <p:spPr>
          <a:xfrm>
            <a:off x="7143750" y="2762250"/>
            <a:ext cx="1466850" cy="361950"/>
          </a:xfrm>
          <a:prstGeom prst="rect">
            <a:avLst/>
          </a:prstGeom>
          <a:noFill/>
          <a:ln w="0">
            <a:noFill/>
            <a:prstDash val="solid"/>
          </a:ln>
        </p:spPr>
        <p:txBody>
          <a:bodyPr lIns="57150" tIns="38100" rIns="57150" bIns="38100" anchor="ctr">
            <a:normAutofit fontScale="91878"/>
          </a:bodyPr>
          <a:lstStyle/>
          <a:p>
            <a:pPr algn="ctr">
              <a:buNone/>
              <a:defRPr sz="1200" b="0">
                <a:solidFill>
                  <a:srgbClr val="5F6B76"/>
                </a:solidFill>
              </a:defRPr>
            </a:pPr>
            <a:r>
              <a:rPr sz="1200" b="0">
                <a:solidFill>
                  <a:srgbClr val="5F6B76"/>
                </a:solidFill>
              </a:rPr>
              <a:t>HTTP + vendor errors</a:t>
            </a:r>
          </a:p>
        </p:txBody>
      </p:sp>
      <p:sp>
        <p:nvSpPr>
          <p:cNvPr id="272" name="Rectangle 271">
            <a:extLst>
              <a:ext uri="{FF2B5EF4-FFF2-40B4-BE49-F238E27FC236}">
                <a16:creationId xmlns:a16="http://schemas.microsoft.com/office/drawing/2014/main" id="{ADE280F0-2AFB-43AD-9003-762590BCE5FB}"/>
              </a:ext>
            </a:extLst>
          </p:cNvPr>
          <p:cNvSpPr>
            <a:spLocks noGrp="1"/>
          </p:cNvSpPr>
          <p:nvPr/>
        </p:nvSpPr>
        <p:spPr>
          <a:xfrm>
            <a:off x="1028700" y="3876675"/>
            <a:ext cx="7086600" cy="438150"/>
          </a:xfrm>
          <a:prstGeom prst="rect">
            <a:avLst/>
          </a:prstGeom>
          <a:noFill/>
          <a:ln w="0">
            <a:noFill/>
            <a:prstDash val="solid"/>
          </a:ln>
        </p:spPr>
        <p:txBody>
          <a:bodyPr lIns="57150" tIns="38100" rIns="57150" bIns="38100" anchor="ctr">
            <a:normAutofit/>
          </a:bodyPr>
          <a:lstStyle/>
          <a:p>
            <a:pPr algn="ctr">
              <a:buNone/>
              <a:defRPr sz="1575" b="1">
                <a:solidFill>
                  <a:srgbClr val="0B83BD"/>
                </a:solidFill>
              </a:defRPr>
            </a:pPr>
            <a:r>
              <a:rPr sz="1575" b="1">
                <a:solidFill>
                  <a:srgbClr val="0B83BD"/>
                </a:solidFill>
              </a:rPr>
              <a:t>Without translation, the external model spreads into our application.</a:t>
            </a:r>
          </a:p>
        </p:txBody>
      </p:sp>
    </p:spTree>
    <p:extLst>
      <p:ext uri="{BB962C8B-B14F-4D97-AF65-F5344CB8AC3E}">
        <p14:creationId xmlns:p14="http://schemas.microsoft.com/office/powerpoint/2010/main" val="115071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8"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7437832"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dirty="0">
                <a:solidFill>
                  <a:schemeClr val="accent2"/>
                </a:solidFill>
                <a:latin typeface="Inter Tight ExtraBold"/>
                <a:ea typeface="Inter Tight ExtraBold"/>
                <a:cs typeface="Inter Tight ExtraBold"/>
              </a:rPr>
              <a:t>Direct integration gives another model control</a:t>
            </a:r>
          </a:p>
        </p:txBody>
      </p:sp>
      <p:sp>
        <p:nvSpPr>
          <p:cNvPr id="259" name="Rectangle 258">
            <a:extLst>
              <a:ext uri="{FF2B5EF4-FFF2-40B4-BE49-F238E27FC236}">
                <a16:creationId xmlns:a16="http://schemas.microsoft.com/office/drawing/2014/main" id="{7ACC072B-C446-4A62-BF61-D27FEF50947E}"/>
              </a:ext>
            </a:extLst>
          </p:cNvPr>
          <p:cNvSpPr>
            <a:spLocks noGrp="1"/>
          </p:cNvSpPr>
          <p:nvPr/>
        </p:nvSpPr>
        <p:spPr>
          <a:xfrm>
            <a:off x="514350" y="1219200"/>
            <a:ext cx="3752850" cy="266700"/>
          </a:xfrm>
          <a:prstGeom prst="rect">
            <a:avLst/>
          </a:prstGeom>
          <a:noFill/>
          <a:ln w="0">
            <a:noFill/>
            <a:prstDash val="solid"/>
          </a:ln>
        </p:spPr>
        <p:txBody>
          <a:bodyPr lIns="57150" tIns="38100" rIns="57150" bIns="38100" anchor="ctr">
            <a:normAutofit/>
          </a:bodyPr>
          <a:lstStyle/>
          <a:p>
            <a:pPr algn="l">
              <a:buNone/>
              <a:defRPr sz="1200" b="1">
                <a:solidFill>
                  <a:srgbClr val="0B83BD"/>
                </a:solidFill>
              </a:defRPr>
            </a:pPr>
            <a:r>
              <a:rPr sz="1200" b="1">
                <a:solidFill>
                  <a:srgbClr val="0B83BD"/>
                </a:solidFill>
              </a:rPr>
              <a:t>WITH AN ACL</a:t>
            </a:r>
          </a:p>
        </p:txBody>
      </p:sp>
      <p:sp>
        <p:nvSpPr>
          <p:cNvPr id="260" name="Rectangle 259">
            <a:extLst>
              <a:ext uri="{FF2B5EF4-FFF2-40B4-BE49-F238E27FC236}">
                <a16:creationId xmlns:a16="http://schemas.microsoft.com/office/drawing/2014/main" id="{E5D853E7-9EB7-40CB-8582-34CA2B16A08D}"/>
              </a:ext>
            </a:extLst>
          </p:cNvPr>
          <p:cNvSpPr>
            <a:spLocks noGrp="1"/>
          </p:cNvSpPr>
          <p:nvPr/>
        </p:nvSpPr>
        <p:spPr>
          <a:xfrm>
            <a:off x="4876800" y="1219200"/>
            <a:ext cx="3752850" cy="266700"/>
          </a:xfrm>
          <a:prstGeom prst="rect">
            <a:avLst/>
          </a:prstGeom>
          <a:noFill/>
          <a:ln w="0">
            <a:noFill/>
            <a:prstDash val="solid"/>
          </a:ln>
        </p:spPr>
        <p:txBody>
          <a:bodyPr lIns="57150" tIns="38100" rIns="57150" bIns="38100" anchor="ctr">
            <a:normAutofit/>
          </a:bodyPr>
          <a:lstStyle/>
          <a:p>
            <a:pPr algn="l">
              <a:buNone/>
              <a:defRPr sz="1200" b="1">
                <a:solidFill>
                  <a:srgbClr val="F2994A"/>
                </a:solidFill>
              </a:defRPr>
            </a:pPr>
            <a:r>
              <a:rPr sz="1200" b="1">
                <a:solidFill>
                  <a:srgbClr val="F2994A"/>
                </a:solidFill>
              </a:rPr>
              <a:t>WITHOUT AN ACL</a:t>
            </a:r>
          </a:p>
        </p:txBody>
      </p:sp>
      <p:sp>
        <p:nvSpPr>
          <p:cNvPr id="261" name="Rectangle 260">
            <a:extLst>
              <a:ext uri="{FF2B5EF4-FFF2-40B4-BE49-F238E27FC236}">
                <a16:creationId xmlns:a16="http://schemas.microsoft.com/office/drawing/2014/main" id="{8C31D3F0-D87C-4C88-9BD0-9460AAB9ECF1}"/>
              </a:ext>
            </a:extLst>
          </p:cNvPr>
          <p:cNvSpPr>
            <a:spLocks noGrp="1"/>
          </p:cNvSpPr>
          <p:nvPr/>
        </p:nvSpPr>
        <p:spPr>
          <a:xfrm>
            <a:off x="571500" y="1733550"/>
            <a:ext cx="285750" cy="266700"/>
          </a:xfrm>
          <a:prstGeom prst="rect">
            <a:avLst/>
          </a:prstGeom>
          <a:noFill/>
          <a:ln w="0">
            <a:noFill/>
            <a:prstDash val="solid"/>
          </a:ln>
        </p:spPr>
        <p:txBody>
          <a:bodyPr lIns="57150" tIns="38100" rIns="57150" bIns="38100" anchor="ctr">
            <a:normAutofit fontScale="92593"/>
          </a:bodyPr>
          <a:lstStyle/>
          <a:p>
            <a:pPr algn="ctr">
              <a:buNone/>
              <a:defRPr sz="1350" b="1">
                <a:solidFill>
                  <a:srgbClr val="23A36D"/>
                </a:solidFill>
              </a:defRPr>
            </a:pPr>
            <a:r>
              <a:rPr sz="1350" b="1">
                <a:solidFill>
                  <a:srgbClr val="23A36D"/>
                </a:solidFill>
              </a:rPr>
              <a:t>✓</a:t>
            </a:r>
          </a:p>
        </p:txBody>
      </p:sp>
      <p:sp>
        <p:nvSpPr>
          <p:cNvPr id="262" name="Rectangle 261">
            <a:extLst>
              <a:ext uri="{FF2B5EF4-FFF2-40B4-BE49-F238E27FC236}">
                <a16:creationId xmlns:a16="http://schemas.microsoft.com/office/drawing/2014/main" id="{6CE5881B-3BBB-4631-9F33-D82E37DAE980}"/>
              </a:ext>
            </a:extLst>
          </p:cNvPr>
          <p:cNvSpPr>
            <a:spLocks noGrp="1"/>
          </p:cNvSpPr>
          <p:nvPr/>
        </p:nvSpPr>
        <p:spPr>
          <a:xfrm>
            <a:off x="952500" y="1714500"/>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Use application-owned interfaces</a:t>
            </a:r>
          </a:p>
        </p:txBody>
      </p:sp>
      <p:sp>
        <p:nvSpPr>
          <p:cNvPr id="263" name="Rectangle 262">
            <a:extLst>
              <a:ext uri="{FF2B5EF4-FFF2-40B4-BE49-F238E27FC236}">
                <a16:creationId xmlns:a16="http://schemas.microsoft.com/office/drawing/2014/main" id="{4CA9D530-2B4A-4556-8C4A-B36CC4A99CF8}"/>
              </a:ext>
            </a:extLst>
          </p:cNvPr>
          <p:cNvSpPr>
            <a:spLocks noGrp="1"/>
          </p:cNvSpPr>
          <p:nvPr/>
        </p:nvSpPr>
        <p:spPr>
          <a:xfrm>
            <a:off x="571500" y="2314575"/>
            <a:ext cx="285750" cy="266700"/>
          </a:xfrm>
          <a:prstGeom prst="rect">
            <a:avLst/>
          </a:prstGeom>
          <a:noFill/>
          <a:ln w="0">
            <a:noFill/>
            <a:prstDash val="solid"/>
          </a:ln>
        </p:spPr>
        <p:txBody>
          <a:bodyPr lIns="57150" tIns="38100" rIns="57150" bIns="38100" anchor="ctr">
            <a:normAutofit fontScale="92593"/>
          </a:bodyPr>
          <a:lstStyle/>
          <a:p>
            <a:pPr algn="ctr">
              <a:buNone/>
              <a:defRPr sz="1350" b="1">
                <a:solidFill>
                  <a:srgbClr val="23A36D"/>
                </a:solidFill>
              </a:defRPr>
            </a:pPr>
            <a:r>
              <a:rPr sz="1350" b="1">
                <a:solidFill>
                  <a:srgbClr val="23A36D"/>
                </a:solidFill>
              </a:rPr>
              <a:t>✓</a:t>
            </a:r>
          </a:p>
        </p:txBody>
      </p:sp>
      <p:sp>
        <p:nvSpPr>
          <p:cNvPr id="264" name="Rectangle 263">
            <a:extLst>
              <a:ext uri="{FF2B5EF4-FFF2-40B4-BE49-F238E27FC236}">
                <a16:creationId xmlns:a16="http://schemas.microsoft.com/office/drawing/2014/main" id="{8ECF785C-0696-45B2-94E3-D71CE22A6564}"/>
              </a:ext>
            </a:extLst>
          </p:cNvPr>
          <p:cNvSpPr>
            <a:spLocks noGrp="1"/>
          </p:cNvSpPr>
          <p:nvPr/>
        </p:nvSpPr>
        <p:spPr>
          <a:xfrm>
            <a:off x="952500" y="2295525"/>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Translate external vocabulary</a:t>
            </a:r>
          </a:p>
        </p:txBody>
      </p:sp>
      <p:sp>
        <p:nvSpPr>
          <p:cNvPr id="265" name="Rectangle 264">
            <a:extLst>
              <a:ext uri="{FF2B5EF4-FFF2-40B4-BE49-F238E27FC236}">
                <a16:creationId xmlns:a16="http://schemas.microsoft.com/office/drawing/2014/main" id="{B21C2D3C-29AC-4FF5-ADA7-52DD622FC2F9}"/>
              </a:ext>
            </a:extLst>
          </p:cNvPr>
          <p:cNvSpPr>
            <a:spLocks noGrp="1"/>
          </p:cNvSpPr>
          <p:nvPr/>
        </p:nvSpPr>
        <p:spPr>
          <a:xfrm>
            <a:off x="571500" y="2895600"/>
            <a:ext cx="285750" cy="266700"/>
          </a:xfrm>
          <a:prstGeom prst="rect">
            <a:avLst/>
          </a:prstGeom>
          <a:noFill/>
          <a:ln w="0">
            <a:noFill/>
            <a:prstDash val="solid"/>
          </a:ln>
        </p:spPr>
        <p:txBody>
          <a:bodyPr lIns="57150" tIns="38100" rIns="57150" bIns="38100" anchor="ctr">
            <a:normAutofit fontScale="92593"/>
          </a:bodyPr>
          <a:lstStyle/>
          <a:p>
            <a:pPr algn="ctr">
              <a:buNone/>
              <a:defRPr sz="1350" b="1">
                <a:solidFill>
                  <a:srgbClr val="23A36D"/>
                </a:solidFill>
              </a:defRPr>
            </a:pPr>
            <a:r>
              <a:rPr sz="1350" b="1">
                <a:solidFill>
                  <a:srgbClr val="23A36D"/>
                </a:solidFill>
              </a:rPr>
              <a:t>✓</a:t>
            </a:r>
          </a:p>
        </p:txBody>
      </p:sp>
      <p:sp>
        <p:nvSpPr>
          <p:cNvPr id="266" name="Rectangle 265">
            <a:extLst>
              <a:ext uri="{FF2B5EF4-FFF2-40B4-BE49-F238E27FC236}">
                <a16:creationId xmlns:a16="http://schemas.microsoft.com/office/drawing/2014/main" id="{07EA1FEE-83C9-4B9C-8FE0-E38E60FF38C7}"/>
              </a:ext>
            </a:extLst>
          </p:cNvPr>
          <p:cNvSpPr>
            <a:spLocks noGrp="1"/>
          </p:cNvSpPr>
          <p:nvPr/>
        </p:nvSpPr>
        <p:spPr>
          <a:xfrm>
            <a:off x="952500" y="2876550"/>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Isolate provider changes</a:t>
            </a:r>
          </a:p>
        </p:txBody>
      </p:sp>
      <p:sp>
        <p:nvSpPr>
          <p:cNvPr id="267" name="Rectangle 266">
            <a:extLst>
              <a:ext uri="{FF2B5EF4-FFF2-40B4-BE49-F238E27FC236}">
                <a16:creationId xmlns:a16="http://schemas.microsoft.com/office/drawing/2014/main" id="{2ECF8C62-7B95-4E72-B093-B07B1D3F1C65}"/>
              </a:ext>
            </a:extLst>
          </p:cNvPr>
          <p:cNvSpPr>
            <a:spLocks noGrp="1"/>
          </p:cNvSpPr>
          <p:nvPr/>
        </p:nvSpPr>
        <p:spPr>
          <a:xfrm>
            <a:off x="571500" y="3476625"/>
            <a:ext cx="285750" cy="266700"/>
          </a:xfrm>
          <a:prstGeom prst="rect">
            <a:avLst/>
          </a:prstGeom>
          <a:noFill/>
          <a:ln w="0">
            <a:noFill/>
            <a:prstDash val="solid"/>
          </a:ln>
        </p:spPr>
        <p:txBody>
          <a:bodyPr lIns="57150" tIns="38100" rIns="57150" bIns="38100" anchor="ctr">
            <a:normAutofit fontScale="92593"/>
          </a:bodyPr>
          <a:lstStyle/>
          <a:p>
            <a:pPr algn="ctr">
              <a:buNone/>
              <a:defRPr sz="1350" b="1">
                <a:solidFill>
                  <a:srgbClr val="23A36D"/>
                </a:solidFill>
              </a:defRPr>
            </a:pPr>
            <a:r>
              <a:rPr sz="1350" b="1">
                <a:solidFill>
                  <a:srgbClr val="23A36D"/>
                </a:solidFill>
              </a:rPr>
              <a:t>✓</a:t>
            </a:r>
          </a:p>
        </p:txBody>
      </p:sp>
      <p:sp>
        <p:nvSpPr>
          <p:cNvPr id="268" name="Rectangle 267">
            <a:extLst>
              <a:ext uri="{FF2B5EF4-FFF2-40B4-BE49-F238E27FC236}">
                <a16:creationId xmlns:a16="http://schemas.microsoft.com/office/drawing/2014/main" id="{001F1C9B-1C09-4E2F-96EA-3B81B95166E6}"/>
              </a:ext>
            </a:extLst>
          </p:cNvPr>
          <p:cNvSpPr>
            <a:spLocks noGrp="1"/>
          </p:cNvSpPr>
          <p:nvPr/>
        </p:nvSpPr>
        <p:spPr>
          <a:xfrm>
            <a:off x="952500" y="3457575"/>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Return domain concepts</a:t>
            </a:r>
          </a:p>
        </p:txBody>
      </p:sp>
      <p:sp>
        <p:nvSpPr>
          <p:cNvPr id="269" name="Rectangle 268">
            <a:extLst>
              <a:ext uri="{FF2B5EF4-FFF2-40B4-BE49-F238E27FC236}">
                <a16:creationId xmlns:a16="http://schemas.microsoft.com/office/drawing/2014/main" id="{88CB5573-FC4D-4F08-B92E-E9818AFA2AFE}"/>
              </a:ext>
            </a:extLst>
          </p:cNvPr>
          <p:cNvSpPr>
            <a:spLocks noGrp="1"/>
          </p:cNvSpPr>
          <p:nvPr/>
        </p:nvSpPr>
        <p:spPr>
          <a:xfrm>
            <a:off x="4933950" y="1733550"/>
            <a:ext cx="285750" cy="266700"/>
          </a:xfrm>
          <a:prstGeom prst="rect">
            <a:avLst/>
          </a:prstGeom>
          <a:noFill/>
          <a:ln w="0">
            <a:noFill/>
            <a:prstDash val="solid"/>
          </a:ln>
        </p:spPr>
        <p:txBody>
          <a:bodyPr lIns="57150" tIns="38100" rIns="57150" bIns="38100" anchor="ctr">
            <a:normAutofit fontScale="83333"/>
          </a:bodyPr>
          <a:lstStyle/>
          <a:p>
            <a:pPr algn="ctr">
              <a:buNone/>
              <a:defRPr sz="1500" b="1">
                <a:solidFill>
                  <a:srgbClr val="F2994A"/>
                </a:solidFill>
              </a:defRPr>
            </a:pPr>
            <a:r>
              <a:rPr sz="1500" b="1">
                <a:solidFill>
                  <a:srgbClr val="F2994A"/>
                </a:solidFill>
              </a:rPr>
              <a:t>×</a:t>
            </a:r>
          </a:p>
        </p:txBody>
      </p:sp>
      <p:sp>
        <p:nvSpPr>
          <p:cNvPr id="270" name="Rectangle 269">
            <a:extLst>
              <a:ext uri="{FF2B5EF4-FFF2-40B4-BE49-F238E27FC236}">
                <a16:creationId xmlns:a16="http://schemas.microsoft.com/office/drawing/2014/main" id="{42900D95-8F15-4085-8EFF-26B787EA2FE6}"/>
              </a:ext>
            </a:extLst>
          </p:cNvPr>
          <p:cNvSpPr>
            <a:spLocks noGrp="1"/>
          </p:cNvSpPr>
          <p:nvPr/>
        </p:nvSpPr>
        <p:spPr>
          <a:xfrm>
            <a:off x="5314950" y="1714500"/>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Inject HttpClient into use cases</a:t>
            </a:r>
          </a:p>
        </p:txBody>
      </p:sp>
      <p:sp>
        <p:nvSpPr>
          <p:cNvPr id="271" name="Rectangle 270">
            <a:extLst>
              <a:ext uri="{FF2B5EF4-FFF2-40B4-BE49-F238E27FC236}">
                <a16:creationId xmlns:a16="http://schemas.microsoft.com/office/drawing/2014/main" id="{B1BAD7FC-454D-4792-8F1A-84796F43E51B}"/>
              </a:ext>
            </a:extLst>
          </p:cNvPr>
          <p:cNvSpPr>
            <a:spLocks noGrp="1"/>
          </p:cNvSpPr>
          <p:nvPr/>
        </p:nvSpPr>
        <p:spPr>
          <a:xfrm>
            <a:off x="4933950" y="2314575"/>
            <a:ext cx="285750" cy="266700"/>
          </a:xfrm>
          <a:prstGeom prst="rect">
            <a:avLst/>
          </a:prstGeom>
          <a:noFill/>
          <a:ln w="0">
            <a:noFill/>
            <a:prstDash val="solid"/>
          </a:ln>
        </p:spPr>
        <p:txBody>
          <a:bodyPr lIns="57150" tIns="38100" rIns="57150" bIns="38100" anchor="ctr">
            <a:normAutofit fontScale="83333"/>
          </a:bodyPr>
          <a:lstStyle/>
          <a:p>
            <a:pPr algn="ctr">
              <a:buNone/>
              <a:defRPr sz="1500" b="1">
                <a:solidFill>
                  <a:srgbClr val="F2994A"/>
                </a:solidFill>
              </a:defRPr>
            </a:pPr>
            <a:r>
              <a:rPr sz="1500" b="1">
                <a:solidFill>
                  <a:srgbClr val="F2994A"/>
                </a:solidFill>
              </a:rPr>
              <a:t>×</a:t>
            </a:r>
          </a:p>
        </p:txBody>
      </p:sp>
      <p:sp>
        <p:nvSpPr>
          <p:cNvPr id="272" name="Rectangle 271">
            <a:extLst>
              <a:ext uri="{FF2B5EF4-FFF2-40B4-BE49-F238E27FC236}">
                <a16:creationId xmlns:a16="http://schemas.microsoft.com/office/drawing/2014/main" id="{8BF1900C-5ED2-4370-9365-4F523767A6D5}"/>
              </a:ext>
            </a:extLst>
          </p:cNvPr>
          <p:cNvSpPr>
            <a:spLocks noGrp="1"/>
          </p:cNvSpPr>
          <p:nvPr/>
        </p:nvSpPr>
        <p:spPr>
          <a:xfrm>
            <a:off x="5314950" y="2295525"/>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Pass vendor DTOs inward</a:t>
            </a:r>
          </a:p>
        </p:txBody>
      </p:sp>
      <p:sp>
        <p:nvSpPr>
          <p:cNvPr id="273" name="Rectangle 272">
            <a:extLst>
              <a:ext uri="{FF2B5EF4-FFF2-40B4-BE49-F238E27FC236}">
                <a16:creationId xmlns:a16="http://schemas.microsoft.com/office/drawing/2014/main" id="{C0DA5331-D8E0-41F7-9E22-40F941FE0087}"/>
              </a:ext>
            </a:extLst>
          </p:cNvPr>
          <p:cNvSpPr>
            <a:spLocks noGrp="1"/>
          </p:cNvSpPr>
          <p:nvPr/>
        </p:nvSpPr>
        <p:spPr>
          <a:xfrm>
            <a:off x="4933950" y="2895600"/>
            <a:ext cx="285750" cy="266700"/>
          </a:xfrm>
          <a:prstGeom prst="rect">
            <a:avLst/>
          </a:prstGeom>
          <a:noFill/>
          <a:ln w="0">
            <a:noFill/>
            <a:prstDash val="solid"/>
          </a:ln>
        </p:spPr>
        <p:txBody>
          <a:bodyPr lIns="57150" tIns="38100" rIns="57150" bIns="38100" anchor="ctr">
            <a:normAutofit fontScale="83333"/>
          </a:bodyPr>
          <a:lstStyle/>
          <a:p>
            <a:pPr algn="ctr">
              <a:buNone/>
              <a:defRPr sz="1500" b="1">
                <a:solidFill>
                  <a:srgbClr val="F2994A"/>
                </a:solidFill>
              </a:defRPr>
            </a:pPr>
            <a:r>
              <a:rPr sz="1500" b="1">
                <a:solidFill>
                  <a:srgbClr val="F2994A"/>
                </a:solidFill>
              </a:rPr>
              <a:t>×</a:t>
            </a:r>
          </a:p>
        </p:txBody>
      </p:sp>
      <p:sp>
        <p:nvSpPr>
          <p:cNvPr id="274" name="Rectangle 273">
            <a:extLst>
              <a:ext uri="{FF2B5EF4-FFF2-40B4-BE49-F238E27FC236}">
                <a16:creationId xmlns:a16="http://schemas.microsoft.com/office/drawing/2014/main" id="{7143CEF0-AEAD-4B75-8DA7-82D8F399A5FB}"/>
              </a:ext>
            </a:extLst>
          </p:cNvPr>
          <p:cNvSpPr>
            <a:spLocks noGrp="1"/>
          </p:cNvSpPr>
          <p:nvPr/>
        </p:nvSpPr>
        <p:spPr>
          <a:xfrm>
            <a:off x="5314950" y="2876550"/>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Interpret provider strings everywhere</a:t>
            </a:r>
          </a:p>
        </p:txBody>
      </p:sp>
      <p:sp>
        <p:nvSpPr>
          <p:cNvPr id="275" name="Rectangle 274">
            <a:extLst>
              <a:ext uri="{FF2B5EF4-FFF2-40B4-BE49-F238E27FC236}">
                <a16:creationId xmlns:a16="http://schemas.microsoft.com/office/drawing/2014/main" id="{FD45B718-899E-454F-8832-E9F549929FF7}"/>
              </a:ext>
            </a:extLst>
          </p:cNvPr>
          <p:cNvSpPr>
            <a:spLocks noGrp="1"/>
          </p:cNvSpPr>
          <p:nvPr/>
        </p:nvSpPr>
        <p:spPr>
          <a:xfrm>
            <a:off x="4933950" y="3476625"/>
            <a:ext cx="285750" cy="266700"/>
          </a:xfrm>
          <a:prstGeom prst="rect">
            <a:avLst/>
          </a:prstGeom>
          <a:noFill/>
          <a:ln w="0">
            <a:noFill/>
            <a:prstDash val="solid"/>
          </a:ln>
        </p:spPr>
        <p:txBody>
          <a:bodyPr lIns="57150" tIns="38100" rIns="57150" bIns="38100" anchor="ctr">
            <a:normAutofit fontScale="83333"/>
          </a:bodyPr>
          <a:lstStyle/>
          <a:p>
            <a:pPr algn="ctr">
              <a:buNone/>
              <a:defRPr sz="1500" b="1">
                <a:solidFill>
                  <a:srgbClr val="F2994A"/>
                </a:solidFill>
              </a:defRPr>
            </a:pPr>
            <a:r>
              <a:rPr sz="1500" b="1">
                <a:solidFill>
                  <a:srgbClr val="F2994A"/>
                </a:solidFill>
              </a:rPr>
              <a:t>×</a:t>
            </a:r>
          </a:p>
        </p:txBody>
      </p:sp>
      <p:sp>
        <p:nvSpPr>
          <p:cNvPr id="276" name="Rectangle 275">
            <a:extLst>
              <a:ext uri="{FF2B5EF4-FFF2-40B4-BE49-F238E27FC236}">
                <a16:creationId xmlns:a16="http://schemas.microsoft.com/office/drawing/2014/main" id="{3532E87E-1CC4-4A2F-9CCE-9CE3924DD41E}"/>
              </a:ext>
            </a:extLst>
          </p:cNvPr>
          <p:cNvSpPr>
            <a:spLocks noGrp="1"/>
          </p:cNvSpPr>
          <p:nvPr/>
        </p:nvSpPr>
        <p:spPr>
          <a:xfrm>
            <a:off x="5314950" y="3457575"/>
            <a:ext cx="3238500" cy="323850"/>
          </a:xfrm>
          <a:prstGeom prst="rect">
            <a:avLst/>
          </a:prstGeom>
          <a:noFill/>
          <a:ln w="0">
            <a:noFill/>
            <a:prstDash val="solid"/>
          </a:ln>
        </p:spPr>
        <p:txBody>
          <a:bodyPr lIns="57150" tIns="38100" rIns="57150" bIns="38100" anchor="ctr">
            <a:normAutofit/>
          </a:bodyPr>
          <a:lstStyle/>
          <a:p>
            <a:pPr algn="l">
              <a:buNone/>
              <a:defRPr sz="1350" b="0">
                <a:solidFill>
                  <a:srgbClr val="1F2937"/>
                </a:solidFill>
              </a:defRPr>
            </a:pPr>
            <a:r>
              <a:rPr sz="1350" b="0">
                <a:solidFill>
                  <a:srgbClr val="1F2937"/>
                </a:solidFill>
              </a:rPr>
              <a:t>Expose HTTP status codes</a:t>
            </a:r>
          </a:p>
        </p:txBody>
      </p:sp>
      <p:sp>
        <p:nvSpPr>
          <p:cNvPr id="277" name="Rectangle: Rounded Corners 276">
            <a:extLst>
              <a:ext uri="{FF2B5EF4-FFF2-40B4-BE49-F238E27FC236}">
                <a16:creationId xmlns:a16="http://schemas.microsoft.com/office/drawing/2014/main" id="{039A2E1E-4C03-447C-9C73-373443C954A7}"/>
              </a:ext>
            </a:extLst>
          </p:cNvPr>
          <p:cNvSpPr>
            <a:spLocks noGrp="1"/>
          </p:cNvSpPr>
          <p:nvPr/>
        </p:nvSpPr>
        <p:spPr>
          <a:xfrm>
            <a:off x="1162050" y="4229100"/>
            <a:ext cx="6819900" cy="438150"/>
          </a:xfrm>
          <a:prstGeom prst="roundRect">
            <a:avLst>
              <a:gd name="adj" fmla="val 26087"/>
            </a:avLst>
          </a:prstGeom>
          <a:solidFill>
            <a:srgbClr val="EAF5FA"/>
          </a:solidFill>
          <a:ln w="0">
            <a:noFill/>
            <a:prstDash val="solid"/>
          </a:ln>
        </p:spPr>
        <p:txBody>
          <a:bodyPr/>
          <a:lstStyle/>
          <a:p>
            <a:endParaRPr/>
          </a:p>
        </p:txBody>
      </p:sp>
      <p:sp>
        <p:nvSpPr>
          <p:cNvPr id="278" name="Rectangle 277">
            <a:extLst>
              <a:ext uri="{FF2B5EF4-FFF2-40B4-BE49-F238E27FC236}">
                <a16:creationId xmlns:a16="http://schemas.microsoft.com/office/drawing/2014/main" id="{4543BD20-3048-4533-BD64-58D2FC4F5242}"/>
              </a:ext>
            </a:extLst>
          </p:cNvPr>
          <p:cNvSpPr>
            <a:spLocks noGrp="1"/>
          </p:cNvSpPr>
          <p:nvPr/>
        </p:nvSpPr>
        <p:spPr>
          <a:xfrm>
            <a:off x="1333500" y="4305300"/>
            <a:ext cx="6477000" cy="285750"/>
          </a:xfrm>
          <a:prstGeom prst="rect">
            <a:avLst/>
          </a:prstGeom>
          <a:noFill/>
          <a:ln w="0">
            <a:noFill/>
            <a:prstDash val="solid"/>
          </a:ln>
        </p:spPr>
        <p:txBody>
          <a:bodyPr lIns="57150" tIns="38100" rIns="57150" bIns="38100" anchor="ctr">
            <a:normAutofit fontScale="90750"/>
          </a:bodyPr>
          <a:lstStyle/>
          <a:p>
            <a:pPr algn="ctr">
              <a:buNone/>
              <a:defRPr sz="1425" b="1">
                <a:solidFill>
                  <a:srgbClr val="0B83BD"/>
                </a:solidFill>
              </a:defRPr>
            </a:pPr>
            <a:r>
              <a:rPr sz="1425" b="1">
                <a:solidFill>
                  <a:srgbClr val="0B83BD"/>
                </a:solidFill>
              </a:rPr>
              <a:t>The application keeps its language when integration details stop at the boundary.</a:t>
            </a:r>
          </a:p>
        </p:txBody>
      </p:sp>
    </p:spTree>
    <p:extLst>
      <p:ext uri="{BB962C8B-B14F-4D97-AF65-F5344CB8AC3E}">
        <p14:creationId xmlns:p14="http://schemas.microsoft.com/office/powerpoint/2010/main" val="115071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2"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7203710"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dirty="0">
                <a:solidFill>
                  <a:schemeClr val="accent2"/>
                </a:solidFill>
                <a:latin typeface="Inter Tight ExtraBold"/>
                <a:ea typeface="Inter Tight ExtraBold"/>
                <a:cs typeface="Inter Tight ExtraBold"/>
              </a:rPr>
              <a:t>An ACL translates at the system boundary</a:t>
            </a:r>
          </a:p>
        </p:txBody>
      </p:sp>
      <p:sp>
        <p:nvSpPr>
          <p:cNvPr id="259" name="Rectangle 258">
            <a:extLst>
              <a:ext uri="{FF2B5EF4-FFF2-40B4-BE49-F238E27FC236}">
                <a16:creationId xmlns:a16="http://schemas.microsoft.com/office/drawing/2014/main" id="{DE4D0C56-552E-4FF2-A07F-99EA0A08FA21}"/>
              </a:ext>
            </a:extLst>
          </p:cNvPr>
          <p:cNvSpPr>
            <a:spLocks noGrp="1"/>
          </p:cNvSpPr>
          <p:nvPr/>
        </p:nvSpPr>
        <p:spPr>
          <a:xfrm>
            <a:off x="533399" y="1162050"/>
            <a:ext cx="1619251" cy="266700"/>
          </a:xfrm>
          <a:prstGeom prst="rect">
            <a:avLst/>
          </a:prstGeom>
          <a:noFill/>
          <a:ln w="0">
            <a:noFill/>
            <a:prstDash val="solid"/>
          </a:ln>
        </p:spPr>
        <p:txBody>
          <a:bodyPr lIns="57150" tIns="38100" rIns="57150" bIns="38100" anchor="ctr">
            <a:normAutofit fontScale="95303"/>
          </a:bodyPr>
          <a:lstStyle/>
          <a:p>
            <a:pPr algn="l">
              <a:buNone/>
              <a:defRPr sz="1200" b="1">
                <a:solidFill>
                  <a:srgbClr val="F2994A"/>
                </a:solidFill>
              </a:defRPr>
            </a:pPr>
            <a:r>
              <a:rPr sz="1200" b="1" dirty="0">
                <a:solidFill>
                  <a:srgbClr val="F2994A"/>
                </a:solidFill>
              </a:rPr>
              <a:t>EXTERNAL MODEL</a:t>
            </a:r>
          </a:p>
        </p:txBody>
      </p:sp>
      <p:sp>
        <p:nvSpPr>
          <p:cNvPr id="260" name="Rectangle 259">
            <a:extLst>
              <a:ext uri="{FF2B5EF4-FFF2-40B4-BE49-F238E27FC236}">
                <a16:creationId xmlns:a16="http://schemas.microsoft.com/office/drawing/2014/main" id="{6DC1F4CA-917D-454A-BB92-4ED1CCF3A9DE}"/>
              </a:ext>
            </a:extLst>
          </p:cNvPr>
          <p:cNvSpPr>
            <a:spLocks noGrp="1"/>
          </p:cNvSpPr>
          <p:nvPr/>
        </p:nvSpPr>
        <p:spPr>
          <a:xfrm>
            <a:off x="7467600" y="1162050"/>
            <a:ext cx="1143000" cy="266700"/>
          </a:xfrm>
          <a:prstGeom prst="rect">
            <a:avLst/>
          </a:prstGeom>
          <a:noFill/>
          <a:ln w="0">
            <a:noFill/>
            <a:prstDash val="solid"/>
          </a:ln>
        </p:spPr>
        <p:txBody>
          <a:bodyPr lIns="57150" tIns="38100" rIns="57150" bIns="38100" anchor="ctr">
            <a:normAutofit/>
          </a:bodyPr>
          <a:lstStyle/>
          <a:p>
            <a:pPr algn="r">
              <a:buNone/>
              <a:defRPr sz="1200" b="1">
                <a:solidFill>
                  <a:srgbClr val="0B83BD"/>
                </a:solidFill>
              </a:defRPr>
            </a:pPr>
            <a:r>
              <a:rPr sz="1200" b="1">
                <a:solidFill>
                  <a:srgbClr val="0B83BD"/>
                </a:solidFill>
              </a:rPr>
              <a:t>OUR MODEL</a:t>
            </a:r>
          </a:p>
        </p:txBody>
      </p:sp>
      <p:sp>
        <p:nvSpPr>
          <p:cNvPr id="261" name="Straight Connector 260">
            <a:extLst>
              <a:ext uri="{FF2B5EF4-FFF2-40B4-BE49-F238E27FC236}">
                <a16:creationId xmlns:a16="http://schemas.microsoft.com/office/drawing/2014/main" id="{1D9D9BDB-8BCD-4D03-819B-C2A7EC72C71E}"/>
              </a:ext>
            </a:extLst>
          </p:cNvPr>
          <p:cNvSpPr>
            <a:spLocks noGrp="1"/>
          </p:cNvSpPr>
          <p:nvPr/>
        </p:nvSpPr>
        <p:spPr>
          <a:xfrm>
            <a:off x="2171700" y="2724150"/>
            <a:ext cx="552450" cy="0"/>
          </a:xfrm>
          <a:prstGeom prst="line">
            <a:avLst/>
          </a:prstGeom>
          <a:noFill/>
          <a:ln w="9525">
            <a:solidFill>
              <a:srgbClr val="D8E0E5"/>
            </a:solidFill>
            <a:prstDash val="solid"/>
          </a:ln>
        </p:spPr>
        <p:txBody>
          <a:bodyPr/>
          <a:lstStyle/>
          <a:p>
            <a:endParaRPr/>
          </a:p>
        </p:txBody>
      </p:sp>
      <p:sp>
        <p:nvSpPr>
          <p:cNvPr id="262" name="Rectangle: Rounded Corners 261">
            <a:extLst>
              <a:ext uri="{FF2B5EF4-FFF2-40B4-BE49-F238E27FC236}">
                <a16:creationId xmlns:a16="http://schemas.microsoft.com/office/drawing/2014/main" id="{71D42F1D-9706-4F35-A493-C8F3DD838467}"/>
              </a:ext>
            </a:extLst>
          </p:cNvPr>
          <p:cNvSpPr>
            <a:spLocks noGrp="1"/>
          </p:cNvSpPr>
          <p:nvPr/>
        </p:nvSpPr>
        <p:spPr>
          <a:xfrm>
            <a:off x="590550" y="2152650"/>
            <a:ext cx="1581150" cy="1143000"/>
          </a:xfrm>
          <a:prstGeom prst="roundRect">
            <a:avLst>
              <a:gd name="adj" fmla="val 10000"/>
            </a:avLst>
          </a:prstGeom>
          <a:solidFill>
            <a:srgbClr val="F2F5F7"/>
          </a:solidFill>
          <a:ln w="9525">
            <a:solidFill>
              <a:srgbClr val="D8E0E5"/>
            </a:solidFill>
            <a:prstDash val="solid"/>
          </a:ln>
        </p:spPr>
        <p:txBody>
          <a:bodyPr/>
          <a:lstStyle/>
          <a:p>
            <a:endParaRPr/>
          </a:p>
        </p:txBody>
      </p:sp>
      <p:sp>
        <p:nvSpPr>
          <p:cNvPr id="263" name="Rectangle 262">
            <a:extLst>
              <a:ext uri="{FF2B5EF4-FFF2-40B4-BE49-F238E27FC236}">
                <a16:creationId xmlns:a16="http://schemas.microsoft.com/office/drawing/2014/main" id="{0C87BAC7-E77B-4F95-B3A9-7221DAB16E65}"/>
              </a:ext>
            </a:extLst>
          </p:cNvPr>
          <p:cNvSpPr>
            <a:spLocks noGrp="1"/>
          </p:cNvSpPr>
          <p:nvPr/>
        </p:nvSpPr>
        <p:spPr>
          <a:xfrm>
            <a:off x="742950" y="2419350"/>
            <a:ext cx="1276350" cy="514350"/>
          </a:xfrm>
          <a:prstGeom prst="rect">
            <a:avLst/>
          </a:prstGeom>
          <a:noFill/>
          <a:ln w="0">
            <a:noFill/>
            <a:prstDash val="solid"/>
          </a:ln>
        </p:spPr>
        <p:txBody>
          <a:bodyPr lIns="57150" tIns="38100" rIns="57150" bIns="38100" anchor="ctr">
            <a:normAutofit/>
          </a:bodyPr>
          <a:lstStyle/>
          <a:p>
            <a:pPr algn="ctr">
              <a:buNone/>
              <a:defRPr sz="1425" b="1">
                <a:solidFill>
                  <a:srgbClr val="1F2937"/>
                </a:solidFill>
              </a:defRPr>
            </a:pPr>
            <a:r>
              <a:rPr sz="1425" b="1">
                <a:solidFill>
                  <a:srgbClr val="1F2937"/>
                </a:solidFill>
              </a:rPr>
              <a:t>Provider API</a:t>
            </a:r>
          </a:p>
        </p:txBody>
      </p:sp>
      <p:sp>
        <p:nvSpPr>
          <p:cNvPr id="264" name="Rectangle: Rounded Corners 263">
            <a:extLst>
              <a:ext uri="{FF2B5EF4-FFF2-40B4-BE49-F238E27FC236}">
                <a16:creationId xmlns:a16="http://schemas.microsoft.com/office/drawing/2014/main" id="{EC8F705F-B596-4F9C-AF12-B95997E46049}"/>
              </a:ext>
            </a:extLst>
          </p:cNvPr>
          <p:cNvSpPr>
            <a:spLocks noGrp="1"/>
          </p:cNvSpPr>
          <p:nvPr/>
        </p:nvSpPr>
        <p:spPr>
          <a:xfrm>
            <a:off x="2724150" y="2152650"/>
            <a:ext cx="1581150" cy="1143000"/>
          </a:xfrm>
          <a:prstGeom prst="roundRect">
            <a:avLst>
              <a:gd name="adj" fmla="val 10000"/>
            </a:avLst>
          </a:prstGeom>
          <a:solidFill>
            <a:srgbClr val="FFFFFF"/>
          </a:solidFill>
          <a:ln w="9525">
            <a:solidFill>
              <a:srgbClr val="D8E0E5"/>
            </a:solidFill>
            <a:prstDash val="solid"/>
          </a:ln>
        </p:spPr>
        <p:txBody>
          <a:bodyPr/>
          <a:lstStyle/>
          <a:p>
            <a:endParaRPr/>
          </a:p>
        </p:txBody>
      </p:sp>
      <p:sp>
        <p:nvSpPr>
          <p:cNvPr id="265" name="Rectangle 264">
            <a:extLst>
              <a:ext uri="{FF2B5EF4-FFF2-40B4-BE49-F238E27FC236}">
                <a16:creationId xmlns:a16="http://schemas.microsoft.com/office/drawing/2014/main" id="{E4F8FBAF-D0B8-49D3-9D7F-3DEEFFD22619}"/>
              </a:ext>
            </a:extLst>
          </p:cNvPr>
          <p:cNvSpPr>
            <a:spLocks noGrp="1"/>
          </p:cNvSpPr>
          <p:nvPr/>
        </p:nvSpPr>
        <p:spPr>
          <a:xfrm>
            <a:off x="2876550" y="2419350"/>
            <a:ext cx="1276350" cy="514350"/>
          </a:xfrm>
          <a:prstGeom prst="rect">
            <a:avLst/>
          </a:prstGeom>
          <a:noFill/>
          <a:ln w="0">
            <a:noFill/>
            <a:prstDash val="solid"/>
          </a:ln>
        </p:spPr>
        <p:txBody>
          <a:bodyPr lIns="57150" tIns="38100" rIns="57150" bIns="38100" anchor="ctr">
            <a:normAutofit/>
          </a:bodyPr>
          <a:lstStyle/>
          <a:p>
            <a:pPr algn="ctr">
              <a:buNone/>
              <a:defRPr sz="1425" b="1">
                <a:solidFill>
                  <a:srgbClr val="1F2937"/>
                </a:solidFill>
              </a:defRPr>
            </a:pPr>
            <a:r>
              <a:rPr sz="1425" b="1">
                <a:solidFill>
                  <a:srgbClr val="1F2937"/>
                </a:solidFill>
              </a:rPr>
              <a:t>Client DTO</a:t>
            </a:r>
          </a:p>
        </p:txBody>
      </p:sp>
      <p:sp>
        <p:nvSpPr>
          <p:cNvPr id="266" name="Rectangle: Rounded Corners 265">
            <a:extLst>
              <a:ext uri="{FF2B5EF4-FFF2-40B4-BE49-F238E27FC236}">
                <a16:creationId xmlns:a16="http://schemas.microsoft.com/office/drawing/2014/main" id="{313D0D89-D055-46AE-BBBB-B611027F50B3}"/>
              </a:ext>
            </a:extLst>
          </p:cNvPr>
          <p:cNvSpPr>
            <a:spLocks noGrp="1"/>
          </p:cNvSpPr>
          <p:nvPr/>
        </p:nvSpPr>
        <p:spPr>
          <a:xfrm>
            <a:off x="4857750" y="2152650"/>
            <a:ext cx="1581150" cy="1143000"/>
          </a:xfrm>
          <a:prstGeom prst="roundRect">
            <a:avLst>
              <a:gd name="adj" fmla="val 10000"/>
            </a:avLst>
          </a:prstGeom>
          <a:solidFill>
            <a:srgbClr val="EAF5FA"/>
          </a:solidFill>
          <a:ln w="9525">
            <a:solidFill>
              <a:srgbClr val="D8E0E5"/>
            </a:solidFill>
            <a:prstDash val="solid"/>
          </a:ln>
        </p:spPr>
        <p:txBody>
          <a:bodyPr/>
          <a:lstStyle/>
          <a:p>
            <a:endParaRPr/>
          </a:p>
        </p:txBody>
      </p:sp>
      <p:sp>
        <p:nvSpPr>
          <p:cNvPr id="267" name="Rectangle 266">
            <a:extLst>
              <a:ext uri="{FF2B5EF4-FFF2-40B4-BE49-F238E27FC236}">
                <a16:creationId xmlns:a16="http://schemas.microsoft.com/office/drawing/2014/main" id="{629A2819-4FEB-4064-ABA8-5DCD1AF435BD}"/>
              </a:ext>
            </a:extLst>
          </p:cNvPr>
          <p:cNvSpPr>
            <a:spLocks noGrp="1"/>
          </p:cNvSpPr>
          <p:nvPr/>
        </p:nvSpPr>
        <p:spPr>
          <a:xfrm>
            <a:off x="5010150" y="2419350"/>
            <a:ext cx="1276350" cy="514350"/>
          </a:xfrm>
          <a:prstGeom prst="rect">
            <a:avLst/>
          </a:prstGeom>
          <a:noFill/>
          <a:ln w="0">
            <a:noFill/>
            <a:prstDash val="solid"/>
          </a:ln>
        </p:spPr>
        <p:txBody>
          <a:bodyPr lIns="57150" tIns="38100" rIns="57150" bIns="38100" anchor="ctr">
            <a:normAutofit/>
          </a:bodyPr>
          <a:lstStyle/>
          <a:p>
            <a:pPr algn="ctr">
              <a:buNone/>
              <a:defRPr sz="1425" b="1">
                <a:solidFill>
                  <a:srgbClr val="0B83BD"/>
                </a:solidFill>
              </a:defRPr>
            </a:pPr>
            <a:r>
              <a:rPr sz="1425" b="1">
                <a:solidFill>
                  <a:srgbClr val="0B83BD"/>
                </a:solidFill>
              </a:rPr>
              <a:t>Translator</a:t>
            </a:r>
          </a:p>
        </p:txBody>
      </p:sp>
      <p:sp>
        <p:nvSpPr>
          <p:cNvPr id="268" name="Rectangle: Rounded Corners 267">
            <a:extLst>
              <a:ext uri="{FF2B5EF4-FFF2-40B4-BE49-F238E27FC236}">
                <a16:creationId xmlns:a16="http://schemas.microsoft.com/office/drawing/2014/main" id="{3158B633-155C-4D61-8C50-5255BC5BEF0D}"/>
              </a:ext>
            </a:extLst>
          </p:cNvPr>
          <p:cNvSpPr>
            <a:spLocks noGrp="1"/>
          </p:cNvSpPr>
          <p:nvPr/>
        </p:nvSpPr>
        <p:spPr>
          <a:xfrm>
            <a:off x="6991350" y="2152650"/>
            <a:ext cx="1581150" cy="1143000"/>
          </a:xfrm>
          <a:prstGeom prst="roundRect">
            <a:avLst>
              <a:gd name="adj" fmla="val 10000"/>
            </a:avLst>
          </a:prstGeom>
          <a:solidFill>
            <a:srgbClr val="F2F5F7"/>
          </a:solidFill>
          <a:ln w="9525">
            <a:solidFill>
              <a:srgbClr val="D8E0E5"/>
            </a:solidFill>
            <a:prstDash val="solid"/>
          </a:ln>
        </p:spPr>
        <p:txBody>
          <a:bodyPr/>
          <a:lstStyle/>
          <a:p>
            <a:endParaRPr/>
          </a:p>
        </p:txBody>
      </p:sp>
      <p:sp>
        <p:nvSpPr>
          <p:cNvPr id="269" name="Rectangle 268">
            <a:extLst>
              <a:ext uri="{FF2B5EF4-FFF2-40B4-BE49-F238E27FC236}">
                <a16:creationId xmlns:a16="http://schemas.microsoft.com/office/drawing/2014/main" id="{5247509C-1AD6-4E7F-9D1A-876F1D871970}"/>
              </a:ext>
            </a:extLst>
          </p:cNvPr>
          <p:cNvSpPr>
            <a:spLocks noGrp="1"/>
          </p:cNvSpPr>
          <p:nvPr/>
        </p:nvSpPr>
        <p:spPr>
          <a:xfrm>
            <a:off x="7143750" y="2419350"/>
            <a:ext cx="1276350" cy="514350"/>
          </a:xfrm>
          <a:prstGeom prst="rect">
            <a:avLst/>
          </a:prstGeom>
          <a:noFill/>
          <a:ln w="0">
            <a:noFill/>
            <a:prstDash val="solid"/>
          </a:ln>
        </p:spPr>
        <p:txBody>
          <a:bodyPr lIns="57150" tIns="38100" rIns="57150" bIns="38100" anchor="ctr">
            <a:normAutofit/>
          </a:bodyPr>
          <a:lstStyle/>
          <a:p>
            <a:pPr algn="ctr">
              <a:buNone/>
              <a:defRPr sz="1425" b="1">
                <a:solidFill>
                  <a:srgbClr val="1F2937"/>
                </a:solidFill>
              </a:defRPr>
            </a:pPr>
            <a:r>
              <a:rPr sz="1425" b="1">
                <a:solidFill>
                  <a:srgbClr val="1F2937"/>
                </a:solidFill>
              </a:rPr>
              <a:t>Domain object</a:t>
            </a:r>
          </a:p>
        </p:txBody>
      </p:sp>
      <p:sp>
        <p:nvSpPr>
          <p:cNvPr id="270" name="Rectangle 269">
            <a:extLst>
              <a:ext uri="{FF2B5EF4-FFF2-40B4-BE49-F238E27FC236}">
                <a16:creationId xmlns:a16="http://schemas.microsoft.com/office/drawing/2014/main" id="{230B578B-4188-4DB3-882A-6E0E3ECFF357}"/>
              </a:ext>
            </a:extLst>
          </p:cNvPr>
          <p:cNvSpPr>
            <a:spLocks noGrp="1"/>
          </p:cNvSpPr>
          <p:nvPr/>
        </p:nvSpPr>
        <p:spPr>
          <a:xfrm>
            <a:off x="666750" y="3648075"/>
            <a:ext cx="3429000" cy="323850"/>
          </a:xfrm>
          <a:prstGeom prst="rect">
            <a:avLst/>
          </a:prstGeom>
          <a:noFill/>
          <a:ln w="0">
            <a:noFill/>
            <a:prstDash val="solid"/>
          </a:ln>
        </p:spPr>
        <p:txBody>
          <a:bodyPr lIns="57150" tIns="38100" rIns="57150" bIns="38100" anchor="ctr">
            <a:normAutofit/>
          </a:bodyPr>
          <a:lstStyle/>
          <a:p>
            <a:pPr algn="ctr">
              <a:buNone/>
              <a:defRPr sz="1275" b="1">
                <a:solidFill>
                  <a:srgbClr val="5F6B76"/>
                </a:solidFill>
              </a:defRPr>
            </a:pPr>
            <a:r>
              <a:rPr sz="1275" b="1">
                <a:solidFill>
                  <a:srgbClr val="5F6B76"/>
                </a:solidFill>
              </a:rPr>
              <a:t>HTTP • JSON • vendor vocabulary</a:t>
            </a:r>
          </a:p>
        </p:txBody>
      </p:sp>
      <p:sp>
        <p:nvSpPr>
          <p:cNvPr id="271" name="Rectangle 270">
            <a:extLst>
              <a:ext uri="{FF2B5EF4-FFF2-40B4-BE49-F238E27FC236}">
                <a16:creationId xmlns:a16="http://schemas.microsoft.com/office/drawing/2014/main" id="{2A2CF8D6-9441-450C-BE16-0BA3496DF081}"/>
              </a:ext>
            </a:extLst>
          </p:cNvPr>
          <p:cNvSpPr>
            <a:spLocks noGrp="1"/>
          </p:cNvSpPr>
          <p:nvPr/>
        </p:nvSpPr>
        <p:spPr>
          <a:xfrm>
            <a:off x="5067300" y="3648075"/>
            <a:ext cx="3429000" cy="323850"/>
          </a:xfrm>
          <a:prstGeom prst="rect">
            <a:avLst/>
          </a:prstGeom>
          <a:noFill/>
          <a:ln w="0">
            <a:noFill/>
            <a:prstDash val="solid"/>
          </a:ln>
        </p:spPr>
        <p:txBody>
          <a:bodyPr lIns="57150" tIns="38100" rIns="57150" bIns="38100" anchor="ctr">
            <a:normAutofit/>
          </a:bodyPr>
          <a:lstStyle/>
          <a:p>
            <a:pPr algn="ctr">
              <a:buNone/>
              <a:defRPr sz="1275" b="1">
                <a:solidFill>
                  <a:srgbClr val="5F6B76"/>
                </a:solidFill>
              </a:defRPr>
            </a:pPr>
            <a:r>
              <a:rPr sz="1275" b="1">
                <a:solidFill>
                  <a:srgbClr val="5F6B76"/>
                </a:solidFill>
              </a:rPr>
              <a:t>Weapon • proficiency • damage</a:t>
            </a:r>
          </a:p>
        </p:txBody>
      </p:sp>
      <p:sp>
        <p:nvSpPr>
          <p:cNvPr id="272" name="Rectangle 271">
            <a:extLst>
              <a:ext uri="{FF2B5EF4-FFF2-40B4-BE49-F238E27FC236}">
                <a16:creationId xmlns:a16="http://schemas.microsoft.com/office/drawing/2014/main" id="{01DEB376-7166-4E99-A292-4065B2310644}"/>
              </a:ext>
            </a:extLst>
          </p:cNvPr>
          <p:cNvSpPr>
            <a:spLocks noGrp="1"/>
          </p:cNvSpPr>
          <p:nvPr/>
        </p:nvSpPr>
        <p:spPr>
          <a:xfrm>
            <a:off x="1504950" y="4257675"/>
            <a:ext cx="6134100" cy="342900"/>
          </a:xfrm>
          <a:prstGeom prst="rect">
            <a:avLst/>
          </a:prstGeom>
          <a:noFill/>
          <a:ln w="0">
            <a:noFill/>
            <a:prstDash val="solid"/>
          </a:ln>
        </p:spPr>
        <p:txBody>
          <a:bodyPr lIns="57150" tIns="38100" rIns="57150" bIns="38100" anchor="ctr">
            <a:normAutofit fontScale="96283"/>
          </a:bodyPr>
          <a:lstStyle/>
          <a:p>
            <a:pPr algn="ctr">
              <a:buNone/>
              <a:defRPr sz="1575" b="1">
                <a:solidFill>
                  <a:srgbClr val="1F2937"/>
                </a:solidFill>
              </a:defRPr>
            </a:pPr>
            <a:r>
              <a:rPr sz="1575" b="1">
                <a:solidFill>
                  <a:srgbClr val="1F2937"/>
                </a:solidFill>
              </a:rPr>
              <a:t>The adapter coordinates the call; the translator protects meaning.</a:t>
            </a:r>
          </a:p>
        </p:txBody>
      </p:sp>
      <p:sp>
        <p:nvSpPr>
          <p:cNvPr id="3" name="Straight Connector 2">
            <a:extLst>
              <a:ext uri="{FF2B5EF4-FFF2-40B4-BE49-F238E27FC236}">
                <a16:creationId xmlns:a16="http://schemas.microsoft.com/office/drawing/2014/main" id="{3079DE6B-D13C-4A1C-EA2E-287A9505E150}"/>
              </a:ext>
            </a:extLst>
          </p:cNvPr>
          <p:cNvSpPr>
            <a:spLocks noGrp="1"/>
          </p:cNvSpPr>
          <p:nvPr/>
        </p:nvSpPr>
        <p:spPr>
          <a:xfrm>
            <a:off x="6438900" y="2766116"/>
            <a:ext cx="552450" cy="0"/>
          </a:xfrm>
          <a:prstGeom prst="line">
            <a:avLst/>
          </a:prstGeom>
          <a:noFill/>
          <a:ln w="9525">
            <a:solidFill>
              <a:srgbClr val="D8E0E5"/>
            </a:solidFill>
            <a:prstDash val="solid"/>
          </a:ln>
        </p:spPr>
        <p:txBody>
          <a:bodyPr/>
          <a:lstStyle/>
          <a:p>
            <a:endParaRPr/>
          </a:p>
        </p:txBody>
      </p:sp>
      <p:sp>
        <p:nvSpPr>
          <p:cNvPr id="4" name="Straight Connector 3">
            <a:extLst>
              <a:ext uri="{FF2B5EF4-FFF2-40B4-BE49-F238E27FC236}">
                <a16:creationId xmlns:a16="http://schemas.microsoft.com/office/drawing/2014/main" id="{B7B811DD-6057-7652-CF97-26C7D348AB31}"/>
              </a:ext>
            </a:extLst>
          </p:cNvPr>
          <p:cNvSpPr>
            <a:spLocks noGrp="1"/>
          </p:cNvSpPr>
          <p:nvPr/>
        </p:nvSpPr>
        <p:spPr>
          <a:xfrm>
            <a:off x="4572000" y="974097"/>
            <a:ext cx="0" cy="3283577"/>
          </a:xfrm>
          <a:prstGeom prst="line">
            <a:avLst/>
          </a:prstGeom>
          <a:noFill/>
          <a:ln w="9525">
            <a:solidFill>
              <a:srgbClr val="D8E0E5"/>
            </a:solidFill>
            <a:prstDash val="solid"/>
          </a:ln>
        </p:spPr>
        <p:txBody>
          <a:bodyPr/>
          <a:lstStyle/>
          <a:p>
            <a:endParaRPr/>
          </a:p>
        </p:txBody>
      </p:sp>
    </p:spTree>
    <p:extLst>
      <p:ext uri="{BB962C8B-B14F-4D97-AF65-F5344CB8AC3E}">
        <p14:creationId xmlns:p14="http://schemas.microsoft.com/office/powerpoint/2010/main" val="115071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2"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5828700"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a:solidFill>
                  <a:schemeClr val="accent2"/>
                </a:solidFill>
                <a:latin typeface="Inter Tight ExtraBold"/>
                <a:ea typeface="Inter Tight ExtraBold"/>
                <a:cs typeface="Inter Tight ExtraBold"/>
              </a:rPr>
              <a:t>The application owns the port</a:t>
            </a:r>
          </a:p>
        </p:txBody>
      </p:sp>
      <p:sp>
        <p:nvSpPr>
          <p:cNvPr id="259" name="Rectangle: Rounded Corners 258">
            <a:extLst>
              <a:ext uri="{FF2B5EF4-FFF2-40B4-BE49-F238E27FC236}">
                <a16:creationId xmlns:a16="http://schemas.microsoft.com/office/drawing/2014/main" id="{2A117B93-9CBB-43E7-A993-A6FE7FDECB59}"/>
              </a:ext>
            </a:extLst>
          </p:cNvPr>
          <p:cNvSpPr>
            <a:spLocks noGrp="1"/>
          </p:cNvSpPr>
          <p:nvPr/>
        </p:nvSpPr>
        <p:spPr>
          <a:xfrm>
            <a:off x="514350" y="1219200"/>
            <a:ext cx="5619750" cy="2857500"/>
          </a:xfrm>
          <a:prstGeom prst="roundRect">
            <a:avLst>
              <a:gd name="adj" fmla="val 4000"/>
            </a:avLst>
          </a:prstGeom>
          <a:solidFill>
            <a:srgbClr val="16212B"/>
          </a:solidFill>
          <a:ln w="9525">
            <a:solidFill>
              <a:srgbClr val="16212B"/>
            </a:solidFill>
            <a:prstDash val="solid"/>
          </a:ln>
        </p:spPr>
        <p:txBody>
          <a:bodyPr/>
          <a:lstStyle/>
          <a:p>
            <a:endParaRPr/>
          </a:p>
        </p:txBody>
      </p:sp>
      <p:sp>
        <p:nvSpPr>
          <p:cNvPr id="260" name="Rectangle 259">
            <a:extLst>
              <a:ext uri="{FF2B5EF4-FFF2-40B4-BE49-F238E27FC236}">
                <a16:creationId xmlns:a16="http://schemas.microsoft.com/office/drawing/2014/main" id="{22E7B26D-0E20-430C-ABB3-A32DBD73582A}"/>
              </a:ext>
            </a:extLst>
          </p:cNvPr>
          <p:cNvSpPr>
            <a:spLocks noGrp="1"/>
          </p:cNvSpPr>
          <p:nvPr/>
        </p:nvSpPr>
        <p:spPr>
          <a:xfrm>
            <a:off x="647700" y="1314450"/>
            <a:ext cx="5353050" cy="2667000"/>
          </a:xfrm>
          <a:prstGeom prst="rect">
            <a:avLst/>
          </a:prstGeom>
          <a:noFill/>
          <a:ln w="0">
            <a:noFill/>
            <a:prstDash val="solid"/>
          </a:ln>
        </p:spPr>
        <p:txBody>
          <a:bodyPr lIns="57150" tIns="38100" rIns="57150" bIns="38100" anchor="ctr">
            <a:normAutofit/>
          </a:bodyPr>
          <a:lstStyle/>
          <a:p>
            <a:pPr algn="l">
              <a:buNone/>
              <a:defRPr sz="1050" b="0">
                <a:solidFill>
                  <a:srgbClr val="F3F4F6"/>
                </a:solidFill>
              </a:defRPr>
            </a:pPr>
            <a:r>
              <a:rPr sz="1050" b="0">
                <a:solidFill>
                  <a:srgbClr val="F3F4F6"/>
                </a:solidFill>
              </a:rPr>
              <a:t>public interface IWeaponCatalog</a:t>
            </a:r>
          </a:p>
          <a:p>
            <a:pPr algn="l">
              <a:buNone/>
              <a:defRPr sz="1050" b="0">
                <a:solidFill>
                  <a:srgbClr val="F3F4F6"/>
                </a:solidFill>
              </a:defRPr>
            </a:pPr>
            <a:r>
              <a:rPr sz="1050" b="0">
                <a:solidFill>
                  <a:srgbClr val="F3F4F6"/>
                </a:solidFill>
              </a:rPr>
              <a:t>{</a:t>
            </a:r>
          </a:p>
          <a:p>
            <a:pPr algn="l">
              <a:buNone/>
              <a:defRPr sz="1050" b="0">
                <a:solidFill>
                  <a:srgbClr val="F3F4F6"/>
                </a:solidFill>
              </a:defRPr>
            </a:pPr>
            <a:r>
              <a:rPr sz="1050" b="0">
                <a:solidFill>
                  <a:srgbClr val="F3F4F6"/>
                </a:solidFill>
              </a:rPr>
              <a:t>    // Evolved for external I/O</a:t>
            </a:r>
          </a:p>
          <a:p>
            <a:pPr algn="l">
              <a:buNone/>
              <a:defRPr sz="1050" b="0">
                <a:solidFill>
                  <a:srgbClr val="F3F4F6"/>
                </a:solidFill>
              </a:defRPr>
            </a:pPr>
            <a:r>
              <a:rPr sz="1050" b="0">
                <a:solidFill>
                  <a:srgbClr val="F3F4F6"/>
                </a:solidFill>
              </a:rPr>
              <a:t>    Task&lt;Weapon&gt; Find(string name);</a:t>
            </a:r>
          </a:p>
          <a:p>
            <a:pPr algn="l">
              <a:buNone/>
              <a:defRPr sz="1050" b="0">
                <a:solidFill>
                  <a:srgbClr val="F3F4F6"/>
                </a:solidFill>
              </a:defRPr>
            </a:pPr>
            <a:r>
              <a:rPr sz="1050" b="0">
                <a:solidFill>
                  <a:srgbClr val="F3F4F6"/>
                </a:solidFill>
              </a:rPr>
              <a:t>}</a:t>
            </a:r>
          </a:p>
          <a:p>
            <a:pPr algn="l">
              <a:buNone/>
              <a:defRPr sz="1050" b="0">
                <a:solidFill>
                  <a:srgbClr val="F3F4F6"/>
                </a:solidFill>
              </a:defRPr>
            </a:pPr>
            <a:endParaRPr sz="1050" b="0">
              <a:solidFill>
                <a:srgbClr val="F3F4F6"/>
              </a:solidFill>
            </a:endParaRPr>
          </a:p>
          <a:p>
            <a:pPr algn="l">
              <a:buNone/>
              <a:defRPr sz="1050" b="0">
                <a:solidFill>
                  <a:srgbClr val="F3F4F6"/>
                </a:solidFill>
              </a:defRPr>
            </a:pPr>
            <a:r>
              <a:rPr sz="1050" b="0">
                <a:solidFill>
                  <a:srgbClr val="F3F4F6"/>
                </a:solidFill>
              </a:rPr>
              <a:t>internal sealed class CreateCharacterCommandHandler(</a:t>
            </a:r>
          </a:p>
          <a:p>
            <a:pPr algn="l">
              <a:buNone/>
              <a:defRPr sz="1050" b="0">
                <a:solidFill>
                  <a:srgbClr val="F3F4F6"/>
                </a:solidFill>
              </a:defRPr>
            </a:pPr>
            <a:r>
              <a:rPr sz="1050" b="0">
                <a:solidFill>
                  <a:srgbClr val="F3F4F6"/>
                </a:solidFill>
              </a:rPr>
              <a:t>    ICharacterRepository repository,</a:t>
            </a:r>
          </a:p>
          <a:p>
            <a:pPr algn="l">
              <a:buNone/>
              <a:defRPr sz="1050" b="0">
                <a:solidFill>
                  <a:srgbClr val="F3F4F6"/>
                </a:solidFill>
              </a:defRPr>
            </a:pPr>
            <a:r>
              <a:rPr sz="1050" b="0">
                <a:solidFill>
                  <a:srgbClr val="F3F4F6"/>
                </a:solidFill>
              </a:rPr>
              <a:t>    IClassCatalog classCatalog,</a:t>
            </a:r>
          </a:p>
          <a:p>
            <a:pPr algn="l">
              <a:buNone/>
              <a:defRPr sz="1050" b="0">
                <a:solidFill>
                  <a:srgbClr val="F3F4F6"/>
                </a:solidFill>
              </a:defRPr>
            </a:pPr>
            <a:r>
              <a:rPr sz="1050" b="0">
                <a:solidFill>
                  <a:srgbClr val="F3F4F6"/>
                </a:solidFill>
              </a:rPr>
              <a:t>    IWeaponCatalog weaponCatalog)</a:t>
            </a:r>
          </a:p>
          <a:p>
            <a:pPr algn="l">
              <a:buNone/>
              <a:defRPr sz="1050" b="0">
                <a:solidFill>
                  <a:srgbClr val="F3F4F6"/>
                </a:solidFill>
              </a:defRPr>
            </a:pPr>
            <a:r>
              <a:rPr sz="1050" b="0">
                <a:solidFill>
                  <a:srgbClr val="F3F4F6"/>
                </a:solidFill>
              </a:rPr>
              <a:t>{</a:t>
            </a:r>
          </a:p>
          <a:p>
            <a:pPr algn="l">
              <a:buNone/>
              <a:defRPr sz="1050" b="0">
                <a:solidFill>
                  <a:srgbClr val="F3F4F6"/>
                </a:solidFill>
              </a:defRPr>
            </a:pPr>
            <a:r>
              <a:rPr sz="1050" b="0">
                <a:solidFill>
                  <a:srgbClr val="F3F4F6"/>
                </a:solidFill>
              </a:rPr>
              <a:t>    // The use case knows the capability,</a:t>
            </a:r>
          </a:p>
          <a:p>
            <a:pPr algn="l">
              <a:buNone/>
              <a:defRPr sz="1050" b="0">
                <a:solidFill>
                  <a:srgbClr val="F3F4F6"/>
                </a:solidFill>
              </a:defRPr>
            </a:pPr>
            <a:r>
              <a:rPr sz="1050" b="0">
                <a:solidFill>
                  <a:srgbClr val="F3F4F6"/>
                </a:solidFill>
              </a:rPr>
              <a:t>    // not the external provider.</a:t>
            </a:r>
          </a:p>
          <a:p>
            <a:pPr algn="l">
              <a:buNone/>
              <a:defRPr sz="1050" b="0">
                <a:solidFill>
                  <a:srgbClr val="F3F4F6"/>
                </a:solidFill>
              </a:defRPr>
            </a:pPr>
            <a:r>
              <a:rPr sz="1050" b="0">
                <a:solidFill>
                  <a:srgbClr val="F3F4F6"/>
                </a:solidFill>
              </a:rPr>
              <a:t>}</a:t>
            </a:r>
          </a:p>
        </p:txBody>
      </p:sp>
      <p:sp>
        <p:nvSpPr>
          <p:cNvPr id="261" name="Rectangle: Rounded Corners 260">
            <a:extLst>
              <a:ext uri="{FF2B5EF4-FFF2-40B4-BE49-F238E27FC236}">
                <a16:creationId xmlns:a16="http://schemas.microsoft.com/office/drawing/2014/main" id="{4CC726B5-48CE-41BC-903E-09F15D7A9838}"/>
              </a:ext>
            </a:extLst>
          </p:cNvPr>
          <p:cNvSpPr>
            <a:spLocks noGrp="1"/>
          </p:cNvSpPr>
          <p:nvPr/>
        </p:nvSpPr>
        <p:spPr>
          <a:xfrm>
            <a:off x="6419850" y="1219200"/>
            <a:ext cx="1104900" cy="304800"/>
          </a:xfrm>
          <a:prstGeom prst="roundRect">
            <a:avLst>
              <a:gd name="adj" fmla="val 37500"/>
            </a:avLst>
          </a:prstGeom>
          <a:solidFill>
            <a:srgbClr val="EAF5FA"/>
          </a:solidFill>
          <a:ln w="0">
            <a:noFill/>
            <a:prstDash val="solid"/>
          </a:ln>
        </p:spPr>
        <p:txBody>
          <a:bodyPr/>
          <a:lstStyle/>
          <a:p>
            <a:endParaRPr/>
          </a:p>
        </p:txBody>
      </p:sp>
      <p:sp>
        <p:nvSpPr>
          <p:cNvPr id="262" name="Rectangle 261">
            <a:extLst>
              <a:ext uri="{FF2B5EF4-FFF2-40B4-BE49-F238E27FC236}">
                <a16:creationId xmlns:a16="http://schemas.microsoft.com/office/drawing/2014/main" id="{DDF407B3-23AB-45A5-ADB4-C6DA4B2BF5B6}"/>
              </a:ext>
            </a:extLst>
          </p:cNvPr>
          <p:cNvSpPr>
            <a:spLocks noGrp="1"/>
          </p:cNvSpPr>
          <p:nvPr/>
        </p:nvSpPr>
        <p:spPr>
          <a:xfrm>
            <a:off x="6496050" y="1257300"/>
            <a:ext cx="952500" cy="228600"/>
          </a:xfrm>
          <a:prstGeom prst="rect">
            <a:avLst/>
          </a:prstGeom>
          <a:noFill/>
          <a:ln w="0">
            <a:noFill/>
            <a:prstDash val="solid"/>
          </a:ln>
        </p:spPr>
        <p:txBody>
          <a:bodyPr lIns="57150" tIns="38100" rIns="57150" bIns="38100" anchor="ctr">
            <a:normAutofit fontScale="95238"/>
          </a:bodyPr>
          <a:lstStyle/>
          <a:p>
            <a:pPr algn="ctr">
              <a:buNone/>
              <a:defRPr sz="1050" b="1">
                <a:solidFill>
                  <a:srgbClr val="0B83BD"/>
                </a:solidFill>
              </a:defRPr>
            </a:pPr>
            <a:r>
              <a:rPr sz="1050" b="1">
                <a:solidFill>
                  <a:srgbClr val="0B83BD"/>
                </a:solidFill>
              </a:rPr>
              <a:t>PORT</a:t>
            </a:r>
          </a:p>
        </p:txBody>
      </p:sp>
      <p:sp>
        <p:nvSpPr>
          <p:cNvPr id="263" name="Rectangle 262">
            <a:extLst>
              <a:ext uri="{FF2B5EF4-FFF2-40B4-BE49-F238E27FC236}">
                <a16:creationId xmlns:a16="http://schemas.microsoft.com/office/drawing/2014/main" id="{483FE56F-2530-4D62-AF6A-475749B17485}"/>
              </a:ext>
            </a:extLst>
          </p:cNvPr>
          <p:cNvSpPr>
            <a:spLocks noGrp="1"/>
          </p:cNvSpPr>
          <p:nvPr/>
        </p:nvSpPr>
        <p:spPr>
          <a:xfrm>
            <a:off x="7620000" y="1219200"/>
            <a:ext cx="1009650" cy="304800"/>
          </a:xfrm>
          <a:prstGeom prst="rect">
            <a:avLst/>
          </a:prstGeom>
          <a:noFill/>
          <a:ln w="0">
            <a:noFill/>
            <a:prstDash val="solid"/>
          </a:ln>
        </p:spPr>
        <p:txBody>
          <a:bodyPr lIns="57150" tIns="38100" rIns="57150" bIns="38100" anchor="ctr">
            <a:normAutofit fontScale="62500" lnSpcReduction="10000"/>
          </a:bodyPr>
          <a:lstStyle/>
          <a:p>
            <a:pPr algn="l">
              <a:buNone/>
              <a:defRPr sz="1200" b="0">
                <a:solidFill>
                  <a:srgbClr val="5F6B76"/>
                </a:solidFill>
              </a:defRPr>
            </a:pPr>
            <a:r>
              <a:rPr sz="1200" b="0">
                <a:solidFill>
                  <a:srgbClr val="5F6B76"/>
                </a:solidFill>
              </a:rPr>
              <a:t>Weapon</a:t>
            </a:r>
          </a:p>
          <a:p>
            <a:pPr algn="l">
              <a:buNone/>
              <a:defRPr sz="1200" b="0">
                <a:solidFill>
                  <a:srgbClr val="5F6B76"/>
                </a:solidFill>
              </a:defRPr>
            </a:pPr>
            <a:r>
              <a:rPr sz="1200" b="0">
                <a:solidFill>
                  <a:srgbClr val="5F6B76"/>
                </a:solidFill>
              </a:rPr>
              <a:t>catalog</a:t>
            </a:r>
          </a:p>
        </p:txBody>
      </p:sp>
      <p:sp>
        <p:nvSpPr>
          <p:cNvPr id="264" name="Rectangle: Rounded Corners 263">
            <a:extLst>
              <a:ext uri="{FF2B5EF4-FFF2-40B4-BE49-F238E27FC236}">
                <a16:creationId xmlns:a16="http://schemas.microsoft.com/office/drawing/2014/main" id="{B0870AF0-7CAC-432E-BAAA-A5FF86F130AF}"/>
              </a:ext>
            </a:extLst>
          </p:cNvPr>
          <p:cNvSpPr>
            <a:spLocks noGrp="1"/>
          </p:cNvSpPr>
          <p:nvPr/>
        </p:nvSpPr>
        <p:spPr>
          <a:xfrm>
            <a:off x="6419850" y="1943100"/>
            <a:ext cx="1104900" cy="304800"/>
          </a:xfrm>
          <a:prstGeom prst="roundRect">
            <a:avLst>
              <a:gd name="adj" fmla="val 37500"/>
            </a:avLst>
          </a:prstGeom>
          <a:solidFill>
            <a:srgbClr val="EAF5FA"/>
          </a:solidFill>
          <a:ln w="0">
            <a:noFill/>
            <a:prstDash val="solid"/>
          </a:ln>
        </p:spPr>
        <p:txBody>
          <a:bodyPr/>
          <a:lstStyle/>
          <a:p>
            <a:endParaRPr/>
          </a:p>
        </p:txBody>
      </p:sp>
      <p:sp>
        <p:nvSpPr>
          <p:cNvPr id="265" name="Rectangle 264">
            <a:extLst>
              <a:ext uri="{FF2B5EF4-FFF2-40B4-BE49-F238E27FC236}">
                <a16:creationId xmlns:a16="http://schemas.microsoft.com/office/drawing/2014/main" id="{3E711289-464C-44F2-A0B2-55F683865C94}"/>
              </a:ext>
            </a:extLst>
          </p:cNvPr>
          <p:cNvSpPr>
            <a:spLocks noGrp="1"/>
          </p:cNvSpPr>
          <p:nvPr/>
        </p:nvSpPr>
        <p:spPr>
          <a:xfrm>
            <a:off x="6496050" y="1981200"/>
            <a:ext cx="952500" cy="228600"/>
          </a:xfrm>
          <a:prstGeom prst="rect">
            <a:avLst/>
          </a:prstGeom>
          <a:noFill/>
          <a:ln w="0">
            <a:noFill/>
            <a:prstDash val="solid"/>
          </a:ln>
        </p:spPr>
        <p:txBody>
          <a:bodyPr lIns="57150" tIns="38100" rIns="57150" bIns="38100" anchor="ctr">
            <a:normAutofit fontScale="95238"/>
          </a:bodyPr>
          <a:lstStyle/>
          <a:p>
            <a:pPr algn="ctr">
              <a:buNone/>
              <a:defRPr sz="1050" b="1">
                <a:solidFill>
                  <a:srgbClr val="0B83BD"/>
                </a:solidFill>
              </a:defRPr>
            </a:pPr>
            <a:r>
              <a:rPr sz="1050" b="1">
                <a:solidFill>
                  <a:srgbClr val="0B83BD"/>
                </a:solidFill>
              </a:rPr>
              <a:t>CAPABILITY</a:t>
            </a:r>
          </a:p>
        </p:txBody>
      </p:sp>
      <p:sp>
        <p:nvSpPr>
          <p:cNvPr id="266" name="Rectangle 265">
            <a:extLst>
              <a:ext uri="{FF2B5EF4-FFF2-40B4-BE49-F238E27FC236}">
                <a16:creationId xmlns:a16="http://schemas.microsoft.com/office/drawing/2014/main" id="{0F07314F-A826-437A-8551-BBF1F07AE232}"/>
              </a:ext>
            </a:extLst>
          </p:cNvPr>
          <p:cNvSpPr>
            <a:spLocks noGrp="1"/>
          </p:cNvSpPr>
          <p:nvPr/>
        </p:nvSpPr>
        <p:spPr>
          <a:xfrm>
            <a:off x="7620000" y="1943100"/>
            <a:ext cx="1009650" cy="304800"/>
          </a:xfrm>
          <a:prstGeom prst="rect">
            <a:avLst/>
          </a:prstGeom>
          <a:noFill/>
          <a:ln w="0">
            <a:noFill/>
            <a:prstDash val="solid"/>
          </a:ln>
        </p:spPr>
        <p:txBody>
          <a:bodyPr lIns="57150" tIns="38100" rIns="57150" bIns="38100" anchor="ctr">
            <a:normAutofit fontScale="62500" lnSpcReduction="10000"/>
          </a:bodyPr>
          <a:lstStyle/>
          <a:p>
            <a:pPr algn="l">
              <a:buNone/>
              <a:defRPr sz="1200" b="0">
                <a:solidFill>
                  <a:srgbClr val="5F6B76"/>
                </a:solidFill>
              </a:defRPr>
            </a:pPr>
            <a:r>
              <a:rPr sz="1200" b="0">
                <a:solidFill>
                  <a:srgbClr val="5F6B76"/>
                </a:solidFill>
              </a:rPr>
              <a:t>Find a domain weapon</a:t>
            </a:r>
          </a:p>
        </p:txBody>
      </p:sp>
      <p:sp>
        <p:nvSpPr>
          <p:cNvPr id="267" name="Rectangle: Rounded Corners 266">
            <a:extLst>
              <a:ext uri="{FF2B5EF4-FFF2-40B4-BE49-F238E27FC236}">
                <a16:creationId xmlns:a16="http://schemas.microsoft.com/office/drawing/2014/main" id="{C3C96929-376A-4809-B7EC-C28C149730C5}"/>
              </a:ext>
            </a:extLst>
          </p:cNvPr>
          <p:cNvSpPr>
            <a:spLocks noGrp="1"/>
          </p:cNvSpPr>
          <p:nvPr/>
        </p:nvSpPr>
        <p:spPr>
          <a:xfrm>
            <a:off x="6419850" y="2667000"/>
            <a:ext cx="1104900" cy="304800"/>
          </a:xfrm>
          <a:prstGeom prst="roundRect">
            <a:avLst>
              <a:gd name="adj" fmla="val 37500"/>
            </a:avLst>
          </a:prstGeom>
          <a:solidFill>
            <a:srgbClr val="EAF5FA"/>
          </a:solidFill>
          <a:ln w="0">
            <a:noFill/>
            <a:prstDash val="solid"/>
          </a:ln>
        </p:spPr>
        <p:txBody>
          <a:bodyPr/>
          <a:lstStyle/>
          <a:p>
            <a:endParaRPr/>
          </a:p>
        </p:txBody>
      </p:sp>
      <p:sp>
        <p:nvSpPr>
          <p:cNvPr id="268" name="Rectangle 267">
            <a:extLst>
              <a:ext uri="{FF2B5EF4-FFF2-40B4-BE49-F238E27FC236}">
                <a16:creationId xmlns:a16="http://schemas.microsoft.com/office/drawing/2014/main" id="{FE77C560-31C6-46C9-8E0C-186CFA88E72F}"/>
              </a:ext>
            </a:extLst>
          </p:cNvPr>
          <p:cNvSpPr>
            <a:spLocks noGrp="1"/>
          </p:cNvSpPr>
          <p:nvPr/>
        </p:nvSpPr>
        <p:spPr>
          <a:xfrm>
            <a:off x="6496050" y="2705100"/>
            <a:ext cx="952500" cy="228600"/>
          </a:xfrm>
          <a:prstGeom prst="rect">
            <a:avLst/>
          </a:prstGeom>
          <a:noFill/>
          <a:ln w="0">
            <a:noFill/>
            <a:prstDash val="solid"/>
          </a:ln>
        </p:spPr>
        <p:txBody>
          <a:bodyPr lIns="57150" tIns="38100" rIns="57150" bIns="38100" anchor="ctr">
            <a:normAutofit fontScale="95238"/>
          </a:bodyPr>
          <a:lstStyle/>
          <a:p>
            <a:pPr algn="ctr">
              <a:buNone/>
              <a:defRPr sz="1050" b="1">
                <a:solidFill>
                  <a:srgbClr val="0B83BD"/>
                </a:solidFill>
              </a:defRPr>
            </a:pPr>
            <a:r>
              <a:rPr sz="1050" b="1">
                <a:solidFill>
                  <a:srgbClr val="0B83BD"/>
                </a:solidFill>
              </a:rPr>
              <a:t>CONSUMER</a:t>
            </a:r>
          </a:p>
        </p:txBody>
      </p:sp>
      <p:sp>
        <p:nvSpPr>
          <p:cNvPr id="269" name="Rectangle 268">
            <a:extLst>
              <a:ext uri="{FF2B5EF4-FFF2-40B4-BE49-F238E27FC236}">
                <a16:creationId xmlns:a16="http://schemas.microsoft.com/office/drawing/2014/main" id="{9F686FE1-0962-486D-ACD7-730689C6582D}"/>
              </a:ext>
            </a:extLst>
          </p:cNvPr>
          <p:cNvSpPr>
            <a:spLocks noGrp="1"/>
          </p:cNvSpPr>
          <p:nvPr/>
        </p:nvSpPr>
        <p:spPr>
          <a:xfrm>
            <a:off x="7620000" y="2667000"/>
            <a:ext cx="1009650" cy="304800"/>
          </a:xfrm>
          <a:prstGeom prst="rect">
            <a:avLst/>
          </a:prstGeom>
          <a:noFill/>
          <a:ln w="0">
            <a:noFill/>
            <a:prstDash val="solid"/>
          </a:ln>
        </p:spPr>
        <p:txBody>
          <a:bodyPr lIns="57150" tIns="38100" rIns="57150" bIns="38100" anchor="ctr">
            <a:normAutofit fontScale="71934"/>
          </a:bodyPr>
          <a:lstStyle/>
          <a:p>
            <a:pPr algn="l">
              <a:buNone/>
              <a:defRPr sz="1200" b="0">
                <a:solidFill>
                  <a:srgbClr val="5F6B76"/>
                </a:solidFill>
              </a:defRPr>
            </a:pPr>
            <a:r>
              <a:rPr sz="1200" b="0">
                <a:solidFill>
                  <a:srgbClr val="5F6B76"/>
                </a:solidFill>
              </a:rPr>
              <a:t>Command handler</a:t>
            </a:r>
          </a:p>
        </p:txBody>
      </p:sp>
      <p:sp>
        <p:nvSpPr>
          <p:cNvPr id="270" name="Rectangle: Rounded Corners 269">
            <a:extLst>
              <a:ext uri="{FF2B5EF4-FFF2-40B4-BE49-F238E27FC236}">
                <a16:creationId xmlns:a16="http://schemas.microsoft.com/office/drawing/2014/main" id="{521BEFFC-A078-40C4-9259-C831E40F1983}"/>
              </a:ext>
            </a:extLst>
          </p:cNvPr>
          <p:cNvSpPr>
            <a:spLocks noGrp="1"/>
          </p:cNvSpPr>
          <p:nvPr/>
        </p:nvSpPr>
        <p:spPr>
          <a:xfrm>
            <a:off x="6419850" y="3390900"/>
            <a:ext cx="1104900" cy="304800"/>
          </a:xfrm>
          <a:prstGeom prst="roundRect">
            <a:avLst>
              <a:gd name="adj" fmla="val 37500"/>
            </a:avLst>
          </a:prstGeom>
          <a:solidFill>
            <a:srgbClr val="F2994A"/>
          </a:solidFill>
          <a:ln w="0">
            <a:noFill/>
            <a:prstDash val="solid"/>
          </a:ln>
        </p:spPr>
        <p:txBody>
          <a:bodyPr/>
          <a:lstStyle/>
          <a:p>
            <a:endParaRPr/>
          </a:p>
        </p:txBody>
      </p:sp>
      <p:sp>
        <p:nvSpPr>
          <p:cNvPr id="271" name="Rectangle 270">
            <a:extLst>
              <a:ext uri="{FF2B5EF4-FFF2-40B4-BE49-F238E27FC236}">
                <a16:creationId xmlns:a16="http://schemas.microsoft.com/office/drawing/2014/main" id="{4217E623-8061-4697-BEF6-32F259368092}"/>
              </a:ext>
            </a:extLst>
          </p:cNvPr>
          <p:cNvSpPr>
            <a:spLocks noGrp="1"/>
          </p:cNvSpPr>
          <p:nvPr/>
        </p:nvSpPr>
        <p:spPr>
          <a:xfrm>
            <a:off x="6496050" y="3429000"/>
            <a:ext cx="952500" cy="228600"/>
          </a:xfrm>
          <a:prstGeom prst="rect">
            <a:avLst/>
          </a:prstGeom>
          <a:noFill/>
          <a:ln w="0">
            <a:noFill/>
            <a:prstDash val="solid"/>
          </a:ln>
        </p:spPr>
        <p:txBody>
          <a:bodyPr lIns="57150" tIns="38100" rIns="57150" bIns="38100" anchor="ctr">
            <a:normAutofit fontScale="95238"/>
          </a:bodyPr>
          <a:lstStyle/>
          <a:p>
            <a:pPr algn="ctr">
              <a:buNone/>
              <a:defRPr sz="1050" b="1">
                <a:solidFill>
                  <a:srgbClr val="FFFFFF"/>
                </a:solidFill>
              </a:defRPr>
            </a:pPr>
            <a:r>
              <a:rPr sz="1050" b="1">
                <a:solidFill>
                  <a:srgbClr val="FFFFFF"/>
                </a:solidFill>
              </a:rPr>
              <a:t>OWNER</a:t>
            </a:r>
          </a:p>
        </p:txBody>
      </p:sp>
      <p:sp>
        <p:nvSpPr>
          <p:cNvPr id="272" name="Rectangle 271">
            <a:extLst>
              <a:ext uri="{FF2B5EF4-FFF2-40B4-BE49-F238E27FC236}">
                <a16:creationId xmlns:a16="http://schemas.microsoft.com/office/drawing/2014/main" id="{A6964FF4-5CD1-4FDD-A423-F3F785958FD8}"/>
              </a:ext>
            </a:extLst>
          </p:cNvPr>
          <p:cNvSpPr>
            <a:spLocks noGrp="1"/>
          </p:cNvSpPr>
          <p:nvPr/>
        </p:nvSpPr>
        <p:spPr>
          <a:xfrm>
            <a:off x="7620000" y="3390900"/>
            <a:ext cx="1009650" cy="304800"/>
          </a:xfrm>
          <a:prstGeom prst="rect">
            <a:avLst/>
          </a:prstGeom>
          <a:noFill/>
          <a:ln w="0">
            <a:noFill/>
            <a:prstDash val="solid"/>
          </a:ln>
        </p:spPr>
        <p:txBody>
          <a:bodyPr lIns="57150" tIns="38100" rIns="57150" bIns="38100" anchor="ctr">
            <a:normAutofit/>
          </a:bodyPr>
          <a:lstStyle/>
          <a:p>
            <a:pPr algn="l">
              <a:buNone/>
              <a:defRPr sz="1200" b="0">
                <a:solidFill>
                  <a:srgbClr val="5F6B76"/>
                </a:solidFill>
              </a:defRPr>
            </a:pPr>
            <a:r>
              <a:rPr sz="1200" b="0">
                <a:solidFill>
                  <a:srgbClr val="5F6B76"/>
                </a:solidFill>
              </a:rPr>
              <a:t>Application</a:t>
            </a:r>
          </a:p>
        </p:txBody>
      </p:sp>
    </p:spTree>
    <p:extLst>
      <p:ext uri="{BB962C8B-B14F-4D97-AF65-F5344CB8AC3E}">
        <p14:creationId xmlns:p14="http://schemas.microsoft.com/office/powerpoint/2010/main" val="115071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5"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0" y="202120"/>
            <a:ext cx="7049101" cy="40011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a:solidFill>
                  <a:schemeClr val="accent2"/>
                </a:solidFill>
                <a:latin typeface="Inter Tight ExtraBold"/>
                <a:ea typeface="Inter Tight ExtraBold"/>
                <a:cs typeface="Inter Tight ExtraBold"/>
              </a:rPr>
              <a:t>A complete ACL separates distinct jobs</a:t>
            </a:r>
          </a:p>
        </p:txBody>
      </p:sp>
      <p:sp>
        <p:nvSpPr>
          <p:cNvPr id="259" name="Rectangle: Rounded Corners 258">
            <a:extLst>
              <a:ext uri="{FF2B5EF4-FFF2-40B4-BE49-F238E27FC236}">
                <a16:creationId xmlns:a16="http://schemas.microsoft.com/office/drawing/2014/main" id="{4971661C-9753-4192-8B6A-647CDDFF98E0}"/>
              </a:ext>
            </a:extLst>
          </p:cNvPr>
          <p:cNvSpPr>
            <a:spLocks noGrp="1"/>
          </p:cNvSpPr>
          <p:nvPr/>
        </p:nvSpPr>
        <p:spPr>
          <a:xfrm>
            <a:off x="514350" y="1314450"/>
            <a:ext cx="4762500" cy="2571750"/>
          </a:xfrm>
          <a:prstGeom prst="roundRect">
            <a:avLst>
              <a:gd name="adj" fmla="val 4444"/>
            </a:avLst>
          </a:prstGeom>
          <a:solidFill>
            <a:srgbClr val="16212B"/>
          </a:solidFill>
          <a:ln w="9525">
            <a:solidFill>
              <a:srgbClr val="16212B"/>
            </a:solidFill>
            <a:prstDash val="solid"/>
          </a:ln>
        </p:spPr>
        <p:txBody>
          <a:bodyPr/>
          <a:lstStyle/>
          <a:p>
            <a:endParaRPr/>
          </a:p>
        </p:txBody>
      </p:sp>
      <p:sp>
        <p:nvSpPr>
          <p:cNvPr id="260" name="Rectangle 259">
            <a:extLst>
              <a:ext uri="{FF2B5EF4-FFF2-40B4-BE49-F238E27FC236}">
                <a16:creationId xmlns:a16="http://schemas.microsoft.com/office/drawing/2014/main" id="{0C412B79-65DD-4489-A318-7A3C7241B957}"/>
              </a:ext>
            </a:extLst>
          </p:cNvPr>
          <p:cNvSpPr>
            <a:spLocks noGrp="1"/>
          </p:cNvSpPr>
          <p:nvPr/>
        </p:nvSpPr>
        <p:spPr>
          <a:xfrm>
            <a:off x="647700" y="1409700"/>
            <a:ext cx="4495800" cy="2381250"/>
          </a:xfrm>
          <a:prstGeom prst="rect">
            <a:avLst/>
          </a:prstGeom>
          <a:noFill/>
          <a:ln w="0">
            <a:noFill/>
            <a:prstDash val="solid"/>
          </a:ln>
        </p:spPr>
        <p:txBody>
          <a:bodyPr lIns="57150" tIns="38100" rIns="57150" bIns="38100" anchor="ctr">
            <a:normAutofit fontScale="97396"/>
          </a:bodyPr>
          <a:lstStyle/>
          <a:p>
            <a:pPr algn="l">
              <a:buNone/>
              <a:defRPr sz="1275" b="0">
                <a:solidFill>
                  <a:srgbClr val="F3F4F6"/>
                </a:solidFill>
              </a:defRPr>
            </a:pPr>
            <a:r>
              <a:rPr sz="1100" b="0" dirty="0">
                <a:solidFill>
                  <a:srgbClr val="F3F4F6"/>
                </a:solidFill>
              </a:rPr>
              <a:t>internal sealed class </a:t>
            </a:r>
            <a:r>
              <a:rPr sz="1100" b="0" dirty="0" err="1">
                <a:solidFill>
                  <a:srgbClr val="F3F4F6"/>
                </a:solidFill>
              </a:rPr>
              <a:t>ExternalWeaponCatalog</a:t>
            </a:r>
            <a:r>
              <a:rPr sz="1100" b="0" dirty="0">
                <a:solidFill>
                  <a:srgbClr val="F3F4F6"/>
                </a:solidFill>
              </a:rPr>
              <a:t>(</a:t>
            </a:r>
          </a:p>
          <a:p>
            <a:pPr algn="l">
              <a:buNone/>
              <a:defRPr sz="1275" b="0">
                <a:solidFill>
                  <a:srgbClr val="F3F4F6"/>
                </a:solidFill>
              </a:defRPr>
            </a:pPr>
            <a:r>
              <a:rPr sz="1100" b="0" dirty="0">
                <a:solidFill>
                  <a:srgbClr val="F3F4F6"/>
                </a:solidFill>
              </a:rPr>
              <a:t>    </a:t>
            </a:r>
            <a:r>
              <a:rPr sz="1100" b="0" dirty="0" err="1">
                <a:solidFill>
                  <a:srgbClr val="F3F4F6"/>
                </a:solidFill>
              </a:rPr>
              <a:t>IDndCatalogClient</a:t>
            </a:r>
            <a:r>
              <a:rPr sz="1100" b="0" dirty="0">
                <a:solidFill>
                  <a:srgbClr val="F3F4F6"/>
                </a:solidFill>
              </a:rPr>
              <a:t> client,</a:t>
            </a:r>
          </a:p>
          <a:p>
            <a:pPr algn="l">
              <a:buNone/>
              <a:defRPr sz="1275" b="0">
                <a:solidFill>
                  <a:srgbClr val="F3F4F6"/>
                </a:solidFill>
              </a:defRPr>
            </a:pPr>
            <a:r>
              <a:rPr sz="1100" b="0" dirty="0">
                <a:solidFill>
                  <a:srgbClr val="F3F4F6"/>
                </a:solidFill>
              </a:rPr>
              <a:t>    </a:t>
            </a:r>
            <a:r>
              <a:rPr sz="1100" b="0" dirty="0" err="1">
                <a:solidFill>
                  <a:srgbClr val="F3F4F6"/>
                </a:solidFill>
              </a:rPr>
              <a:t>IWeaponTranslator</a:t>
            </a:r>
            <a:r>
              <a:rPr sz="1100" b="0" dirty="0">
                <a:solidFill>
                  <a:srgbClr val="F3F4F6"/>
                </a:solidFill>
              </a:rPr>
              <a:t> translator)</a:t>
            </a:r>
          </a:p>
          <a:p>
            <a:pPr>
              <a:buNone/>
              <a:defRPr>
                <a:solidFill>
                  <a:srgbClr val="F3F4F6"/>
                </a:solidFill>
              </a:defRPr>
            </a:pPr>
            <a:r>
              <a:rPr sz="1100" dirty="0">
                <a:solidFill>
                  <a:srgbClr val="F3F4F6"/>
                </a:solidFill>
              </a:rPr>
              <a:t>    : </a:t>
            </a:r>
            <a:r>
              <a:rPr sz="1100" dirty="0" err="1">
                <a:solidFill>
                  <a:srgbClr val="F3F4F6"/>
                </a:solidFill>
              </a:rPr>
              <a:t>IWeaponCatalog</a:t>
            </a:r>
            <a:endParaRPr sz="1100" dirty="0">
              <a:solidFill>
                <a:srgbClr val="F3F4F6"/>
              </a:solidFill>
            </a:endParaRPr>
          </a:p>
          <a:p>
            <a:pPr algn="l">
              <a:buNone/>
              <a:defRPr sz="1275" b="0">
                <a:solidFill>
                  <a:srgbClr val="F3F4F6"/>
                </a:solidFill>
              </a:defRPr>
            </a:pPr>
            <a:r>
              <a:rPr sz="1100" b="0" dirty="0">
                <a:solidFill>
                  <a:srgbClr val="F3F4F6"/>
                </a:solidFill>
              </a:rPr>
              <a:t>{</a:t>
            </a:r>
          </a:p>
          <a:p>
            <a:pPr>
              <a:buNone/>
              <a:defRPr>
                <a:solidFill>
                  <a:srgbClr val="F3F4F6"/>
                </a:solidFill>
              </a:defRPr>
            </a:pPr>
            <a:r>
              <a:rPr sz="1100" dirty="0">
                <a:solidFill>
                  <a:srgbClr val="F3F4F6"/>
                </a:solidFill>
              </a:rPr>
              <a:t>    public async Task&lt;Weapon&gt; Find(string name)</a:t>
            </a:r>
          </a:p>
          <a:p>
            <a:pPr algn="l">
              <a:buNone/>
              <a:defRPr sz="1275" b="0">
                <a:solidFill>
                  <a:srgbClr val="F3F4F6"/>
                </a:solidFill>
              </a:defRPr>
            </a:pPr>
            <a:r>
              <a:rPr sz="1100" b="0" dirty="0">
                <a:solidFill>
                  <a:srgbClr val="F3F4F6"/>
                </a:solidFill>
              </a:rPr>
              <a:t>    {</a:t>
            </a:r>
          </a:p>
          <a:p>
            <a:pPr algn="l">
              <a:buNone/>
              <a:defRPr sz="1275" b="0">
                <a:solidFill>
                  <a:srgbClr val="F3F4F6"/>
                </a:solidFill>
              </a:defRPr>
            </a:pPr>
            <a:r>
              <a:rPr sz="1100" b="0" dirty="0">
                <a:solidFill>
                  <a:srgbClr val="F3F4F6"/>
                </a:solidFill>
              </a:rPr>
              <a:t>        </a:t>
            </a:r>
            <a:r>
              <a:rPr sz="1100" b="0" dirty="0" err="1">
                <a:solidFill>
                  <a:srgbClr val="F3F4F6"/>
                </a:solidFill>
              </a:rPr>
              <a:t>ExternalWeaponDto</a:t>
            </a:r>
            <a:r>
              <a:rPr sz="1100" b="0" dirty="0">
                <a:solidFill>
                  <a:srgbClr val="F3F4F6"/>
                </a:solidFill>
              </a:rPr>
              <a:t> </a:t>
            </a:r>
            <a:r>
              <a:rPr sz="1100" b="0" dirty="0" err="1">
                <a:solidFill>
                  <a:srgbClr val="F3F4F6"/>
                </a:solidFill>
              </a:rPr>
              <a:t>dto</a:t>
            </a:r>
            <a:r>
              <a:rPr sz="1100" b="0" dirty="0">
                <a:solidFill>
                  <a:srgbClr val="F3F4F6"/>
                </a:solidFill>
              </a:rPr>
              <a:t> =</a:t>
            </a:r>
          </a:p>
          <a:p>
            <a:pPr algn="l">
              <a:buNone/>
              <a:defRPr sz="1275" b="0">
                <a:solidFill>
                  <a:srgbClr val="F3F4F6"/>
                </a:solidFill>
              </a:defRPr>
            </a:pPr>
            <a:r>
              <a:rPr sz="1100" b="0" dirty="0">
                <a:solidFill>
                  <a:srgbClr val="F3F4F6"/>
                </a:solidFill>
              </a:rPr>
              <a:t>            await </a:t>
            </a:r>
            <a:r>
              <a:rPr sz="1100" b="0" dirty="0" err="1">
                <a:solidFill>
                  <a:srgbClr val="F3F4F6"/>
                </a:solidFill>
              </a:rPr>
              <a:t>client.GetWeapon</a:t>
            </a:r>
            <a:r>
              <a:rPr sz="1100" b="0" dirty="0">
                <a:solidFill>
                  <a:srgbClr val="F3F4F6"/>
                </a:solidFill>
              </a:rPr>
              <a:t>(name);</a:t>
            </a:r>
          </a:p>
          <a:p>
            <a:pPr algn="l">
              <a:buNone/>
              <a:defRPr sz="1275" b="0">
                <a:solidFill>
                  <a:srgbClr val="F3F4F6"/>
                </a:solidFill>
              </a:defRPr>
            </a:pPr>
            <a:endParaRPr sz="1100" b="0" dirty="0">
              <a:solidFill>
                <a:srgbClr val="F3F4F6"/>
              </a:solidFill>
            </a:endParaRPr>
          </a:p>
          <a:p>
            <a:pPr algn="l">
              <a:buNone/>
              <a:defRPr sz="1275" b="0">
                <a:solidFill>
                  <a:srgbClr val="F3F4F6"/>
                </a:solidFill>
              </a:defRPr>
            </a:pPr>
            <a:r>
              <a:rPr sz="1100" b="0" dirty="0">
                <a:solidFill>
                  <a:srgbClr val="F3F4F6"/>
                </a:solidFill>
              </a:rPr>
              <a:t>        return </a:t>
            </a:r>
            <a:r>
              <a:rPr sz="1100" b="0" dirty="0" err="1">
                <a:solidFill>
                  <a:srgbClr val="F3F4F6"/>
                </a:solidFill>
              </a:rPr>
              <a:t>translator.Translate</a:t>
            </a:r>
            <a:r>
              <a:rPr sz="1100" b="0" dirty="0">
                <a:solidFill>
                  <a:srgbClr val="F3F4F6"/>
                </a:solidFill>
              </a:rPr>
              <a:t>(</a:t>
            </a:r>
            <a:r>
              <a:rPr sz="1100" b="0" dirty="0" err="1">
                <a:solidFill>
                  <a:srgbClr val="F3F4F6"/>
                </a:solidFill>
              </a:rPr>
              <a:t>dto</a:t>
            </a:r>
            <a:r>
              <a:rPr sz="1100" b="0" dirty="0">
                <a:solidFill>
                  <a:srgbClr val="F3F4F6"/>
                </a:solidFill>
              </a:rPr>
              <a:t>);</a:t>
            </a:r>
          </a:p>
          <a:p>
            <a:pPr algn="l">
              <a:buNone/>
              <a:defRPr sz="1275" b="0">
                <a:solidFill>
                  <a:srgbClr val="F3F4F6"/>
                </a:solidFill>
              </a:defRPr>
            </a:pPr>
            <a:r>
              <a:rPr sz="1100" b="0" dirty="0">
                <a:solidFill>
                  <a:srgbClr val="F3F4F6"/>
                </a:solidFill>
              </a:rPr>
              <a:t>    }</a:t>
            </a:r>
          </a:p>
          <a:p>
            <a:pPr algn="l">
              <a:buNone/>
              <a:defRPr sz="1275" b="0">
                <a:solidFill>
                  <a:srgbClr val="F3F4F6"/>
                </a:solidFill>
              </a:defRPr>
            </a:pPr>
            <a:r>
              <a:rPr sz="1100" b="0" dirty="0">
                <a:solidFill>
                  <a:srgbClr val="F3F4F6"/>
                </a:solidFill>
              </a:rPr>
              <a:t>}</a:t>
            </a:r>
          </a:p>
        </p:txBody>
      </p:sp>
      <p:sp>
        <p:nvSpPr>
          <p:cNvPr id="261" name="Rectangle 260">
            <a:extLst>
              <a:ext uri="{FF2B5EF4-FFF2-40B4-BE49-F238E27FC236}">
                <a16:creationId xmlns:a16="http://schemas.microsoft.com/office/drawing/2014/main" id="{E9E98384-74EA-4539-8F10-FAA680AB0490}"/>
              </a:ext>
            </a:extLst>
          </p:cNvPr>
          <p:cNvSpPr>
            <a:spLocks noGrp="1"/>
          </p:cNvSpPr>
          <p:nvPr/>
        </p:nvSpPr>
        <p:spPr>
          <a:xfrm>
            <a:off x="5734050" y="1323975"/>
            <a:ext cx="2571750" cy="285750"/>
          </a:xfrm>
          <a:prstGeom prst="rect">
            <a:avLst/>
          </a:prstGeom>
          <a:noFill/>
          <a:ln w="0">
            <a:noFill/>
            <a:prstDash val="solid"/>
          </a:ln>
        </p:spPr>
        <p:txBody>
          <a:bodyPr lIns="57150" tIns="38100" rIns="57150" bIns="38100" anchor="ctr">
            <a:normAutofit fontScale="91667"/>
          </a:bodyPr>
          <a:lstStyle/>
          <a:p>
            <a:pPr algn="l">
              <a:buNone/>
              <a:defRPr sz="1500" b="1">
                <a:solidFill>
                  <a:srgbClr val="1F2937"/>
                </a:solidFill>
              </a:defRPr>
            </a:pPr>
            <a:r>
              <a:rPr sz="1500" b="1">
                <a:solidFill>
                  <a:srgbClr val="1F2937"/>
                </a:solidFill>
              </a:rPr>
              <a:t>The boundary contains:</a:t>
            </a:r>
          </a:p>
        </p:txBody>
      </p:sp>
      <p:sp>
        <p:nvSpPr>
          <p:cNvPr id="262" name="Rectangle: Rounded Corners 261">
            <a:extLst>
              <a:ext uri="{FF2B5EF4-FFF2-40B4-BE49-F238E27FC236}">
                <a16:creationId xmlns:a16="http://schemas.microsoft.com/office/drawing/2014/main" id="{D673B2EF-1516-40F0-866C-C0CF8CEDBCCA}"/>
              </a:ext>
            </a:extLst>
          </p:cNvPr>
          <p:cNvSpPr>
            <a:spLocks noGrp="1"/>
          </p:cNvSpPr>
          <p:nvPr/>
        </p:nvSpPr>
        <p:spPr>
          <a:xfrm>
            <a:off x="5753100" y="1809750"/>
            <a:ext cx="361950" cy="304800"/>
          </a:xfrm>
          <a:prstGeom prst="roundRect">
            <a:avLst>
              <a:gd name="adj" fmla="val 37500"/>
            </a:avLst>
          </a:prstGeom>
          <a:solidFill>
            <a:srgbClr val="EAF5FA"/>
          </a:solidFill>
          <a:ln w="0">
            <a:noFill/>
            <a:prstDash val="solid"/>
          </a:ln>
        </p:spPr>
        <p:txBody>
          <a:bodyPr/>
          <a:lstStyle/>
          <a:p>
            <a:endParaRPr/>
          </a:p>
        </p:txBody>
      </p:sp>
      <p:sp>
        <p:nvSpPr>
          <p:cNvPr id="263" name="Rectangle 262">
            <a:extLst>
              <a:ext uri="{FF2B5EF4-FFF2-40B4-BE49-F238E27FC236}">
                <a16:creationId xmlns:a16="http://schemas.microsoft.com/office/drawing/2014/main" id="{EF083E37-17B9-47C0-AB22-A90AC63864A0}"/>
              </a:ext>
            </a:extLst>
          </p:cNvPr>
          <p:cNvSpPr>
            <a:spLocks noGrp="1"/>
          </p:cNvSpPr>
          <p:nvPr/>
        </p:nvSpPr>
        <p:spPr>
          <a:xfrm>
            <a:off x="5829300" y="1847850"/>
            <a:ext cx="209550" cy="228600"/>
          </a:xfrm>
          <a:prstGeom prst="rect">
            <a:avLst/>
          </a:prstGeom>
          <a:noFill/>
          <a:ln w="0">
            <a:noFill/>
            <a:prstDash val="solid"/>
          </a:ln>
        </p:spPr>
        <p:txBody>
          <a:bodyPr lIns="57150" tIns="38100" rIns="57150" bIns="38100" anchor="ctr">
            <a:normAutofit fontScale="93668"/>
          </a:bodyPr>
          <a:lstStyle/>
          <a:p>
            <a:pPr algn="ctr">
              <a:buNone/>
              <a:defRPr sz="1050" b="1">
                <a:solidFill>
                  <a:srgbClr val="0B83BD"/>
                </a:solidFill>
              </a:defRPr>
            </a:pPr>
            <a:r>
              <a:rPr sz="1050" b="1">
                <a:solidFill>
                  <a:srgbClr val="0B83BD"/>
                </a:solidFill>
              </a:rPr>
              <a:t>✓</a:t>
            </a:r>
          </a:p>
        </p:txBody>
      </p:sp>
      <p:sp>
        <p:nvSpPr>
          <p:cNvPr id="264" name="Rectangle 263">
            <a:extLst>
              <a:ext uri="{FF2B5EF4-FFF2-40B4-BE49-F238E27FC236}">
                <a16:creationId xmlns:a16="http://schemas.microsoft.com/office/drawing/2014/main" id="{87B33E24-8302-42B2-9F55-050136F2CEB5}"/>
              </a:ext>
            </a:extLst>
          </p:cNvPr>
          <p:cNvSpPr>
            <a:spLocks noGrp="1"/>
          </p:cNvSpPr>
          <p:nvPr/>
        </p:nvSpPr>
        <p:spPr>
          <a:xfrm>
            <a:off x="6229350" y="1809750"/>
            <a:ext cx="2190750" cy="30480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application port</a:t>
            </a:r>
          </a:p>
        </p:txBody>
      </p:sp>
      <p:sp>
        <p:nvSpPr>
          <p:cNvPr id="265" name="Rectangle: Rounded Corners 264">
            <a:extLst>
              <a:ext uri="{FF2B5EF4-FFF2-40B4-BE49-F238E27FC236}">
                <a16:creationId xmlns:a16="http://schemas.microsoft.com/office/drawing/2014/main" id="{38AB8928-EE4B-4ED3-97DE-41C9023D4916}"/>
              </a:ext>
            </a:extLst>
          </p:cNvPr>
          <p:cNvSpPr>
            <a:spLocks noGrp="1"/>
          </p:cNvSpPr>
          <p:nvPr/>
        </p:nvSpPr>
        <p:spPr>
          <a:xfrm>
            <a:off x="5753100" y="2286000"/>
            <a:ext cx="361950" cy="304800"/>
          </a:xfrm>
          <a:prstGeom prst="roundRect">
            <a:avLst>
              <a:gd name="adj" fmla="val 37500"/>
            </a:avLst>
          </a:prstGeom>
          <a:solidFill>
            <a:srgbClr val="EAF5FA"/>
          </a:solidFill>
          <a:ln w="0">
            <a:noFill/>
            <a:prstDash val="solid"/>
          </a:ln>
        </p:spPr>
        <p:txBody>
          <a:bodyPr/>
          <a:lstStyle/>
          <a:p>
            <a:endParaRPr/>
          </a:p>
        </p:txBody>
      </p:sp>
      <p:sp>
        <p:nvSpPr>
          <p:cNvPr id="266" name="Rectangle 265">
            <a:extLst>
              <a:ext uri="{FF2B5EF4-FFF2-40B4-BE49-F238E27FC236}">
                <a16:creationId xmlns:a16="http://schemas.microsoft.com/office/drawing/2014/main" id="{63AD9B1D-9E8E-46D0-8070-D7A11548C045}"/>
              </a:ext>
            </a:extLst>
          </p:cNvPr>
          <p:cNvSpPr>
            <a:spLocks noGrp="1"/>
          </p:cNvSpPr>
          <p:nvPr/>
        </p:nvSpPr>
        <p:spPr>
          <a:xfrm>
            <a:off x="5829300" y="2324100"/>
            <a:ext cx="209550" cy="228600"/>
          </a:xfrm>
          <a:prstGeom prst="rect">
            <a:avLst/>
          </a:prstGeom>
          <a:noFill/>
          <a:ln w="0">
            <a:noFill/>
            <a:prstDash val="solid"/>
          </a:ln>
        </p:spPr>
        <p:txBody>
          <a:bodyPr lIns="57150" tIns="38100" rIns="57150" bIns="38100" anchor="ctr">
            <a:normAutofit fontScale="93668"/>
          </a:bodyPr>
          <a:lstStyle/>
          <a:p>
            <a:pPr algn="ctr">
              <a:buNone/>
              <a:defRPr sz="1050" b="1">
                <a:solidFill>
                  <a:srgbClr val="0B83BD"/>
                </a:solidFill>
              </a:defRPr>
            </a:pPr>
            <a:r>
              <a:rPr sz="1050" b="1">
                <a:solidFill>
                  <a:srgbClr val="0B83BD"/>
                </a:solidFill>
              </a:rPr>
              <a:t>✓</a:t>
            </a:r>
          </a:p>
        </p:txBody>
      </p:sp>
      <p:sp>
        <p:nvSpPr>
          <p:cNvPr id="267" name="Rectangle 266">
            <a:extLst>
              <a:ext uri="{FF2B5EF4-FFF2-40B4-BE49-F238E27FC236}">
                <a16:creationId xmlns:a16="http://schemas.microsoft.com/office/drawing/2014/main" id="{F7C98397-A8B7-411F-B4D8-2C448BD0AC38}"/>
              </a:ext>
            </a:extLst>
          </p:cNvPr>
          <p:cNvSpPr>
            <a:spLocks noGrp="1"/>
          </p:cNvSpPr>
          <p:nvPr/>
        </p:nvSpPr>
        <p:spPr>
          <a:xfrm>
            <a:off x="6229350" y="2286000"/>
            <a:ext cx="2190750" cy="30480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external client</a:t>
            </a:r>
          </a:p>
        </p:txBody>
      </p:sp>
      <p:sp>
        <p:nvSpPr>
          <p:cNvPr id="268" name="Rectangle: Rounded Corners 267">
            <a:extLst>
              <a:ext uri="{FF2B5EF4-FFF2-40B4-BE49-F238E27FC236}">
                <a16:creationId xmlns:a16="http://schemas.microsoft.com/office/drawing/2014/main" id="{57E05947-D4F4-4F77-B72B-36A40505B0A5}"/>
              </a:ext>
            </a:extLst>
          </p:cNvPr>
          <p:cNvSpPr>
            <a:spLocks noGrp="1"/>
          </p:cNvSpPr>
          <p:nvPr/>
        </p:nvSpPr>
        <p:spPr>
          <a:xfrm>
            <a:off x="5753100" y="2762250"/>
            <a:ext cx="361950" cy="304800"/>
          </a:xfrm>
          <a:prstGeom prst="roundRect">
            <a:avLst>
              <a:gd name="adj" fmla="val 37500"/>
            </a:avLst>
          </a:prstGeom>
          <a:solidFill>
            <a:srgbClr val="EAF5FA"/>
          </a:solidFill>
          <a:ln w="0">
            <a:noFill/>
            <a:prstDash val="solid"/>
          </a:ln>
        </p:spPr>
        <p:txBody>
          <a:bodyPr/>
          <a:lstStyle/>
          <a:p>
            <a:endParaRPr/>
          </a:p>
        </p:txBody>
      </p:sp>
      <p:sp>
        <p:nvSpPr>
          <p:cNvPr id="269" name="Rectangle 268">
            <a:extLst>
              <a:ext uri="{FF2B5EF4-FFF2-40B4-BE49-F238E27FC236}">
                <a16:creationId xmlns:a16="http://schemas.microsoft.com/office/drawing/2014/main" id="{5F6452BF-CA49-4887-9DBE-EFA2D7A826D4}"/>
              </a:ext>
            </a:extLst>
          </p:cNvPr>
          <p:cNvSpPr>
            <a:spLocks noGrp="1"/>
          </p:cNvSpPr>
          <p:nvPr/>
        </p:nvSpPr>
        <p:spPr>
          <a:xfrm>
            <a:off x="5829300" y="2800350"/>
            <a:ext cx="209550" cy="228600"/>
          </a:xfrm>
          <a:prstGeom prst="rect">
            <a:avLst/>
          </a:prstGeom>
          <a:noFill/>
          <a:ln w="0">
            <a:noFill/>
            <a:prstDash val="solid"/>
          </a:ln>
        </p:spPr>
        <p:txBody>
          <a:bodyPr lIns="57150" tIns="38100" rIns="57150" bIns="38100" anchor="ctr">
            <a:normAutofit fontScale="93668"/>
          </a:bodyPr>
          <a:lstStyle/>
          <a:p>
            <a:pPr algn="ctr">
              <a:buNone/>
              <a:defRPr sz="1050" b="1">
                <a:solidFill>
                  <a:srgbClr val="0B83BD"/>
                </a:solidFill>
              </a:defRPr>
            </a:pPr>
            <a:r>
              <a:rPr sz="1050" b="1">
                <a:solidFill>
                  <a:srgbClr val="0B83BD"/>
                </a:solidFill>
              </a:rPr>
              <a:t>✓</a:t>
            </a:r>
          </a:p>
        </p:txBody>
      </p:sp>
      <p:sp>
        <p:nvSpPr>
          <p:cNvPr id="270" name="Rectangle 269">
            <a:extLst>
              <a:ext uri="{FF2B5EF4-FFF2-40B4-BE49-F238E27FC236}">
                <a16:creationId xmlns:a16="http://schemas.microsoft.com/office/drawing/2014/main" id="{F168EA38-07F0-4EF9-88D1-F19424EBF20C}"/>
              </a:ext>
            </a:extLst>
          </p:cNvPr>
          <p:cNvSpPr>
            <a:spLocks noGrp="1"/>
          </p:cNvSpPr>
          <p:nvPr/>
        </p:nvSpPr>
        <p:spPr>
          <a:xfrm>
            <a:off x="6229350" y="2762250"/>
            <a:ext cx="2190750" cy="30480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DTO + translator</a:t>
            </a:r>
          </a:p>
        </p:txBody>
      </p:sp>
      <p:sp>
        <p:nvSpPr>
          <p:cNvPr id="271" name="Rectangle: Rounded Corners 270">
            <a:extLst>
              <a:ext uri="{FF2B5EF4-FFF2-40B4-BE49-F238E27FC236}">
                <a16:creationId xmlns:a16="http://schemas.microsoft.com/office/drawing/2014/main" id="{48C97017-BE6D-451E-851F-A3FE8599D111}"/>
              </a:ext>
            </a:extLst>
          </p:cNvPr>
          <p:cNvSpPr>
            <a:spLocks noGrp="1"/>
          </p:cNvSpPr>
          <p:nvPr/>
        </p:nvSpPr>
        <p:spPr>
          <a:xfrm>
            <a:off x="5753100" y="3238500"/>
            <a:ext cx="361950" cy="304800"/>
          </a:xfrm>
          <a:prstGeom prst="roundRect">
            <a:avLst>
              <a:gd name="adj" fmla="val 37500"/>
            </a:avLst>
          </a:prstGeom>
          <a:solidFill>
            <a:srgbClr val="F2994A"/>
          </a:solidFill>
          <a:ln w="0">
            <a:noFill/>
            <a:prstDash val="solid"/>
          </a:ln>
        </p:spPr>
        <p:txBody>
          <a:bodyPr/>
          <a:lstStyle/>
          <a:p>
            <a:endParaRPr/>
          </a:p>
        </p:txBody>
      </p:sp>
      <p:sp>
        <p:nvSpPr>
          <p:cNvPr id="272" name="Rectangle 271">
            <a:extLst>
              <a:ext uri="{FF2B5EF4-FFF2-40B4-BE49-F238E27FC236}">
                <a16:creationId xmlns:a16="http://schemas.microsoft.com/office/drawing/2014/main" id="{E1F9149F-32DA-4CEC-B6EC-A6CF5EF04599}"/>
              </a:ext>
            </a:extLst>
          </p:cNvPr>
          <p:cNvSpPr>
            <a:spLocks noGrp="1"/>
          </p:cNvSpPr>
          <p:nvPr/>
        </p:nvSpPr>
        <p:spPr>
          <a:xfrm>
            <a:off x="5829300" y="3276600"/>
            <a:ext cx="209550" cy="228600"/>
          </a:xfrm>
          <a:prstGeom prst="rect">
            <a:avLst/>
          </a:prstGeom>
          <a:noFill/>
          <a:ln w="0">
            <a:noFill/>
            <a:prstDash val="solid"/>
          </a:ln>
        </p:spPr>
        <p:txBody>
          <a:bodyPr lIns="57150" tIns="38100" rIns="57150" bIns="38100" anchor="ctr">
            <a:normAutofit fontScale="93668"/>
          </a:bodyPr>
          <a:lstStyle/>
          <a:p>
            <a:pPr algn="ctr">
              <a:buNone/>
              <a:defRPr sz="1050" b="1">
                <a:solidFill>
                  <a:srgbClr val="FFFFFF"/>
                </a:solidFill>
              </a:defRPr>
            </a:pPr>
            <a:r>
              <a:rPr sz="1050" b="1">
                <a:solidFill>
                  <a:srgbClr val="FFFFFF"/>
                </a:solidFill>
              </a:rPr>
              <a:t>✓</a:t>
            </a:r>
          </a:p>
        </p:txBody>
      </p:sp>
      <p:sp>
        <p:nvSpPr>
          <p:cNvPr id="273" name="Rectangle 272">
            <a:extLst>
              <a:ext uri="{FF2B5EF4-FFF2-40B4-BE49-F238E27FC236}">
                <a16:creationId xmlns:a16="http://schemas.microsoft.com/office/drawing/2014/main" id="{8DEAE620-057C-4107-8CB9-6F05C33E5A4F}"/>
              </a:ext>
            </a:extLst>
          </p:cNvPr>
          <p:cNvSpPr>
            <a:spLocks noGrp="1"/>
          </p:cNvSpPr>
          <p:nvPr/>
        </p:nvSpPr>
        <p:spPr>
          <a:xfrm>
            <a:off x="6229350" y="3238500"/>
            <a:ext cx="2190750" cy="30480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adapter + error mapping</a:t>
            </a:r>
          </a:p>
        </p:txBody>
      </p:sp>
      <p:sp>
        <p:nvSpPr>
          <p:cNvPr id="274" name="Rectangle: Rounded Corners 273">
            <a:extLst>
              <a:ext uri="{FF2B5EF4-FFF2-40B4-BE49-F238E27FC236}">
                <a16:creationId xmlns:a16="http://schemas.microsoft.com/office/drawing/2014/main" id="{B18A8EA5-B3E8-4360-9257-A651594F7E7D}"/>
              </a:ext>
            </a:extLst>
          </p:cNvPr>
          <p:cNvSpPr>
            <a:spLocks noGrp="1"/>
          </p:cNvSpPr>
          <p:nvPr/>
        </p:nvSpPr>
        <p:spPr>
          <a:xfrm>
            <a:off x="1524000" y="4238625"/>
            <a:ext cx="6096000" cy="400050"/>
          </a:xfrm>
          <a:prstGeom prst="roundRect">
            <a:avLst>
              <a:gd name="adj" fmla="val 28571"/>
            </a:avLst>
          </a:prstGeom>
          <a:solidFill>
            <a:srgbClr val="EAF5FA"/>
          </a:solidFill>
          <a:ln w="0">
            <a:noFill/>
            <a:prstDash val="solid"/>
          </a:ln>
        </p:spPr>
        <p:txBody>
          <a:bodyPr/>
          <a:lstStyle/>
          <a:p>
            <a:endParaRPr/>
          </a:p>
        </p:txBody>
      </p:sp>
      <p:sp>
        <p:nvSpPr>
          <p:cNvPr id="275" name="Rectangle 274">
            <a:extLst>
              <a:ext uri="{FF2B5EF4-FFF2-40B4-BE49-F238E27FC236}">
                <a16:creationId xmlns:a16="http://schemas.microsoft.com/office/drawing/2014/main" id="{0AC0F046-9BD4-4B91-9F29-92DA4D996472}"/>
              </a:ext>
            </a:extLst>
          </p:cNvPr>
          <p:cNvSpPr>
            <a:spLocks noGrp="1"/>
          </p:cNvSpPr>
          <p:nvPr/>
        </p:nvSpPr>
        <p:spPr>
          <a:xfrm>
            <a:off x="1676400" y="4305300"/>
            <a:ext cx="5791200" cy="266700"/>
          </a:xfrm>
          <a:prstGeom prst="rect">
            <a:avLst/>
          </a:prstGeom>
          <a:noFill/>
          <a:ln w="0">
            <a:noFill/>
            <a:prstDash val="solid"/>
          </a:ln>
        </p:spPr>
        <p:txBody>
          <a:bodyPr lIns="57150" tIns="38100" rIns="57150" bIns="38100" anchor="ctr">
            <a:normAutofit fontScale="92593"/>
          </a:bodyPr>
          <a:lstStyle/>
          <a:p>
            <a:pPr algn="ctr">
              <a:buNone/>
              <a:defRPr sz="1350" b="1">
                <a:solidFill>
                  <a:srgbClr val="0B83BD"/>
                </a:solidFill>
              </a:defRPr>
            </a:pPr>
            <a:r>
              <a:rPr sz="1350" b="1">
                <a:solidFill>
                  <a:srgbClr val="0B83BD"/>
                </a:solidFill>
              </a:rPr>
              <a:t>Each part has one reason to change when the provider changes.</a:t>
            </a:r>
          </a:p>
        </p:txBody>
      </p:sp>
    </p:spTree>
    <p:extLst>
      <p:ext uri="{BB962C8B-B14F-4D97-AF65-F5344CB8AC3E}">
        <p14:creationId xmlns:p14="http://schemas.microsoft.com/office/powerpoint/2010/main" val="115071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77"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5828700"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a:solidFill>
                  <a:schemeClr val="accent2"/>
                </a:solidFill>
                <a:latin typeface="Inter Tight ExtraBold"/>
                <a:ea typeface="Inter Tight ExtraBold"/>
                <a:cs typeface="Inter Tight ExtraBold"/>
              </a:rPr>
              <a:t>Translation protects domain meaning</a:t>
            </a:r>
          </a:p>
        </p:txBody>
      </p:sp>
      <p:sp>
        <p:nvSpPr>
          <p:cNvPr id="259" name="Rectangle: Rounded Corners 258">
            <a:extLst>
              <a:ext uri="{FF2B5EF4-FFF2-40B4-BE49-F238E27FC236}">
                <a16:creationId xmlns:a16="http://schemas.microsoft.com/office/drawing/2014/main" id="{2EA8AC09-448A-420D-981D-85891617211D}"/>
              </a:ext>
            </a:extLst>
          </p:cNvPr>
          <p:cNvSpPr>
            <a:spLocks noGrp="1"/>
          </p:cNvSpPr>
          <p:nvPr/>
        </p:nvSpPr>
        <p:spPr>
          <a:xfrm>
            <a:off x="514350" y="1219200"/>
            <a:ext cx="5048250" cy="2667000"/>
          </a:xfrm>
          <a:prstGeom prst="roundRect">
            <a:avLst>
              <a:gd name="adj" fmla="val 4286"/>
            </a:avLst>
          </a:prstGeom>
          <a:solidFill>
            <a:srgbClr val="16212B"/>
          </a:solidFill>
          <a:ln w="9525">
            <a:solidFill>
              <a:srgbClr val="16212B"/>
            </a:solidFill>
            <a:prstDash val="solid"/>
          </a:ln>
        </p:spPr>
        <p:txBody>
          <a:bodyPr/>
          <a:lstStyle/>
          <a:p>
            <a:endParaRPr/>
          </a:p>
        </p:txBody>
      </p:sp>
      <p:sp>
        <p:nvSpPr>
          <p:cNvPr id="260" name="Rectangle 259">
            <a:extLst>
              <a:ext uri="{FF2B5EF4-FFF2-40B4-BE49-F238E27FC236}">
                <a16:creationId xmlns:a16="http://schemas.microsoft.com/office/drawing/2014/main" id="{943C17F5-048E-49BD-8FAC-EE0200D1AD9C}"/>
              </a:ext>
            </a:extLst>
          </p:cNvPr>
          <p:cNvSpPr>
            <a:spLocks noGrp="1"/>
          </p:cNvSpPr>
          <p:nvPr/>
        </p:nvSpPr>
        <p:spPr>
          <a:xfrm>
            <a:off x="647700" y="1314450"/>
            <a:ext cx="4781550" cy="2476500"/>
          </a:xfrm>
          <a:prstGeom prst="rect">
            <a:avLst/>
          </a:prstGeom>
          <a:noFill/>
          <a:ln w="0">
            <a:noFill/>
            <a:prstDash val="solid"/>
          </a:ln>
        </p:spPr>
        <p:txBody>
          <a:bodyPr lIns="57150" tIns="38100" rIns="57150" bIns="38100" anchor="ctr">
            <a:normAutofit fontScale="72917"/>
          </a:bodyPr>
          <a:lstStyle/>
          <a:p>
            <a:pPr algn="l">
              <a:buNone/>
              <a:defRPr sz="1200" b="0">
                <a:solidFill>
                  <a:srgbClr val="F3F4F6"/>
                </a:solidFill>
              </a:defRPr>
            </a:pPr>
            <a:r>
              <a:rPr sz="1200" b="0">
                <a:solidFill>
                  <a:srgbClr val="F3F4F6"/>
                </a:solidFill>
              </a:rPr>
              <a:t>public Weapon Translate(ExternalWeaponDto dto)</a:t>
            </a:r>
          </a:p>
          <a:p>
            <a:pPr algn="l">
              <a:buNone/>
              <a:defRPr sz="1200" b="0">
                <a:solidFill>
                  <a:srgbClr val="F3F4F6"/>
                </a:solidFill>
              </a:defRPr>
            </a:pPr>
            <a:r>
              <a:rPr sz="1200" b="0">
                <a:solidFill>
                  <a:srgbClr val="F3F4F6"/>
                </a:solidFill>
              </a:rPr>
              <a:t>{</a:t>
            </a:r>
          </a:p>
          <a:p>
            <a:pPr algn="l">
              <a:buNone/>
              <a:defRPr sz="1200" b="0">
                <a:solidFill>
                  <a:srgbClr val="F3F4F6"/>
                </a:solidFill>
              </a:defRPr>
            </a:pPr>
            <a:r>
              <a:rPr sz="1200" b="0">
                <a:solidFill>
                  <a:srgbClr val="F3F4F6"/>
                </a:solidFill>
              </a:rPr>
              <a:t>    WeaponProficiency proficiency =</a:t>
            </a:r>
          </a:p>
          <a:p>
            <a:pPr algn="l">
              <a:buNone/>
              <a:defRPr sz="1200" b="0">
                <a:solidFill>
                  <a:srgbClr val="F3F4F6"/>
                </a:solidFill>
              </a:defRPr>
            </a:pPr>
            <a:r>
              <a:rPr sz="1200" b="0">
                <a:solidFill>
                  <a:srgbClr val="F3F4F6"/>
                </a:solidFill>
              </a:rPr>
              <a:t>        dto.Category switch</a:t>
            </a:r>
          </a:p>
          <a:p>
            <a:pPr algn="l">
              <a:buNone/>
              <a:defRPr sz="1200" b="0">
                <a:solidFill>
                  <a:srgbClr val="F3F4F6"/>
                </a:solidFill>
              </a:defRPr>
            </a:pPr>
            <a:r>
              <a:rPr sz="1200" b="0">
                <a:solidFill>
                  <a:srgbClr val="F3F4F6"/>
                </a:solidFill>
              </a:rPr>
              <a:t>        {</a:t>
            </a:r>
          </a:p>
          <a:p>
            <a:pPr algn="l">
              <a:buNone/>
              <a:defRPr sz="1200" b="0">
                <a:solidFill>
                  <a:srgbClr val="F3F4F6"/>
                </a:solidFill>
              </a:defRPr>
            </a:pPr>
            <a:r>
              <a:rPr sz="1200" b="0">
                <a:solidFill>
                  <a:srgbClr val="F3F4F6"/>
                </a:solidFill>
              </a:rPr>
              <a:t>            "simple-melee" =&gt;</a:t>
            </a:r>
          </a:p>
          <a:p>
            <a:pPr>
              <a:buNone/>
              <a:defRPr>
                <a:solidFill>
                  <a:srgbClr val="F3F4F6"/>
                </a:solidFill>
              </a:defRPr>
            </a:pPr>
            <a:r>
              <a:rPr sz="1200">
                <a:solidFill>
                  <a:srgbClr val="F3F4F6"/>
                </a:solidFill>
              </a:rPr>
              <a:t>                WeaponProficiency.Simple,</a:t>
            </a:r>
          </a:p>
          <a:p>
            <a:pPr algn="l">
              <a:buNone/>
              <a:defRPr sz="1200" b="0">
                <a:solidFill>
                  <a:srgbClr val="F3F4F6"/>
                </a:solidFill>
              </a:defRPr>
            </a:pPr>
            <a:r>
              <a:rPr sz="1200" b="0">
                <a:solidFill>
                  <a:srgbClr val="F3F4F6"/>
                </a:solidFill>
              </a:rPr>
              <a:t>            "martial-melee" =&gt;</a:t>
            </a:r>
          </a:p>
          <a:p>
            <a:pPr algn="l">
              <a:buNone/>
              <a:defRPr sz="1200" b="0">
                <a:solidFill>
                  <a:srgbClr val="F3F4F6"/>
                </a:solidFill>
              </a:defRPr>
            </a:pPr>
            <a:r>
              <a:rPr sz="1200" b="0">
                <a:solidFill>
                  <a:srgbClr val="F3F4F6"/>
                </a:solidFill>
              </a:rPr>
              <a:t>                WeaponProficiency.Martial,</a:t>
            </a:r>
          </a:p>
          <a:p>
            <a:pPr algn="l">
              <a:buNone/>
              <a:defRPr sz="1200" b="0">
                <a:solidFill>
                  <a:srgbClr val="F3F4F6"/>
                </a:solidFill>
              </a:defRPr>
            </a:pPr>
            <a:r>
              <a:rPr sz="1200" b="0">
                <a:solidFill>
                  <a:srgbClr val="F3F4F6"/>
                </a:solidFill>
              </a:rPr>
              <a:t>            _ =&gt; throw new CatalogMappingException(</a:t>
            </a:r>
          </a:p>
          <a:p>
            <a:pPr algn="l">
              <a:buNone/>
              <a:defRPr sz="1200" b="0">
                <a:solidFill>
                  <a:srgbClr val="F3F4F6"/>
                </a:solidFill>
              </a:defRPr>
            </a:pPr>
            <a:r>
              <a:rPr sz="1200" b="0">
                <a:solidFill>
                  <a:srgbClr val="F3F4F6"/>
                </a:solidFill>
              </a:rPr>
              <a:t>                dto.Category)</a:t>
            </a:r>
          </a:p>
          <a:p>
            <a:pPr algn="l">
              <a:buNone/>
              <a:defRPr sz="1200" b="0">
                <a:solidFill>
                  <a:srgbClr val="F3F4F6"/>
                </a:solidFill>
              </a:defRPr>
            </a:pPr>
            <a:r>
              <a:rPr sz="1200" b="0">
                <a:solidFill>
                  <a:srgbClr val="F3F4F6"/>
                </a:solidFill>
              </a:rPr>
              <a:t>        };</a:t>
            </a:r>
          </a:p>
          <a:p>
            <a:pPr algn="l">
              <a:buNone/>
              <a:defRPr sz="1200" b="0">
                <a:solidFill>
                  <a:srgbClr val="F3F4F6"/>
                </a:solidFill>
              </a:defRPr>
            </a:pPr>
            <a:endParaRPr sz="1200" b="0">
              <a:solidFill>
                <a:srgbClr val="F3F4F6"/>
              </a:solidFill>
            </a:endParaRPr>
          </a:p>
          <a:p>
            <a:pPr algn="l">
              <a:buNone/>
              <a:defRPr sz="1200" b="0">
                <a:solidFill>
                  <a:srgbClr val="F3F4F6"/>
                </a:solidFill>
              </a:defRPr>
            </a:pPr>
            <a:r>
              <a:rPr sz="1200" b="0">
                <a:solidFill>
                  <a:srgbClr val="F3F4F6"/>
                </a:solidFill>
              </a:rPr>
              <a:t>    return Weapon.Create(</a:t>
            </a:r>
          </a:p>
          <a:p>
            <a:pPr algn="l">
              <a:buNone/>
              <a:defRPr sz="1200" b="0">
                <a:solidFill>
                  <a:srgbClr val="F3F4F6"/>
                </a:solidFill>
              </a:defRPr>
            </a:pPr>
            <a:r>
              <a:rPr sz="1200" b="0">
                <a:solidFill>
                  <a:srgbClr val="F3F4F6"/>
                </a:solidFill>
              </a:rPr>
              <a:t>        dto.DisplayName,</a:t>
            </a:r>
          </a:p>
          <a:p>
            <a:pPr algn="l">
              <a:buNone/>
              <a:defRPr sz="1200" b="0">
                <a:solidFill>
                  <a:srgbClr val="F3F4F6"/>
                </a:solidFill>
              </a:defRPr>
            </a:pPr>
            <a:r>
              <a:rPr sz="1200" b="0">
                <a:solidFill>
                  <a:srgbClr val="F3F4F6"/>
                </a:solidFill>
              </a:rPr>
              <a:t>        proficiency,</a:t>
            </a:r>
          </a:p>
          <a:p>
            <a:pPr algn="l">
              <a:buNone/>
              <a:defRPr sz="1200" b="0">
                <a:solidFill>
                  <a:srgbClr val="F3F4F6"/>
                </a:solidFill>
              </a:defRPr>
            </a:pPr>
            <a:r>
              <a:rPr sz="1200" b="0">
                <a:solidFill>
                  <a:srgbClr val="F3F4F6"/>
                </a:solidFill>
              </a:rPr>
              <a:t>        Damage.Parse(dto.Damage));</a:t>
            </a:r>
          </a:p>
          <a:p>
            <a:pPr algn="l">
              <a:buNone/>
              <a:defRPr sz="1200" b="0">
                <a:solidFill>
                  <a:srgbClr val="F3F4F6"/>
                </a:solidFill>
              </a:defRPr>
            </a:pPr>
            <a:r>
              <a:rPr sz="1200" b="0">
                <a:solidFill>
                  <a:srgbClr val="F3F4F6"/>
                </a:solidFill>
              </a:rPr>
              <a:t>}</a:t>
            </a:r>
          </a:p>
        </p:txBody>
      </p:sp>
      <p:sp>
        <p:nvSpPr>
          <p:cNvPr id="261" name="Straight Connector 260">
            <a:extLst>
              <a:ext uri="{FF2B5EF4-FFF2-40B4-BE49-F238E27FC236}">
                <a16:creationId xmlns:a16="http://schemas.microsoft.com/office/drawing/2014/main" id="{3B8D95AD-4937-4EC4-AF1A-2D5D401F488D}"/>
              </a:ext>
            </a:extLst>
          </p:cNvPr>
          <p:cNvSpPr>
            <a:spLocks noGrp="1"/>
          </p:cNvSpPr>
          <p:nvPr/>
        </p:nvSpPr>
        <p:spPr>
          <a:xfrm>
            <a:off x="6873460" y="2212561"/>
            <a:ext cx="310322" cy="0"/>
          </a:xfrm>
          <a:prstGeom prst="line">
            <a:avLst/>
          </a:prstGeom>
          <a:noFill/>
          <a:ln w="9525">
            <a:solidFill>
              <a:srgbClr val="D8E0E5"/>
            </a:solidFill>
            <a:prstDash val="solid"/>
          </a:ln>
        </p:spPr>
        <p:txBody>
          <a:bodyPr/>
          <a:lstStyle/>
          <a:p>
            <a:endParaRPr/>
          </a:p>
        </p:txBody>
      </p:sp>
      <p:sp>
        <p:nvSpPr>
          <p:cNvPr id="262" name="Rectangle: Rounded Corners 261">
            <a:extLst>
              <a:ext uri="{FF2B5EF4-FFF2-40B4-BE49-F238E27FC236}">
                <a16:creationId xmlns:a16="http://schemas.microsoft.com/office/drawing/2014/main" id="{EE1FF90F-AF1A-402B-9751-769DA4F68FA0}"/>
              </a:ext>
            </a:extLst>
          </p:cNvPr>
          <p:cNvSpPr>
            <a:spLocks noGrp="1"/>
          </p:cNvSpPr>
          <p:nvPr/>
        </p:nvSpPr>
        <p:spPr>
          <a:xfrm>
            <a:off x="5867400" y="1752600"/>
            <a:ext cx="1066800" cy="914400"/>
          </a:xfrm>
          <a:prstGeom prst="roundRect">
            <a:avLst>
              <a:gd name="adj" fmla="val 12500"/>
            </a:avLst>
          </a:prstGeom>
          <a:solidFill>
            <a:srgbClr val="F2F5F7"/>
          </a:solidFill>
          <a:ln w="9525">
            <a:solidFill>
              <a:srgbClr val="D8E0E5"/>
            </a:solidFill>
            <a:prstDash val="solid"/>
          </a:ln>
        </p:spPr>
        <p:txBody>
          <a:bodyPr/>
          <a:lstStyle/>
          <a:p>
            <a:endParaRPr/>
          </a:p>
        </p:txBody>
      </p:sp>
      <p:sp>
        <p:nvSpPr>
          <p:cNvPr id="263" name="Rectangle 262">
            <a:extLst>
              <a:ext uri="{FF2B5EF4-FFF2-40B4-BE49-F238E27FC236}">
                <a16:creationId xmlns:a16="http://schemas.microsoft.com/office/drawing/2014/main" id="{0CA3A1E8-EDB9-4FD9-A198-257DD72D7A2B}"/>
              </a:ext>
            </a:extLst>
          </p:cNvPr>
          <p:cNvSpPr>
            <a:spLocks noGrp="1"/>
          </p:cNvSpPr>
          <p:nvPr/>
        </p:nvSpPr>
        <p:spPr>
          <a:xfrm>
            <a:off x="5981699" y="1943100"/>
            <a:ext cx="891761" cy="495300"/>
          </a:xfrm>
          <a:prstGeom prst="rect">
            <a:avLst/>
          </a:prstGeom>
          <a:noFill/>
          <a:ln w="0">
            <a:noFill/>
            <a:prstDash val="solid"/>
          </a:ln>
        </p:spPr>
        <p:txBody>
          <a:bodyPr lIns="57150" tIns="38100" rIns="57150" bIns="38100" anchor="ctr">
            <a:normAutofit/>
          </a:bodyPr>
          <a:lstStyle/>
          <a:p>
            <a:pPr algn="ctr">
              <a:buNone/>
              <a:defRPr sz="1125" b="1">
                <a:solidFill>
                  <a:srgbClr val="1F2937"/>
                </a:solidFill>
              </a:defRPr>
            </a:pPr>
            <a:r>
              <a:rPr sz="1125" b="1">
                <a:solidFill>
                  <a:srgbClr val="1F2937"/>
                </a:solidFill>
              </a:rPr>
              <a:t>EXTERNAL</a:t>
            </a:r>
          </a:p>
          <a:p>
            <a:pPr algn="ctr">
              <a:buNone/>
              <a:defRPr sz="1125" b="1">
                <a:solidFill>
                  <a:srgbClr val="1F2937"/>
                </a:solidFill>
              </a:defRPr>
            </a:pPr>
            <a:r>
              <a:rPr sz="1125" b="1">
                <a:solidFill>
                  <a:srgbClr val="1F2937"/>
                </a:solidFill>
              </a:rPr>
              <a:t>DTO</a:t>
            </a:r>
          </a:p>
        </p:txBody>
      </p:sp>
      <p:sp>
        <p:nvSpPr>
          <p:cNvPr id="264" name="Rectangle: Rounded Corners 263">
            <a:extLst>
              <a:ext uri="{FF2B5EF4-FFF2-40B4-BE49-F238E27FC236}">
                <a16:creationId xmlns:a16="http://schemas.microsoft.com/office/drawing/2014/main" id="{A9C04F39-64FA-4B89-BB38-8512D27F908B}"/>
              </a:ext>
            </a:extLst>
          </p:cNvPr>
          <p:cNvSpPr>
            <a:spLocks noGrp="1"/>
          </p:cNvSpPr>
          <p:nvPr/>
        </p:nvSpPr>
        <p:spPr>
          <a:xfrm>
            <a:off x="7181850" y="1752600"/>
            <a:ext cx="1447800" cy="914400"/>
          </a:xfrm>
          <a:prstGeom prst="roundRect">
            <a:avLst>
              <a:gd name="adj" fmla="val 12500"/>
            </a:avLst>
          </a:prstGeom>
          <a:solidFill>
            <a:srgbClr val="EAF5FA"/>
          </a:solidFill>
          <a:ln w="9525">
            <a:solidFill>
              <a:srgbClr val="D8E0E5"/>
            </a:solidFill>
            <a:prstDash val="solid"/>
          </a:ln>
        </p:spPr>
        <p:txBody>
          <a:bodyPr/>
          <a:lstStyle/>
          <a:p>
            <a:endParaRPr/>
          </a:p>
        </p:txBody>
      </p:sp>
      <p:sp>
        <p:nvSpPr>
          <p:cNvPr id="265" name="Rectangle 264">
            <a:extLst>
              <a:ext uri="{FF2B5EF4-FFF2-40B4-BE49-F238E27FC236}">
                <a16:creationId xmlns:a16="http://schemas.microsoft.com/office/drawing/2014/main" id="{9A33056C-25DD-4BB3-A8EE-7E2640467F18}"/>
              </a:ext>
            </a:extLst>
          </p:cNvPr>
          <p:cNvSpPr>
            <a:spLocks noGrp="1"/>
          </p:cNvSpPr>
          <p:nvPr/>
        </p:nvSpPr>
        <p:spPr>
          <a:xfrm>
            <a:off x="7315200" y="1943100"/>
            <a:ext cx="1181100" cy="495300"/>
          </a:xfrm>
          <a:prstGeom prst="rect">
            <a:avLst/>
          </a:prstGeom>
          <a:noFill/>
          <a:ln w="0">
            <a:noFill/>
            <a:prstDash val="solid"/>
          </a:ln>
        </p:spPr>
        <p:txBody>
          <a:bodyPr lIns="57150" tIns="38100" rIns="57150" bIns="38100" anchor="ctr">
            <a:normAutofit/>
          </a:bodyPr>
          <a:lstStyle/>
          <a:p>
            <a:pPr algn="ctr">
              <a:buNone/>
              <a:defRPr sz="1125" b="1">
                <a:solidFill>
                  <a:srgbClr val="0B83BD"/>
                </a:solidFill>
              </a:defRPr>
            </a:pPr>
            <a:r>
              <a:rPr sz="1125" b="1">
                <a:solidFill>
                  <a:srgbClr val="0B83BD"/>
                </a:solidFill>
              </a:rPr>
              <a:t>DOMAIN</a:t>
            </a:r>
          </a:p>
          <a:p>
            <a:pPr algn="ctr">
              <a:buNone/>
              <a:defRPr sz="1125" b="1">
                <a:solidFill>
                  <a:srgbClr val="0B83BD"/>
                </a:solidFill>
              </a:defRPr>
            </a:pPr>
            <a:r>
              <a:rPr sz="1125" b="1">
                <a:solidFill>
                  <a:srgbClr val="0B83BD"/>
                </a:solidFill>
              </a:rPr>
              <a:t>WEAPON</a:t>
            </a:r>
          </a:p>
        </p:txBody>
      </p:sp>
      <p:sp>
        <p:nvSpPr>
          <p:cNvPr id="266" name="Rectangle 265">
            <a:extLst>
              <a:ext uri="{FF2B5EF4-FFF2-40B4-BE49-F238E27FC236}">
                <a16:creationId xmlns:a16="http://schemas.microsoft.com/office/drawing/2014/main" id="{B9C6DC3B-6300-4A64-B1DC-23596A30BF2E}"/>
              </a:ext>
            </a:extLst>
          </p:cNvPr>
          <p:cNvSpPr>
            <a:spLocks noGrp="1"/>
          </p:cNvSpPr>
          <p:nvPr/>
        </p:nvSpPr>
        <p:spPr>
          <a:xfrm>
            <a:off x="6096000" y="3133725"/>
            <a:ext cx="2343150" cy="304800"/>
          </a:xfrm>
          <a:prstGeom prst="rect">
            <a:avLst/>
          </a:prstGeom>
          <a:noFill/>
          <a:ln w="0">
            <a:noFill/>
            <a:prstDash val="solid"/>
          </a:ln>
        </p:spPr>
        <p:txBody>
          <a:bodyPr lIns="57150" tIns="38100" rIns="57150" bIns="38100" anchor="ctr">
            <a:normAutofit fontScale="63030"/>
          </a:bodyPr>
          <a:lstStyle/>
          <a:p>
            <a:pPr algn="ctr">
              <a:buNone/>
              <a:defRPr sz="1350" b="1">
                <a:solidFill>
                  <a:srgbClr val="F2994A"/>
                </a:solidFill>
              </a:defRPr>
            </a:pPr>
            <a:r>
              <a:rPr sz="1350" b="1">
                <a:solidFill>
                  <a:srgbClr val="F2994A"/>
                </a:solidFill>
              </a:rPr>
              <a:t>The translator owns the semantic decision.</a:t>
            </a:r>
          </a:p>
        </p:txBody>
      </p:sp>
      <p:sp>
        <p:nvSpPr>
          <p:cNvPr id="267" name="Rectangle 266">
            <a:extLst>
              <a:ext uri="{FF2B5EF4-FFF2-40B4-BE49-F238E27FC236}">
                <a16:creationId xmlns:a16="http://schemas.microsoft.com/office/drawing/2014/main" id="{E02E8C7A-53B1-4026-9C7B-9DAB37B7F486}"/>
              </a:ext>
            </a:extLst>
          </p:cNvPr>
          <p:cNvSpPr>
            <a:spLocks noGrp="1"/>
          </p:cNvSpPr>
          <p:nvPr/>
        </p:nvSpPr>
        <p:spPr>
          <a:xfrm>
            <a:off x="990600" y="4238625"/>
            <a:ext cx="7162800" cy="381000"/>
          </a:xfrm>
          <a:prstGeom prst="rect">
            <a:avLst/>
          </a:prstGeom>
          <a:noFill/>
          <a:ln w="0">
            <a:noFill/>
            <a:prstDash val="solid"/>
          </a:ln>
        </p:spPr>
        <p:txBody>
          <a:bodyPr lIns="57150" tIns="38100" rIns="57150" bIns="38100" anchor="ctr">
            <a:normAutofit fontScale="98539"/>
          </a:bodyPr>
          <a:lstStyle/>
          <a:p>
            <a:pPr algn="ctr">
              <a:buNone/>
              <a:defRPr sz="1425" b="1">
                <a:solidFill>
                  <a:srgbClr val="5F6B76"/>
                </a:solidFill>
              </a:defRPr>
            </a:pPr>
            <a:r>
              <a:rPr sz="1425" b="1">
                <a:solidFill>
                  <a:srgbClr val="5F6B76"/>
                </a:solidFill>
              </a:rPr>
              <a:t>Mapping is explicit so unknown external values cannot silently corrupt the domain.</a:t>
            </a:r>
          </a:p>
        </p:txBody>
      </p:sp>
    </p:spTree>
    <p:extLst>
      <p:ext uri="{BB962C8B-B14F-4D97-AF65-F5344CB8AC3E}">
        <p14:creationId xmlns:p14="http://schemas.microsoft.com/office/powerpoint/2010/main" val="115071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0"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7287640"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a:solidFill>
                  <a:schemeClr val="accent2"/>
                </a:solidFill>
                <a:latin typeface="Inter Tight ExtraBold"/>
                <a:ea typeface="Inter Tight ExtraBold"/>
                <a:cs typeface="Inter Tight ExtraBold"/>
              </a:rPr>
              <a:t>Failures must cross the boundary safely</a:t>
            </a:r>
          </a:p>
        </p:txBody>
      </p:sp>
      <p:sp>
        <p:nvSpPr>
          <p:cNvPr id="259" name="Rectangle: Rounded Corners 258">
            <a:extLst>
              <a:ext uri="{FF2B5EF4-FFF2-40B4-BE49-F238E27FC236}">
                <a16:creationId xmlns:a16="http://schemas.microsoft.com/office/drawing/2014/main" id="{6849CF51-705F-40F6-9BBE-F563C7F6E461}"/>
              </a:ext>
            </a:extLst>
          </p:cNvPr>
          <p:cNvSpPr>
            <a:spLocks noGrp="1"/>
          </p:cNvSpPr>
          <p:nvPr/>
        </p:nvSpPr>
        <p:spPr>
          <a:xfrm>
            <a:off x="514350" y="1190625"/>
            <a:ext cx="5219700" cy="3143250"/>
          </a:xfrm>
          <a:prstGeom prst="roundRect">
            <a:avLst>
              <a:gd name="adj" fmla="val 3636"/>
            </a:avLst>
          </a:prstGeom>
          <a:solidFill>
            <a:srgbClr val="16212B"/>
          </a:solidFill>
          <a:ln w="9525">
            <a:solidFill>
              <a:srgbClr val="16212B"/>
            </a:solidFill>
            <a:prstDash val="solid"/>
          </a:ln>
        </p:spPr>
        <p:txBody>
          <a:bodyPr/>
          <a:lstStyle/>
          <a:p>
            <a:endParaRPr/>
          </a:p>
        </p:txBody>
      </p:sp>
      <p:sp>
        <p:nvSpPr>
          <p:cNvPr id="260" name="Rectangle 259">
            <a:extLst>
              <a:ext uri="{FF2B5EF4-FFF2-40B4-BE49-F238E27FC236}">
                <a16:creationId xmlns:a16="http://schemas.microsoft.com/office/drawing/2014/main" id="{4EF716AD-5FA9-4412-A7BE-8FD6901A6584}"/>
              </a:ext>
            </a:extLst>
          </p:cNvPr>
          <p:cNvSpPr>
            <a:spLocks noGrp="1"/>
          </p:cNvSpPr>
          <p:nvPr/>
        </p:nvSpPr>
        <p:spPr>
          <a:xfrm>
            <a:off x="647700" y="1285875"/>
            <a:ext cx="4953000" cy="2952750"/>
          </a:xfrm>
          <a:prstGeom prst="rect">
            <a:avLst/>
          </a:prstGeom>
          <a:noFill/>
          <a:ln w="0">
            <a:noFill/>
            <a:prstDash val="solid"/>
          </a:ln>
        </p:spPr>
        <p:txBody>
          <a:bodyPr lIns="57150" tIns="38100" rIns="57150" bIns="38100" anchor="ctr">
            <a:normAutofit/>
          </a:bodyPr>
          <a:lstStyle/>
          <a:p>
            <a:pPr algn="l">
              <a:buNone/>
              <a:defRPr sz="1125" b="0">
                <a:solidFill>
                  <a:srgbClr val="F3F4F6"/>
                </a:solidFill>
              </a:defRPr>
            </a:pPr>
            <a:r>
              <a:rPr sz="1125" b="0">
                <a:solidFill>
                  <a:srgbClr val="F3F4F6"/>
                </a:solidFill>
              </a:rPr>
              <a:t>try</a:t>
            </a:r>
          </a:p>
          <a:p>
            <a:pPr algn="l">
              <a:buNone/>
              <a:defRPr sz="1125" b="0">
                <a:solidFill>
                  <a:srgbClr val="F3F4F6"/>
                </a:solidFill>
              </a:defRPr>
            </a:pPr>
            <a:r>
              <a:rPr sz="1100" b="0">
                <a:solidFill>
                  <a:srgbClr val="F3F4F6"/>
                </a:solidFill>
              </a:rPr>
              <a:t>{</a:t>
            </a:r>
          </a:p>
          <a:p>
            <a:pPr algn="l">
              <a:buNone/>
              <a:defRPr sz="1125" b="0">
                <a:solidFill>
                  <a:srgbClr val="F3F4F6"/>
                </a:solidFill>
              </a:defRPr>
            </a:pPr>
            <a:r>
              <a:rPr sz="1125" b="0">
                <a:solidFill>
                  <a:srgbClr val="F3F4F6"/>
                </a:solidFill>
              </a:rPr>
              <a:t>    ExternalWeaponDto dto =</a:t>
            </a:r>
          </a:p>
          <a:p>
            <a:pPr>
              <a:buNone/>
              <a:defRPr>
                <a:solidFill>
                  <a:srgbClr val="F3F4F6"/>
                </a:solidFill>
              </a:defRPr>
            </a:pPr>
            <a:r>
              <a:rPr sz="1100">
                <a:solidFill>
                  <a:srgbClr val="F3F4F6"/>
                </a:solidFill>
              </a:rPr>
              <a:t>        await client.GetWeapon(name);</a:t>
            </a:r>
          </a:p>
          <a:p>
            <a:pPr algn="l">
              <a:buNone/>
              <a:defRPr sz="1125" b="0">
                <a:solidFill>
                  <a:srgbClr val="F3F4F6"/>
                </a:solidFill>
              </a:defRPr>
            </a:pPr>
            <a:endParaRPr sz="1100">
              <a:solidFill>
                <a:srgbClr val="F3F4F6"/>
              </a:solidFill>
            </a:endParaRPr>
          </a:p>
          <a:p>
            <a:pPr algn="l">
              <a:buNone/>
              <a:defRPr sz="1125" b="0">
                <a:solidFill>
                  <a:srgbClr val="F3F4F6"/>
                </a:solidFill>
              </a:defRPr>
            </a:pPr>
            <a:r>
              <a:rPr sz="1100" b="0">
                <a:solidFill>
                  <a:srgbClr val="F3F4F6"/>
                </a:solidFill>
              </a:rPr>
              <a:t>    return translator.Translate(dto);</a:t>
            </a:r>
          </a:p>
          <a:p>
            <a:pPr algn="l">
              <a:buNone/>
              <a:defRPr sz="1125" b="0">
                <a:solidFill>
                  <a:srgbClr val="F3F4F6"/>
                </a:solidFill>
              </a:defRPr>
            </a:pPr>
            <a:r>
              <a:rPr sz="1100" b="0">
                <a:solidFill>
                  <a:srgbClr val="F3F4F6"/>
                </a:solidFill>
              </a:rPr>
              <a:t>}</a:t>
            </a:r>
          </a:p>
          <a:p>
            <a:pPr algn="l">
              <a:buNone/>
              <a:defRPr sz="1125" b="0">
                <a:solidFill>
                  <a:srgbClr val="F3F4F6"/>
                </a:solidFill>
              </a:defRPr>
            </a:pPr>
            <a:r>
              <a:rPr sz="1100" b="0">
                <a:solidFill>
                  <a:srgbClr val="F3F4F6"/>
                </a:solidFill>
              </a:rPr>
              <a:t>catch (ExternalNotFoundException)</a:t>
            </a:r>
          </a:p>
          <a:p>
            <a:pPr>
              <a:buNone/>
              <a:defRPr>
                <a:solidFill>
                  <a:srgbClr val="F3F4F6"/>
                </a:solidFill>
              </a:defRPr>
            </a:pPr>
            <a:r>
              <a:rPr sz="1100">
                <a:solidFill>
                  <a:srgbClr val="F3F4F6"/>
                </a:solidFill>
              </a:rPr>
              <a:t>{</a:t>
            </a:r>
          </a:p>
          <a:p>
            <a:pPr algn="l">
              <a:buNone/>
              <a:defRPr sz="1125" b="0">
                <a:solidFill>
                  <a:srgbClr val="F3F4F6"/>
                </a:solidFill>
              </a:defRPr>
            </a:pPr>
            <a:r>
              <a:rPr sz="1100" b="0">
                <a:solidFill>
                  <a:srgbClr val="F3F4F6"/>
                </a:solidFill>
              </a:rPr>
              <a:t>    throw new WeaponNotFoundException(name);</a:t>
            </a:r>
          </a:p>
          <a:p>
            <a:pPr algn="l">
              <a:buNone/>
              <a:defRPr sz="1125" b="0">
                <a:solidFill>
                  <a:srgbClr val="F3F4F6"/>
                </a:solidFill>
              </a:defRPr>
            </a:pPr>
            <a:r>
              <a:rPr sz="1100" b="0">
                <a:solidFill>
                  <a:srgbClr val="F3F4F6"/>
                </a:solidFill>
              </a:rPr>
              <a:t>}</a:t>
            </a:r>
          </a:p>
          <a:p>
            <a:pPr algn="l">
              <a:buNone/>
              <a:defRPr sz="1125" b="0">
                <a:solidFill>
                  <a:srgbClr val="F3F4F6"/>
                </a:solidFill>
              </a:defRPr>
            </a:pPr>
            <a:r>
              <a:rPr sz="1100" b="0">
                <a:solidFill>
                  <a:srgbClr val="F3F4F6"/>
                </a:solidFill>
              </a:rPr>
              <a:t>catch (ExternalPayloadException ex)</a:t>
            </a:r>
          </a:p>
          <a:p>
            <a:pPr algn="l">
              <a:buNone/>
              <a:defRPr sz="1125" b="0">
                <a:solidFill>
                  <a:srgbClr val="F3F4F6"/>
                </a:solidFill>
              </a:defRPr>
            </a:pPr>
            <a:r>
              <a:rPr sz="1100" b="0">
                <a:solidFill>
                  <a:srgbClr val="F3F4F6"/>
                </a:solidFill>
              </a:rPr>
              <a:t>{</a:t>
            </a:r>
          </a:p>
          <a:p>
            <a:pPr algn="l">
              <a:buNone/>
              <a:defRPr sz="1125" b="0">
                <a:solidFill>
                  <a:srgbClr val="F3F4F6"/>
                </a:solidFill>
              </a:defRPr>
            </a:pPr>
            <a:r>
              <a:rPr sz="1100" b="0">
                <a:solidFill>
                  <a:srgbClr val="F3F4F6"/>
                </a:solidFill>
              </a:rPr>
              <a:t>    throw new CatalogUnavailableException(</a:t>
            </a:r>
          </a:p>
          <a:p>
            <a:pPr algn="l">
              <a:buNone/>
              <a:defRPr sz="1125" b="0">
                <a:solidFill>
                  <a:srgbClr val="F3F4F6"/>
                </a:solidFill>
              </a:defRPr>
            </a:pPr>
            <a:r>
              <a:rPr sz="1100" b="0">
                <a:solidFill>
                  <a:srgbClr val="F3F4F6"/>
                </a:solidFill>
              </a:rPr>
              <a:t>        "Weapon data could not be read.", ex);</a:t>
            </a:r>
          </a:p>
          <a:p>
            <a:pPr algn="l">
              <a:buNone/>
              <a:defRPr sz="1125" b="0">
                <a:solidFill>
                  <a:srgbClr val="F3F4F6"/>
                </a:solidFill>
              </a:defRPr>
            </a:pPr>
            <a:r>
              <a:rPr sz="1100" b="0">
                <a:solidFill>
                  <a:srgbClr val="F3F4F6"/>
                </a:solidFill>
              </a:rPr>
              <a:t>}</a:t>
            </a:r>
          </a:p>
        </p:txBody>
      </p:sp>
      <p:sp>
        <p:nvSpPr>
          <p:cNvPr id="261" name="Rectangle: Rounded Corners 260">
            <a:extLst>
              <a:ext uri="{FF2B5EF4-FFF2-40B4-BE49-F238E27FC236}">
                <a16:creationId xmlns:a16="http://schemas.microsoft.com/office/drawing/2014/main" id="{008DB7B1-45D6-48F8-BE11-417831D1D5C9}"/>
              </a:ext>
            </a:extLst>
          </p:cNvPr>
          <p:cNvSpPr>
            <a:spLocks noGrp="1"/>
          </p:cNvSpPr>
          <p:nvPr/>
        </p:nvSpPr>
        <p:spPr>
          <a:xfrm>
            <a:off x="6057900" y="1352550"/>
            <a:ext cx="990600" cy="304800"/>
          </a:xfrm>
          <a:prstGeom prst="roundRect">
            <a:avLst>
              <a:gd name="adj" fmla="val 37500"/>
            </a:avLst>
          </a:prstGeom>
          <a:solidFill>
            <a:srgbClr val="F2994A"/>
          </a:solidFill>
          <a:ln w="0">
            <a:noFill/>
            <a:prstDash val="solid"/>
          </a:ln>
        </p:spPr>
        <p:txBody>
          <a:bodyPr/>
          <a:lstStyle/>
          <a:p>
            <a:endParaRPr/>
          </a:p>
        </p:txBody>
      </p:sp>
      <p:sp>
        <p:nvSpPr>
          <p:cNvPr id="262" name="Rectangle 261">
            <a:extLst>
              <a:ext uri="{FF2B5EF4-FFF2-40B4-BE49-F238E27FC236}">
                <a16:creationId xmlns:a16="http://schemas.microsoft.com/office/drawing/2014/main" id="{C66642B5-2D04-437F-86F7-F467E0539DD1}"/>
              </a:ext>
            </a:extLst>
          </p:cNvPr>
          <p:cNvSpPr>
            <a:spLocks noGrp="1"/>
          </p:cNvSpPr>
          <p:nvPr/>
        </p:nvSpPr>
        <p:spPr>
          <a:xfrm>
            <a:off x="6134100" y="1390650"/>
            <a:ext cx="838200" cy="228600"/>
          </a:xfrm>
          <a:prstGeom prst="rect">
            <a:avLst/>
          </a:prstGeom>
          <a:noFill/>
          <a:ln w="0">
            <a:noFill/>
            <a:prstDash val="solid"/>
          </a:ln>
        </p:spPr>
        <p:txBody>
          <a:bodyPr lIns="57150" tIns="38100" rIns="57150" bIns="38100" anchor="ctr">
            <a:normAutofit fontScale="95238"/>
          </a:bodyPr>
          <a:lstStyle/>
          <a:p>
            <a:pPr algn="ctr">
              <a:buNone/>
              <a:defRPr sz="1050" b="1">
                <a:solidFill>
                  <a:srgbClr val="FFFFFF"/>
                </a:solidFill>
              </a:defRPr>
            </a:pPr>
            <a:r>
              <a:rPr sz="1050" b="1">
                <a:solidFill>
                  <a:srgbClr val="FFFFFF"/>
                </a:solidFill>
              </a:rPr>
              <a:t>404</a:t>
            </a:r>
          </a:p>
        </p:txBody>
      </p:sp>
      <p:sp>
        <p:nvSpPr>
          <p:cNvPr id="263" name="Rectangle 262">
            <a:extLst>
              <a:ext uri="{FF2B5EF4-FFF2-40B4-BE49-F238E27FC236}">
                <a16:creationId xmlns:a16="http://schemas.microsoft.com/office/drawing/2014/main" id="{9CE33FB3-7D74-4C7D-96BF-2A0D34A29F76}"/>
              </a:ext>
            </a:extLst>
          </p:cNvPr>
          <p:cNvSpPr>
            <a:spLocks noGrp="1"/>
          </p:cNvSpPr>
          <p:nvPr/>
        </p:nvSpPr>
        <p:spPr>
          <a:xfrm>
            <a:off x="7200900" y="1352550"/>
            <a:ext cx="1390650" cy="323850"/>
          </a:xfrm>
          <a:prstGeom prst="rect">
            <a:avLst/>
          </a:prstGeom>
          <a:noFill/>
          <a:ln w="0">
            <a:noFill/>
            <a:prstDash val="solid"/>
          </a:ln>
        </p:spPr>
        <p:txBody>
          <a:bodyPr lIns="57150" tIns="38100" rIns="57150" bIns="38100" anchor="ctr">
            <a:normAutofit fontScale="96121"/>
          </a:bodyPr>
          <a:lstStyle/>
          <a:p>
            <a:pPr algn="l">
              <a:buNone/>
              <a:defRPr sz="1275" b="0">
                <a:solidFill>
                  <a:srgbClr val="5F6B76"/>
                </a:solidFill>
              </a:defRPr>
            </a:pPr>
            <a:r>
              <a:rPr sz="1275" b="0">
                <a:solidFill>
                  <a:srgbClr val="5F6B76"/>
                </a:solidFill>
              </a:rPr>
              <a:t>Weapon not found</a:t>
            </a:r>
          </a:p>
        </p:txBody>
      </p:sp>
      <p:sp>
        <p:nvSpPr>
          <p:cNvPr id="264" name="Rectangle: Rounded Corners 263">
            <a:extLst>
              <a:ext uri="{FF2B5EF4-FFF2-40B4-BE49-F238E27FC236}">
                <a16:creationId xmlns:a16="http://schemas.microsoft.com/office/drawing/2014/main" id="{D99BE397-51FB-430E-A2CB-445BC69CCB8B}"/>
              </a:ext>
            </a:extLst>
          </p:cNvPr>
          <p:cNvSpPr>
            <a:spLocks noGrp="1"/>
          </p:cNvSpPr>
          <p:nvPr/>
        </p:nvSpPr>
        <p:spPr>
          <a:xfrm>
            <a:off x="6057900" y="2228850"/>
            <a:ext cx="990600" cy="304800"/>
          </a:xfrm>
          <a:prstGeom prst="roundRect">
            <a:avLst>
              <a:gd name="adj" fmla="val 37500"/>
            </a:avLst>
          </a:prstGeom>
          <a:solidFill>
            <a:srgbClr val="EAF5FA"/>
          </a:solidFill>
          <a:ln w="0">
            <a:noFill/>
            <a:prstDash val="solid"/>
          </a:ln>
        </p:spPr>
        <p:txBody>
          <a:bodyPr/>
          <a:lstStyle/>
          <a:p>
            <a:endParaRPr/>
          </a:p>
        </p:txBody>
      </p:sp>
      <p:sp>
        <p:nvSpPr>
          <p:cNvPr id="265" name="Rectangle 264">
            <a:extLst>
              <a:ext uri="{FF2B5EF4-FFF2-40B4-BE49-F238E27FC236}">
                <a16:creationId xmlns:a16="http://schemas.microsoft.com/office/drawing/2014/main" id="{F27CD2DE-B87D-4D92-B8F8-91135FEA686E}"/>
              </a:ext>
            </a:extLst>
          </p:cNvPr>
          <p:cNvSpPr>
            <a:spLocks noGrp="1"/>
          </p:cNvSpPr>
          <p:nvPr/>
        </p:nvSpPr>
        <p:spPr>
          <a:xfrm>
            <a:off x="6134100" y="2266950"/>
            <a:ext cx="838200" cy="228600"/>
          </a:xfrm>
          <a:prstGeom prst="rect">
            <a:avLst/>
          </a:prstGeom>
          <a:noFill/>
          <a:ln w="0">
            <a:noFill/>
            <a:prstDash val="solid"/>
          </a:ln>
        </p:spPr>
        <p:txBody>
          <a:bodyPr lIns="57150" tIns="38100" rIns="57150" bIns="38100" anchor="ctr">
            <a:normAutofit fontScale="95238"/>
          </a:bodyPr>
          <a:lstStyle/>
          <a:p>
            <a:pPr algn="ctr">
              <a:buNone/>
              <a:defRPr sz="1050" b="1">
                <a:solidFill>
                  <a:srgbClr val="0B83BD"/>
                </a:solidFill>
              </a:defRPr>
            </a:pPr>
            <a:r>
              <a:rPr sz="1050" b="1">
                <a:solidFill>
                  <a:srgbClr val="0B83BD"/>
                </a:solidFill>
              </a:rPr>
              <a:t>timeout</a:t>
            </a:r>
          </a:p>
        </p:txBody>
      </p:sp>
      <p:sp>
        <p:nvSpPr>
          <p:cNvPr id="266" name="Rectangle 265">
            <a:extLst>
              <a:ext uri="{FF2B5EF4-FFF2-40B4-BE49-F238E27FC236}">
                <a16:creationId xmlns:a16="http://schemas.microsoft.com/office/drawing/2014/main" id="{00123039-E06D-4019-993C-38F70D339286}"/>
              </a:ext>
            </a:extLst>
          </p:cNvPr>
          <p:cNvSpPr>
            <a:spLocks noGrp="1"/>
          </p:cNvSpPr>
          <p:nvPr/>
        </p:nvSpPr>
        <p:spPr>
          <a:xfrm>
            <a:off x="7200900" y="2228850"/>
            <a:ext cx="1390650" cy="323850"/>
          </a:xfrm>
          <a:prstGeom prst="rect">
            <a:avLst/>
          </a:prstGeom>
          <a:noFill/>
          <a:ln w="0">
            <a:noFill/>
            <a:prstDash val="solid"/>
          </a:ln>
        </p:spPr>
        <p:txBody>
          <a:bodyPr lIns="57150" tIns="38100" rIns="57150" bIns="38100" anchor="ctr">
            <a:normAutofit fontScale="89897"/>
          </a:bodyPr>
          <a:lstStyle/>
          <a:p>
            <a:pPr algn="l">
              <a:buNone/>
              <a:defRPr sz="1275" b="0">
                <a:solidFill>
                  <a:srgbClr val="5F6B76"/>
                </a:solidFill>
              </a:defRPr>
            </a:pPr>
            <a:r>
              <a:rPr sz="1275" b="0">
                <a:solidFill>
                  <a:srgbClr val="5F6B76"/>
                </a:solidFill>
              </a:rPr>
              <a:t>Catalog unavailable</a:t>
            </a:r>
          </a:p>
        </p:txBody>
      </p:sp>
      <p:sp>
        <p:nvSpPr>
          <p:cNvPr id="267" name="Rectangle: Rounded Corners 266">
            <a:extLst>
              <a:ext uri="{FF2B5EF4-FFF2-40B4-BE49-F238E27FC236}">
                <a16:creationId xmlns:a16="http://schemas.microsoft.com/office/drawing/2014/main" id="{970302F7-5D3E-4FFB-B907-71B4A376135C}"/>
              </a:ext>
            </a:extLst>
          </p:cNvPr>
          <p:cNvSpPr>
            <a:spLocks noGrp="1"/>
          </p:cNvSpPr>
          <p:nvPr/>
        </p:nvSpPr>
        <p:spPr>
          <a:xfrm>
            <a:off x="6057900" y="3105150"/>
            <a:ext cx="990600" cy="304800"/>
          </a:xfrm>
          <a:prstGeom prst="roundRect">
            <a:avLst>
              <a:gd name="adj" fmla="val 37500"/>
            </a:avLst>
          </a:prstGeom>
          <a:solidFill>
            <a:srgbClr val="EAF5FA"/>
          </a:solidFill>
          <a:ln w="0">
            <a:noFill/>
            <a:prstDash val="solid"/>
          </a:ln>
        </p:spPr>
        <p:txBody>
          <a:bodyPr/>
          <a:lstStyle/>
          <a:p>
            <a:endParaRPr/>
          </a:p>
        </p:txBody>
      </p:sp>
      <p:sp>
        <p:nvSpPr>
          <p:cNvPr id="268" name="Rectangle 267">
            <a:extLst>
              <a:ext uri="{FF2B5EF4-FFF2-40B4-BE49-F238E27FC236}">
                <a16:creationId xmlns:a16="http://schemas.microsoft.com/office/drawing/2014/main" id="{3AA93672-A419-4501-86B0-3B9559CADF85}"/>
              </a:ext>
            </a:extLst>
          </p:cNvPr>
          <p:cNvSpPr>
            <a:spLocks noGrp="1"/>
          </p:cNvSpPr>
          <p:nvPr/>
        </p:nvSpPr>
        <p:spPr>
          <a:xfrm>
            <a:off x="6134100" y="3143250"/>
            <a:ext cx="838200" cy="228600"/>
          </a:xfrm>
          <a:prstGeom prst="rect">
            <a:avLst/>
          </a:prstGeom>
          <a:noFill/>
          <a:ln w="0">
            <a:noFill/>
            <a:prstDash val="solid"/>
          </a:ln>
        </p:spPr>
        <p:txBody>
          <a:bodyPr lIns="57150" tIns="38100" rIns="57150" bIns="38100" anchor="ctr">
            <a:normAutofit fontScale="95238"/>
          </a:bodyPr>
          <a:lstStyle/>
          <a:p>
            <a:pPr algn="ctr">
              <a:buNone/>
              <a:defRPr sz="1050" b="1">
                <a:solidFill>
                  <a:srgbClr val="0B83BD"/>
                </a:solidFill>
              </a:defRPr>
            </a:pPr>
            <a:r>
              <a:rPr sz="1050" b="1">
                <a:solidFill>
                  <a:srgbClr val="0B83BD"/>
                </a:solidFill>
              </a:rPr>
              <a:t>bad data</a:t>
            </a:r>
          </a:p>
        </p:txBody>
      </p:sp>
      <p:sp>
        <p:nvSpPr>
          <p:cNvPr id="269" name="Rectangle 268">
            <a:extLst>
              <a:ext uri="{FF2B5EF4-FFF2-40B4-BE49-F238E27FC236}">
                <a16:creationId xmlns:a16="http://schemas.microsoft.com/office/drawing/2014/main" id="{AED97BE8-53C6-4CD3-903E-5C012BFBAFBC}"/>
              </a:ext>
            </a:extLst>
          </p:cNvPr>
          <p:cNvSpPr>
            <a:spLocks noGrp="1"/>
          </p:cNvSpPr>
          <p:nvPr/>
        </p:nvSpPr>
        <p:spPr>
          <a:xfrm>
            <a:off x="7200900" y="3105150"/>
            <a:ext cx="1390650" cy="32385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Mapping failure</a:t>
            </a:r>
          </a:p>
        </p:txBody>
      </p:sp>
      <p:sp>
        <p:nvSpPr>
          <p:cNvPr id="270" name="Rectangle 269">
            <a:extLst>
              <a:ext uri="{FF2B5EF4-FFF2-40B4-BE49-F238E27FC236}">
                <a16:creationId xmlns:a16="http://schemas.microsoft.com/office/drawing/2014/main" id="{BBCEB92D-67B7-48E5-8F12-2052AC2D167A}"/>
              </a:ext>
            </a:extLst>
          </p:cNvPr>
          <p:cNvSpPr>
            <a:spLocks noGrp="1"/>
          </p:cNvSpPr>
          <p:nvPr/>
        </p:nvSpPr>
        <p:spPr>
          <a:xfrm>
            <a:off x="6019800" y="4010025"/>
            <a:ext cx="2609850" cy="552450"/>
          </a:xfrm>
          <a:prstGeom prst="rect">
            <a:avLst/>
          </a:prstGeom>
          <a:noFill/>
          <a:ln w="0">
            <a:noFill/>
            <a:prstDash val="solid"/>
          </a:ln>
        </p:spPr>
        <p:txBody>
          <a:bodyPr lIns="57150" tIns="38100" rIns="57150" bIns="38100" anchor="ctr">
            <a:normAutofit fontScale="77160"/>
          </a:bodyPr>
          <a:lstStyle/>
          <a:p>
            <a:pPr algn="ctr">
              <a:buNone/>
              <a:defRPr sz="1350" b="1">
                <a:solidFill>
                  <a:srgbClr val="0B83BD"/>
                </a:solidFill>
              </a:defRPr>
            </a:pPr>
            <a:r>
              <a:rPr sz="1350" b="1">
                <a:solidFill>
                  <a:srgbClr val="0B83BD"/>
                </a:solidFill>
              </a:rPr>
              <a:t>Transport details become application-level outcomes before they travel inward.</a:t>
            </a:r>
          </a:p>
        </p:txBody>
      </p:sp>
    </p:spTree>
    <p:extLst>
      <p:ext uri="{BB962C8B-B14F-4D97-AF65-F5344CB8AC3E}">
        <p14:creationId xmlns:p14="http://schemas.microsoft.com/office/powerpoint/2010/main" val="115071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0" y="0"/>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4"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6885658"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a:solidFill>
                  <a:schemeClr val="accent2"/>
                </a:solidFill>
                <a:latin typeface="Inter Tight ExtraBold"/>
                <a:ea typeface="Inter Tight ExtraBold"/>
                <a:cs typeface="Inter Tight ExtraBold"/>
              </a:rPr>
              <a:t>Not every mapper is an anti-corruption layer</a:t>
            </a:r>
          </a:p>
        </p:txBody>
      </p:sp>
      <p:sp>
        <p:nvSpPr>
          <p:cNvPr id="259" name="Rectangle 258">
            <a:extLst>
              <a:ext uri="{FF2B5EF4-FFF2-40B4-BE49-F238E27FC236}">
                <a16:creationId xmlns:a16="http://schemas.microsoft.com/office/drawing/2014/main" id="{9CFF8026-6971-4016-B953-781541F49FE7}"/>
              </a:ext>
            </a:extLst>
          </p:cNvPr>
          <p:cNvSpPr>
            <a:spLocks noGrp="1"/>
          </p:cNvSpPr>
          <p:nvPr/>
        </p:nvSpPr>
        <p:spPr>
          <a:xfrm>
            <a:off x="514350" y="1200150"/>
            <a:ext cx="1562100" cy="285750"/>
          </a:xfrm>
          <a:prstGeom prst="rect">
            <a:avLst/>
          </a:prstGeom>
          <a:noFill/>
          <a:ln w="0">
            <a:noFill/>
            <a:prstDash val="solid"/>
          </a:ln>
        </p:spPr>
        <p:txBody>
          <a:bodyPr lIns="57150" tIns="38100" rIns="57150" bIns="38100" anchor="ctr">
            <a:normAutofit/>
          </a:bodyPr>
          <a:lstStyle/>
          <a:p>
            <a:pPr algn="l">
              <a:buNone/>
              <a:defRPr sz="1125" b="1">
                <a:solidFill>
                  <a:srgbClr val="0B83BD"/>
                </a:solidFill>
              </a:defRPr>
            </a:pPr>
            <a:r>
              <a:rPr sz="1125" b="1">
                <a:solidFill>
                  <a:srgbClr val="0B83BD"/>
                </a:solidFill>
              </a:rPr>
              <a:t>API MAPPING</a:t>
            </a:r>
          </a:p>
        </p:txBody>
      </p:sp>
      <p:sp>
        <p:nvSpPr>
          <p:cNvPr id="260" name="Rectangle 259">
            <a:extLst>
              <a:ext uri="{FF2B5EF4-FFF2-40B4-BE49-F238E27FC236}">
                <a16:creationId xmlns:a16="http://schemas.microsoft.com/office/drawing/2014/main" id="{44E03BB0-D638-413B-B88F-ABCE83E27B59}"/>
              </a:ext>
            </a:extLst>
          </p:cNvPr>
          <p:cNvSpPr>
            <a:spLocks noGrp="1"/>
          </p:cNvSpPr>
          <p:nvPr/>
        </p:nvSpPr>
        <p:spPr>
          <a:xfrm>
            <a:off x="2190750" y="1200150"/>
            <a:ext cx="2419350" cy="419100"/>
          </a:xfrm>
          <a:prstGeom prst="rect">
            <a:avLst/>
          </a:prstGeom>
          <a:noFill/>
          <a:ln w="0">
            <a:noFill/>
            <a:prstDash val="solid"/>
          </a:ln>
        </p:spPr>
        <p:txBody>
          <a:bodyPr lIns="57150" tIns="38100" rIns="57150" bIns="38100" anchor="ctr">
            <a:normAutofit/>
          </a:bodyPr>
          <a:lstStyle/>
          <a:p>
            <a:pPr algn="l">
              <a:buNone/>
              <a:defRPr sz="1200" b="0">
                <a:solidFill>
                  <a:srgbClr val="1F2937"/>
                </a:solidFill>
              </a:defRPr>
            </a:pPr>
            <a:r>
              <a:rPr sz="1200" b="0">
                <a:solidFill>
                  <a:srgbClr val="1F2937"/>
                </a:solidFill>
              </a:rPr>
              <a:t>HTTP contract → use case</a:t>
            </a:r>
          </a:p>
        </p:txBody>
      </p:sp>
      <p:sp>
        <p:nvSpPr>
          <p:cNvPr id="261" name="Rectangle 260">
            <a:extLst>
              <a:ext uri="{FF2B5EF4-FFF2-40B4-BE49-F238E27FC236}">
                <a16:creationId xmlns:a16="http://schemas.microsoft.com/office/drawing/2014/main" id="{E933509D-03F7-4881-BAFC-2CA2AC255254}"/>
              </a:ext>
            </a:extLst>
          </p:cNvPr>
          <p:cNvSpPr>
            <a:spLocks noGrp="1"/>
          </p:cNvSpPr>
          <p:nvPr/>
        </p:nvSpPr>
        <p:spPr>
          <a:xfrm>
            <a:off x="4857750" y="1200150"/>
            <a:ext cx="3771900" cy="419100"/>
          </a:xfrm>
          <a:prstGeom prst="rect">
            <a:avLst/>
          </a:prstGeom>
          <a:noFill/>
          <a:ln w="0">
            <a:noFill/>
            <a:prstDash val="solid"/>
          </a:ln>
        </p:spPr>
        <p:txBody>
          <a:bodyPr lIns="57150" tIns="38100" rIns="57150" bIns="38100" anchor="ctr">
            <a:normAutofit/>
          </a:bodyPr>
          <a:lstStyle/>
          <a:p>
            <a:pPr algn="l">
              <a:buNone/>
              <a:defRPr sz="1200" b="0">
                <a:solidFill>
                  <a:srgbClr val="5F6B76"/>
                </a:solidFill>
              </a:defRPr>
            </a:pPr>
            <a:r>
              <a:rPr sz="1200" b="0">
                <a:solidFill>
                  <a:srgbClr val="5F6B76"/>
                </a:solidFill>
              </a:rPr>
              <a:t>presentation boundary</a:t>
            </a:r>
          </a:p>
        </p:txBody>
      </p:sp>
      <p:sp>
        <p:nvSpPr>
          <p:cNvPr id="262" name="Straight Connector 261">
            <a:extLst>
              <a:ext uri="{FF2B5EF4-FFF2-40B4-BE49-F238E27FC236}">
                <a16:creationId xmlns:a16="http://schemas.microsoft.com/office/drawing/2014/main" id="{3F52174C-7AA3-4A10-9E5B-A94252445CEE}"/>
              </a:ext>
            </a:extLst>
          </p:cNvPr>
          <p:cNvSpPr>
            <a:spLocks noGrp="1"/>
          </p:cNvSpPr>
          <p:nvPr/>
        </p:nvSpPr>
        <p:spPr>
          <a:xfrm>
            <a:off x="514350" y="1819275"/>
            <a:ext cx="8115300" cy="0"/>
          </a:xfrm>
          <a:prstGeom prst="line">
            <a:avLst/>
          </a:prstGeom>
          <a:noFill/>
          <a:ln w="9525">
            <a:solidFill>
              <a:srgbClr val="D8E0E5"/>
            </a:solidFill>
            <a:prstDash val="solid"/>
          </a:ln>
        </p:spPr>
        <p:txBody>
          <a:bodyPr/>
          <a:lstStyle/>
          <a:p>
            <a:endParaRPr/>
          </a:p>
        </p:txBody>
      </p:sp>
      <p:sp>
        <p:nvSpPr>
          <p:cNvPr id="263" name="Rectangle 262">
            <a:extLst>
              <a:ext uri="{FF2B5EF4-FFF2-40B4-BE49-F238E27FC236}">
                <a16:creationId xmlns:a16="http://schemas.microsoft.com/office/drawing/2014/main" id="{43D4C614-A323-456E-B3FF-CD8311ADBE1D}"/>
              </a:ext>
            </a:extLst>
          </p:cNvPr>
          <p:cNvSpPr>
            <a:spLocks noGrp="1"/>
          </p:cNvSpPr>
          <p:nvPr/>
        </p:nvSpPr>
        <p:spPr>
          <a:xfrm>
            <a:off x="514350" y="2019300"/>
            <a:ext cx="1562100" cy="285750"/>
          </a:xfrm>
          <a:prstGeom prst="rect">
            <a:avLst/>
          </a:prstGeom>
          <a:noFill/>
          <a:ln w="0">
            <a:noFill/>
            <a:prstDash val="solid"/>
          </a:ln>
        </p:spPr>
        <p:txBody>
          <a:bodyPr lIns="57150" tIns="38100" rIns="57150" bIns="38100" anchor="ctr">
            <a:normAutofit/>
          </a:bodyPr>
          <a:lstStyle/>
          <a:p>
            <a:pPr algn="l">
              <a:buNone/>
              <a:defRPr sz="1125" b="1">
                <a:solidFill>
                  <a:srgbClr val="0B83BD"/>
                </a:solidFill>
              </a:defRPr>
            </a:pPr>
            <a:r>
              <a:rPr sz="1125" b="1">
                <a:solidFill>
                  <a:srgbClr val="0B83BD"/>
                </a:solidFill>
              </a:rPr>
              <a:t>REPOSITORY</a:t>
            </a:r>
          </a:p>
        </p:txBody>
      </p:sp>
      <p:sp>
        <p:nvSpPr>
          <p:cNvPr id="264" name="Rectangle 263">
            <a:extLst>
              <a:ext uri="{FF2B5EF4-FFF2-40B4-BE49-F238E27FC236}">
                <a16:creationId xmlns:a16="http://schemas.microsoft.com/office/drawing/2014/main" id="{4AC76191-7EF7-4BEA-A547-B8985A5DC4BA}"/>
              </a:ext>
            </a:extLst>
          </p:cNvPr>
          <p:cNvSpPr>
            <a:spLocks noGrp="1"/>
          </p:cNvSpPr>
          <p:nvPr/>
        </p:nvSpPr>
        <p:spPr>
          <a:xfrm>
            <a:off x="2190750" y="2019300"/>
            <a:ext cx="2419350" cy="419100"/>
          </a:xfrm>
          <a:prstGeom prst="rect">
            <a:avLst/>
          </a:prstGeom>
          <a:noFill/>
          <a:ln w="0">
            <a:noFill/>
            <a:prstDash val="solid"/>
          </a:ln>
        </p:spPr>
        <p:txBody>
          <a:bodyPr lIns="57150" tIns="38100" rIns="57150" bIns="38100" anchor="ctr">
            <a:normAutofit/>
          </a:bodyPr>
          <a:lstStyle/>
          <a:p>
            <a:pPr algn="l">
              <a:buNone/>
              <a:defRPr sz="1200" b="0">
                <a:solidFill>
                  <a:srgbClr val="1F2937"/>
                </a:solidFill>
              </a:defRPr>
            </a:pPr>
            <a:r>
              <a:rPr sz="1200" b="0">
                <a:solidFill>
                  <a:srgbClr val="1F2937"/>
                </a:solidFill>
              </a:rPr>
              <a:t>domain ↔ persistence</a:t>
            </a:r>
          </a:p>
        </p:txBody>
      </p:sp>
      <p:sp>
        <p:nvSpPr>
          <p:cNvPr id="265" name="Rectangle 264">
            <a:extLst>
              <a:ext uri="{FF2B5EF4-FFF2-40B4-BE49-F238E27FC236}">
                <a16:creationId xmlns:a16="http://schemas.microsoft.com/office/drawing/2014/main" id="{1ADEE227-11D5-440E-B442-48A75AA6DF8A}"/>
              </a:ext>
            </a:extLst>
          </p:cNvPr>
          <p:cNvSpPr>
            <a:spLocks noGrp="1"/>
          </p:cNvSpPr>
          <p:nvPr/>
        </p:nvSpPr>
        <p:spPr>
          <a:xfrm>
            <a:off x="4857750" y="2019300"/>
            <a:ext cx="3771900" cy="419100"/>
          </a:xfrm>
          <a:prstGeom prst="rect">
            <a:avLst/>
          </a:prstGeom>
          <a:noFill/>
          <a:ln w="0">
            <a:noFill/>
            <a:prstDash val="solid"/>
          </a:ln>
        </p:spPr>
        <p:txBody>
          <a:bodyPr lIns="57150" tIns="38100" rIns="57150" bIns="38100" anchor="ctr">
            <a:normAutofit/>
          </a:bodyPr>
          <a:lstStyle/>
          <a:p>
            <a:pPr algn="l">
              <a:buNone/>
              <a:defRPr sz="1200" b="0">
                <a:solidFill>
                  <a:srgbClr val="5F6B76"/>
                </a:solidFill>
              </a:defRPr>
            </a:pPr>
            <a:r>
              <a:rPr sz="1200" b="0">
                <a:solidFill>
                  <a:srgbClr val="5F6B76"/>
                </a:solidFill>
              </a:rPr>
              <a:t>data boundary</a:t>
            </a:r>
          </a:p>
        </p:txBody>
      </p:sp>
      <p:sp>
        <p:nvSpPr>
          <p:cNvPr id="266" name="Straight Connector 265">
            <a:extLst>
              <a:ext uri="{FF2B5EF4-FFF2-40B4-BE49-F238E27FC236}">
                <a16:creationId xmlns:a16="http://schemas.microsoft.com/office/drawing/2014/main" id="{9EE390B6-FB9E-4D50-A05A-2A049627A67B}"/>
              </a:ext>
            </a:extLst>
          </p:cNvPr>
          <p:cNvSpPr>
            <a:spLocks noGrp="1"/>
          </p:cNvSpPr>
          <p:nvPr/>
        </p:nvSpPr>
        <p:spPr>
          <a:xfrm>
            <a:off x="514350" y="2638425"/>
            <a:ext cx="8115300" cy="0"/>
          </a:xfrm>
          <a:prstGeom prst="line">
            <a:avLst/>
          </a:prstGeom>
          <a:noFill/>
          <a:ln w="9525">
            <a:solidFill>
              <a:srgbClr val="D8E0E5"/>
            </a:solidFill>
            <a:prstDash val="solid"/>
          </a:ln>
        </p:spPr>
        <p:txBody>
          <a:bodyPr/>
          <a:lstStyle/>
          <a:p>
            <a:endParaRPr/>
          </a:p>
        </p:txBody>
      </p:sp>
      <p:sp>
        <p:nvSpPr>
          <p:cNvPr id="267" name="Rectangle 266">
            <a:extLst>
              <a:ext uri="{FF2B5EF4-FFF2-40B4-BE49-F238E27FC236}">
                <a16:creationId xmlns:a16="http://schemas.microsoft.com/office/drawing/2014/main" id="{B76FC180-CD86-405A-9F20-F55D8F709E0F}"/>
              </a:ext>
            </a:extLst>
          </p:cNvPr>
          <p:cNvSpPr>
            <a:spLocks noGrp="1"/>
          </p:cNvSpPr>
          <p:nvPr/>
        </p:nvSpPr>
        <p:spPr>
          <a:xfrm>
            <a:off x="514350" y="2838450"/>
            <a:ext cx="1562100" cy="285750"/>
          </a:xfrm>
          <a:prstGeom prst="rect">
            <a:avLst/>
          </a:prstGeom>
          <a:noFill/>
          <a:ln w="0">
            <a:noFill/>
            <a:prstDash val="solid"/>
          </a:ln>
        </p:spPr>
        <p:txBody>
          <a:bodyPr lIns="57150" tIns="38100" rIns="57150" bIns="38100" anchor="ctr">
            <a:normAutofit/>
          </a:bodyPr>
          <a:lstStyle/>
          <a:p>
            <a:pPr algn="l">
              <a:buNone/>
              <a:defRPr sz="1125" b="1">
                <a:solidFill>
                  <a:srgbClr val="0B83BD"/>
                </a:solidFill>
              </a:defRPr>
            </a:pPr>
            <a:r>
              <a:rPr sz="1125" b="1">
                <a:solidFill>
                  <a:srgbClr val="0B83BD"/>
                </a:solidFill>
              </a:rPr>
              <a:t>ACL</a:t>
            </a:r>
          </a:p>
        </p:txBody>
      </p:sp>
      <p:sp>
        <p:nvSpPr>
          <p:cNvPr id="268" name="Rectangle 267">
            <a:extLst>
              <a:ext uri="{FF2B5EF4-FFF2-40B4-BE49-F238E27FC236}">
                <a16:creationId xmlns:a16="http://schemas.microsoft.com/office/drawing/2014/main" id="{B51D2A06-311D-45EF-AD1D-2B1600E3266A}"/>
              </a:ext>
            </a:extLst>
          </p:cNvPr>
          <p:cNvSpPr>
            <a:spLocks noGrp="1"/>
          </p:cNvSpPr>
          <p:nvPr/>
        </p:nvSpPr>
        <p:spPr>
          <a:xfrm>
            <a:off x="2190750" y="2838450"/>
            <a:ext cx="2419350" cy="419100"/>
          </a:xfrm>
          <a:prstGeom prst="rect">
            <a:avLst/>
          </a:prstGeom>
          <a:noFill/>
          <a:ln w="0">
            <a:noFill/>
            <a:prstDash val="solid"/>
          </a:ln>
        </p:spPr>
        <p:txBody>
          <a:bodyPr lIns="57150" tIns="38100" rIns="57150" bIns="38100" anchor="ctr">
            <a:normAutofit/>
          </a:bodyPr>
          <a:lstStyle/>
          <a:p>
            <a:pPr algn="l">
              <a:buNone/>
              <a:defRPr sz="1200" b="0">
                <a:solidFill>
                  <a:srgbClr val="1F2937"/>
                </a:solidFill>
              </a:defRPr>
            </a:pPr>
            <a:r>
              <a:rPr sz="1200" b="0">
                <a:solidFill>
                  <a:srgbClr val="1F2937"/>
                </a:solidFill>
              </a:rPr>
              <a:t>external model → our model</a:t>
            </a:r>
          </a:p>
        </p:txBody>
      </p:sp>
      <p:sp>
        <p:nvSpPr>
          <p:cNvPr id="269" name="Rectangle 268">
            <a:extLst>
              <a:ext uri="{FF2B5EF4-FFF2-40B4-BE49-F238E27FC236}">
                <a16:creationId xmlns:a16="http://schemas.microsoft.com/office/drawing/2014/main" id="{9551372A-3D60-403F-BF54-2C7DBC39B1ED}"/>
              </a:ext>
            </a:extLst>
          </p:cNvPr>
          <p:cNvSpPr>
            <a:spLocks noGrp="1"/>
          </p:cNvSpPr>
          <p:nvPr/>
        </p:nvSpPr>
        <p:spPr>
          <a:xfrm>
            <a:off x="4857750" y="2838450"/>
            <a:ext cx="3771900" cy="419100"/>
          </a:xfrm>
          <a:prstGeom prst="rect">
            <a:avLst/>
          </a:prstGeom>
          <a:noFill/>
          <a:ln w="0">
            <a:noFill/>
            <a:prstDash val="solid"/>
          </a:ln>
        </p:spPr>
        <p:txBody>
          <a:bodyPr lIns="57150" tIns="38100" rIns="57150" bIns="38100" anchor="ctr">
            <a:normAutofit/>
          </a:bodyPr>
          <a:lstStyle/>
          <a:p>
            <a:pPr algn="l">
              <a:buNone/>
              <a:defRPr sz="1200" b="0">
                <a:solidFill>
                  <a:srgbClr val="5F6B76"/>
                </a:solidFill>
              </a:defRPr>
            </a:pPr>
            <a:r>
              <a:rPr sz="1200" b="0">
                <a:solidFill>
                  <a:srgbClr val="5F6B76"/>
                </a:solidFill>
              </a:rPr>
              <a:t>semantic boundary</a:t>
            </a:r>
          </a:p>
        </p:txBody>
      </p:sp>
      <p:sp>
        <p:nvSpPr>
          <p:cNvPr id="270" name="Straight Connector 269">
            <a:extLst>
              <a:ext uri="{FF2B5EF4-FFF2-40B4-BE49-F238E27FC236}">
                <a16:creationId xmlns:a16="http://schemas.microsoft.com/office/drawing/2014/main" id="{2A4B706F-8BCC-4AB1-A59D-67DE024F079C}"/>
              </a:ext>
            </a:extLst>
          </p:cNvPr>
          <p:cNvSpPr>
            <a:spLocks noGrp="1"/>
          </p:cNvSpPr>
          <p:nvPr/>
        </p:nvSpPr>
        <p:spPr>
          <a:xfrm>
            <a:off x="514350" y="3457575"/>
            <a:ext cx="8115300" cy="0"/>
          </a:xfrm>
          <a:prstGeom prst="line">
            <a:avLst/>
          </a:prstGeom>
          <a:noFill/>
          <a:ln w="9525">
            <a:solidFill>
              <a:srgbClr val="D8E0E5"/>
            </a:solidFill>
            <a:prstDash val="solid"/>
          </a:ln>
        </p:spPr>
        <p:txBody>
          <a:bodyPr/>
          <a:lstStyle/>
          <a:p>
            <a:endParaRPr/>
          </a:p>
        </p:txBody>
      </p:sp>
      <p:sp>
        <p:nvSpPr>
          <p:cNvPr id="271" name="Rectangle 270">
            <a:extLst>
              <a:ext uri="{FF2B5EF4-FFF2-40B4-BE49-F238E27FC236}">
                <a16:creationId xmlns:a16="http://schemas.microsoft.com/office/drawing/2014/main" id="{4A2C02E7-6FCE-4430-88F1-5177D5E70241}"/>
              </a:ext>
            </a:extLst>
          </p:cNvPr>
          <p:cNvSpPr>
            <a:spLocks noGrp="1"/>
          </p:cNvSpPr>
          <p:nvPr/>
        </p:nvSpPr>
        <p:spPr>
          <a:xfrm>
            <a:off x="514350" y="3657600"/>
            <a:ext cx="1562100" cy="285750"/>
          </a:xfrm>
          <a:prstGeom prst="rect">
            <a:avLst/>
          </a:prstGeom>
          <a:noFill/>
          <a:ln w="0">
            <a:noFill/>
            <a:prstDash val="solid"/>
          </a:ln>
        </p:spPr>
        <p:txBody>
          <a:bodyPr lIns="57150" tIns="38100" rIns="57150" bIns="38100" anchor="ctr">
            <a:normAutofit/>
          </a:bodyPr>
          <a:lstStyle/>
          <a:p>
            <a:pPr algn="l">
              <a:buNone/>
              <a:defRPr sz="1125" b="1">
                <a:solidFill>
                  <a:srgbClr val="F2994A"/>
                </a:solidFill>
              </a:defRPr>
            </a:pPr>
            <a:r>
              <a:rPr sz="1125" b="1">
                <a:solidFill>
                  <a:srgbClr val="F2994A"/>
                </a:solidFill>
              </a:rPr>
              <a:t>HELPER</a:t>
            </a:r>
          </a:p>
        </p:txBody>
      </p:sp>
      <p:sp>
        <p:nvSpPr>
          <p:cNvPr id="272" name="Rectangle 271">
            <a:extLst>
              <a:ext uri="{FF2B5EF4-FFF2-40B4-BE49-F238E27FC236}">
                <a16:creationId xmlns:a16="http://schemas.microsoft.com/office/drawing/2014/main" id="{DC05B1B4-9003-4103-9B2F-5D43C471E413}"/>
              </a:ext>
            </a:extLst>
          </p:cNvPr>
          <p:cNvSpPr>
            <a:spLocks noGrp="1"/>
          </p:cNvSpPr>
          <p:nvPr/>
        </p:nvSpPr>
        <p:spPr>
          <a:xfrm>
            <a:off x="2190750" y="3657600"/>
            <a:ext cx="2419350" cy="419100"/>
          </a:xfrm>
          <a:prstGeom prst="rect">
            <a:avLst/>
          </a:prstGeom>
          <a:noFill/>
          <a:ln w="0">
            <a:noFill/>
            <a:prstDash val="solid"/>
          </a:ln>
        </p:spPr>
        <p:txBody>
          <a:bodyPr lIns="57150" tIns="38100" rIns="57150" bIns="38100" anchor="ctr">
            <a:normAutofit/>
          </a:bodyPr>
          <a:lstStyle/>
          <a:p>
            <a:pPr algn="l">
              <a:buNone/>
              <a:defRPr sz="1200" b="0">
                <a:solidFill>
                  <a:srgbClr val="1F2937"/>
                </a:solidFill>
              </a:defRPr>
            </a:pPr>
            <a:r>
              <a:rPr sz="1200" b="0">
                <a:solidFill>
                  <a:srgbClr val="1F2937"/>
                </a:solidFill>
              </a:rPr>
              <a:t>reusable transformation</a:t>
            </a:r>
          </a:p>
        </p:txBody>
      </p:sp>
      <p:sp>
        <p:nvSpPr>
          <p:cNvPr id="273" name="Rectangle 272">
            <a:extLst>
              <a:ext uri="{FF2B5EF4-FFF2-40B4-BE49-F238E27FC236}">
                <a16:creationId xmlns:a16="http://schemas.microsoft.com/office/drawing/2014/main" id="{ED6D7CC2-5458-416E-80CF-8081FB48229A}"/>
              </a:ext>
            </a:extLst>
          </p:cNvPr>
          <p:cNvSpPr>
            <a:spLocks noGrp="1"/>
          </p:cNvSpPr>
          <p:nvPr/>
        </p:nvSpPr>
        <p:spPr>
          <a:xfrm>
            <a:off x="4857750" y="3657600"/>
            <a:ext cx="3771900" cy="419100"/>
          </a:xfrm>
          <a:prstGeom prst="rect">
            <a:avLst/>
          </a:prstGeom>
          <a:noFill/>
          <a:ln w="0">
            <a:noFill/>
            <a:prstDash val="solid"/>
          </a:ln>
        </p:spPr>
        <p:txBody>
          <a:bodyPr lIns="57150" tIns="38100" rIns="57150" bIns="38100" anchor="ctr">
            <a:normAutofit/>
          </a:bodyPr>
          <a:lstStyle/>
          <a:p>
            <a:pPr algn="l">
              <a:buNone/>
              <a:defRPr sz="1200" b="0">
                <a:solidFill>
                  <a:srgbClr val="5F6B76"/>
                </a:solidFill>
              </a:defRPr>
            </a:pPr>
            <a:r>
              <a:rPr sz="1200" b="0">
                <a:solidFill>
                  <a:srgbClr val="5F6B76"/>
                </a:solidFill>
              </a:rPr>
              <a:t>no model ownership</a:t>
            </a:r>
          </a:p>
        </p:txBody>
      </p:sp>
      <p:sp>
        <p:nvSpPr>
          <p:cNvPr id="274" name="Rectangle 273">
            <a:extLst>
              <a:ext uri="{FF2B5EF4-FFF2-40B4-BE49-F238E27FC236}">
                <a16:creationId xmlns:a16="http://schemas.microsoft.com/office/drawing/2014/main" id="{2EFD3862-608F-49D0-B17B-AB176B0E01BD}"/>
              </a:ext>
            </a:extLst>
          </p:cNvPr>
          <p:cNvSpPr>
            <a:spLocks noGrp="1"/>
          </p:cNvSpPr>
          <p:nvPr/>
        </p:nvSpPr>
        <p:spPr>
          <a:xfrm>
            <a:off x="762000" y="4476750"/>
            <a:ext cx="7620000" cy="323850"/>
          </a:xfrm>
          <a:prstGeom prst="rect">
            <a:avLst/>
          </a:prstGeom>
          <a:noFill/>
          <a:ln w="0">
            <a:noFill/>
            <a:prstDash val="solid"/>
          </a:ln>
        </p:spPr>
        <p:txBody>
          <a:bodyPr lIns="57150" tIns="38100" rIns="57150" bIns="38100" anchor="ctr">
            <a:normAutofit/>
          </a:bodyPr>
          <a:lstStyle/>
          <a:p>
            <a:pPr algn="ctr">
              <a:buNone/>
              <a:defRPr sz="1275" b="1">
                <a:solidFill>
                  <a:srgbClr val="0B83BD"/>
                </a:solidFill>
              </a:defRPr>
            </a:pPr>
            <a:r>
              <a:rPr sz="1275" b="1">
                <a:solidFill>
                  <a:srgbClr val="0B83BD"/>
                </a:solidFill>
              </a:rPr>
              <a:t>An ACL is defined by the model it protects—not by the presence of a mapping method.</a:t>
            </a:r>
          </a:p>
        </p:txBody>
      </p:sp>
    </p:spTree>
    <p:extLst>
      <p:ext uri="{BB962C8B-B14F-4D97-AF65-F5344CB8AC3E}">
        <p14:creationId xmlns:p14="http://schemas.microsoft.com/office/powerpoint/2010/main" val="115071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Google Shape;253;p41">
            <a:extLst>
              <a:ext uri="{FF2B5EF4-FFF2-40B4-BE49-F238E27FC236}">
                <a16:creationId xmlns:a16="http://schemas.microsoft.com/office/drawing/2014/main" id="{02329705-08BB-4706-8818-9034A2460CBD}"/>
              </a:ext>
            </a:extLst>
          </p:cNvPr>
          <p:cNvSpPr>
            <a:spLocks noGrp="1"/>
          </p:cNvSpPr>
          <p:nvPr/>
        </p:nvSpPr>
        <p:spPr>
          <a:xfrm rot="10800000">
            <a:off x="-2" y="198"/>
            <a:ext cx="9144001" cy="930692"/>
          </a:xfrm>
          <a:prstGeom prst="flowChartManualInput">
            <a:avLst/>
          </a:prstGeom>
          <a:solidFill>
            <a:schemeClr val="accent5"/>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a:p>
        </p:txBody>
      </p:sp>
      <p:cxnSp>
        <p:nvCxnSpPr>
          <p:cNvPr id="283" name="Google Shape;254;p41"/>
          <p:cNvCxnSpPr/>
          <p:nvPr/>
        </p:nvCxnSpPr>
        <p:spPr>
          <a:xfrm rot="10800000">
            <a:off x="500941" y="665081"/>
            <a:ext cx="676200" cy="0"/>
          </a:xfrm>
          <a:prstGeom prst="straightConnector1">
            <a:avLst/>
          </a:prstGeom>
          <a:ln w="28575" cap="flat">
            <a:solidFill>
              <a:schemeClr val="accent1"/>
            </a:solidFill>
            <a:prstDash val="solid"/>
            <a:round/>
            <a:headEnd type="none" w="sm" len="sm"/>
            <a:tailEnd type="none" w="sm" len="sm"/>
          </a:ln>
        </p:spPr>
      </p:cxnSp>
      <p:sp>
        <p:nvSpPr>
          <p:cNvPr id="255" name="Google Shape;255;p41">
            <a:extLst>
              <a:ext uri="{FF2B5EF4-FFF2-40B4-BE49-F238E27FC236}">
                <a16:creationId xmlns:a16="http://schemas.microsoft.com/office/drawing/2014/main" id="{347813FE-5269-4AE0-B22C-7B5D04154DE1}"/>
              </a:ext>
            </a:extLst>
          </p:cNvPr>
          <p:cNvSpPr>
            <a:spLocks noGrp="1"/>
          </p:cNvSpPr>
          <p:nvPr/>
        </p:nvSpPr>
        <p:spPr>
          <a:xfrm>
            <a:off x="7449015" y="-959005"/>
            <a:ext cx="184800" cy="307800"/>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400"/>
              <a:buFont typeface="Arial"/>
              <a:buNone/>
            </a:pPr>
            <a:endParaRPr/>
          </a:p>
        </p:txBody>
      </p:sp>
      <p:sp>
        <p:nvSpPr>
          <p:cNvPr id="256" name="Google Shape;256;p41">
            <a:extLst>
              <a:ext uri="{FF2B5EF4-FFF2-40B4-BE49-F238E27FC236}">
                <a16:creationId xmlns:a16="http://schemas.microsoft.com/office/drawing/2014/main" id="{A6AA3429-F28F-4491-A616-A4BC36F53070}"/>
              </a:ext>
            </a:extLst>
          </p:cNvPr>
          <p:cNvSpPr>
            <a:spLocks noGrp="1"/>
          </p:cNvSpPr>
          <p:nvPr/>
        </p:nvSpPr>
        <p:spPr>
          <a:xfrm>
            <a:off x="482551" y="202075"/>
            <a:ext cx="5828700" cy="400200"/>
          </a:xfrm>
          <a:prstGeom prst="rect">
            <a:avLst/>
          </a:prstGeom>
          <a:noFill/>
          <a:ln>
            <a:noFill/>
          </a:ln>
        </p:spPr>
        <p:txBody>
          <a:bodyPr spcFirstLastPara="1" wrap="square" lIns="0" tIns="0" rIns="0" bIns="0" anchor="ctr">
            <a:spAutoFit/>
          </a:bodyPr>
          <a:lstStyle/>
          <a:p>
            <a:pPr marL="0" marR="0" lvl="0" indent="0" algn="l">
              <a:lnSpc>
                <a:spcPct val="100000"/>
              </a:lnSpc>
              <a:spcBef>
                <a:spcPts val="0"/>
              </a:spcBef>
              <a:spcAft>
                <a:spcPts val="0"/>
              </a:spcAft>
              <a:buClr>
                <a:srgbClr val="000000"/>
              </a:buClr>
              <a:buSzPts val="2600"/>
              <a:buFont typeface="Arial"/>
              <a:buNone/>
            </a:pPr>
            <a:r>
              <a:rPr sz="2600">
                <a:solidFill>
                  <a:schemeClr val="accent2"/>
                </a:solidFill>
                <a:latin typeface="Inter Tight ExtraBold"/>
                <a:ea typeface="Inter Tight ExtraBold"/>
                <a:cs typeface="Inter Tight ExtraBold"/>
              </a:rPr>
              <a:t>Stretch goal: protect an integration</a:t>
            </a:r>
          </a:p>
        </p:txBody>
      </p:sp>
      <p:sp>
        <p:nvSpPr>
          <p:cNvPr id="259" name="Rectangle 258">
            <a:extLst>
              <a:ext uri="{FF2B5EF4-FFF2-40B4-BE49-F238E27FC236}">
                <a16:creationId xmlns:a16="http://schemas.microsoft.com/office/drawing/2014/main" id="{2641EB5A-6F55-46AE-9B0F-73CC047B6CEC}"/>
              </a:ext>
            </a:extLst>
          </p:cNvPr>
          <p:cNvSpPr>
            <a:spLocks noGrp="1"/>
          </p:cNvSpPr>
          <p:nvPr/>
        </p:nvSpPr>
        <p:spPr>
          <a:xfrm>
            <a:off x="514350" y="1143000"/>
            <a:ext cx="8115300" cy="361950"/>
          </a:xfrm>
          <a:prstGeom prst="rect">
            <a:avLst/>
          </a:prstGeom>
          <a:noFill/>
          <a:ln w="0">
            <a:noFill/>
            <a:prstDash val="solid"/>
          </a:ln>
        </p:spPr>
        <p:txBody>
          <a:bodyPr lIns="57150" tIns="38100" rIns="57150" bIns="38100" anchor="ctr">
            <a:normAutofit/>
          </a:bodyPr>
          <a:lstStyle/>
          <a:p>
            <a:pPr algn="l">
              <a:buNone/>
              <a:defRPr sz="1725" b="0">
                <a:solidFill>
                  <a:srgbClr val="5F6B76"/>
                </a:solidFill>
              </a:defRPr>
            </a:pPr>
            <a:r>
              <a:rPr sz="1725" b="0">
                <a:solidFill>
                  <a:srgbClr val="5F6B76"/>
                </a:solidFill>
              </a:rPr>
              <a:t>Integrate a provider without letting its DTOs or transport types travel inward.</a:t>
            </a:r>
          </a:p>
        </p:txBody>
      </p:sp>
      <p:sp>
        <p:nvSpPr>
          <p:cNvPr id="260" name="Rectangle 259">
            <a:extLst>
              <a:ext uri="{FF2B5EF4-FFF2-40B4-BE49-F238E27FC236}">
                <a16:creationId xmlns:a16="http://schemas.microsoft.com/office/drawing/2014/main" id="{4FBEF4BB-DED7-4F09-B377-FC1677A63CD8}"/>
              </a:ext>
            </a:extLst>
          </p:cNvPr>
          <p:cNvSpPr>
            <a:spLocks noGrp="1"/>
          </p:cNvSpPr>
          <p:nvPr/>
        </p:nvSpPr>
        <p:spPr>
          <a:xfrm>
            <a:off x="552450" y="1714500"/>
            <a:ext cx="476250" cy="285750"/>
          </a:xfrm>
          <a:prstGeom prst="rect">
            <a:avLst/>
          </a:prstGeom>
          <a:noFill/>
          <a:ln w="0">
            <a:noFill/>
            <a:prstDash val="solid"/>
          </a:ln>
        </p:spPr>
        <p:txBody>
          <a:bodyPr lIns="57150" tIns="38100" rIns="57150" bIns="38100" anchor="ctr">
            <a:normAutofit/>
          </a:bodyPr>
          <a:lstStyle/>
          <a:p>
            <a:pPr algn="l">
              <a:buNone/>
              <a:defRPr sz="1200" b="1">
                <a:solidFill>
                  <a:srgbClr val="F2994A"/>
                </a:solidFill>
              </a:defRPr>
            </a:pPr>
            <a:r>
              <a:rPr sz="1200" b="1">
                <a:solidFill>
                  <a:srgbClr val="F2994A"/>
                </a:solidFill>
              </a:rPr>
              <a:t>01</a:t>
            </a:r>
          </a:p>
        </p:txBody>
      </p:sp>
      <p:sp>
        <p:nvSpPr>
          <p:cNvPr id="261" name="Rectangle 260">
            <a:extLst>
              <a:ext uri="{FF2B5EF4-FFF2-40B4-BE49-F238E27FC236}">
                <a16:creationId xmlns:a16="http://schemas.microsoft.com/office/drawing/2014/main" id="{92252115-A0BD-464D-AB2C-B87529869E2F}"/>
              </a:ext>
            </a:extLst>
          </p:cNvPr>
          <p:cNvSpPr>
            <a:spLocks noGrp="1"/>
          </p:cNvSpPr>
          <p:nvPr/>
        </p:nvSpPr>
        <p:spPr>
          <a:xfrm>
            <a:off x="1162050" y="1714500"/>
            <a:ext cx="2667000" cy="285750"/>
          </a:xfrm>
          <a:prstGeom prst="rect">
            <a:avLst/>
          </a:prstGeom>
          <a:noFill/>
          <a:ln w="0">
            <a:noFill/>
            <a:prstDash val="solid"/>
          </a:ln>
        </p:spPr>
        <p:txBody>
          <a:bodyPr lIns="57150" tIns="38100" rIns="57150" bIns="38100" anchor="ctr">
            <a:normAutofit fontScale="96491"/>
          </a:bodyPr>
          <a:lstStyle/>
          <a:p>
            <a:pPr algn="l">
              <a:buNone/>
              <a:defRPr sz="1425" b="1">
                <a:solidFill>
                  <a:srgbClr val="1F2937"/>
                </a:solidFill>
              </a:defRPr>
            </a:pPr>
            <a:r>
              <a:rPr sz="1425" b="1">
                <a:solidFill>
                  <a:srgbClr val="1F2937"/>
                </a:solidFill>
              </a:rPr>
              <a:t>Define the port</a:t>
            </a:r>
          </a:p>
        </p:txBody>
      </p:sp>
      <p:sp>
        <p:nvSpPr>
          <p:cNvPr id="262" name="Rectangle 261">
            <a:extLst>
              <a:ext uri="{FF2B5EF4-FFF2-40B4-BE49-F238E27FC236}">
                <a16:creationId xmlns:a16="http://schemas.microsoft.com/office/drawing/2014/main" id="{CB4267B8-1083-4688-96F1-09ADE15836BE}"/>
              </a:ext>
            </a:extLst>
          </p:cNvPr>
          <p:cNvSpPr>
            <a:spLocks noGrp="1"/>
          </p:cNvSpPr>
          <p:nvPr/>
        </p:nvSpPr>
        <p:spPr>
          <a:xfrm>
            <a:off x="4000500" y="1714500"/>
            <a:ext cx="4476750" cy="40005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Describe the capability in application language.</a:t>
            </a:r>
          </a:p>
        </p:txBody>
      </p:sp>
      <p:sp>
        <p:nvSpPr>
          <p:cNvPr id="263" name="Rectangle 262">
            <a:extLst>
              <a:ext uri="{FF2B5EF4-FFF2-40B4-BE49-F238E27FC236}">
                <a16:creationId xmlns:a16="http://schemas.microsoft.com/office/drawing/2014/main" id="{6977E7E6-2395-42FC-9345-318EC3FFC5F1}"/>
              </a:ext>
            </a:extLst>
          </p:cNvPr>
          <p:cNvSpPr>
            <a:spLocks noGrp="1"/>
          </p:cNvSpPr>
          <p:nvPr/>
        </p:nvSpPr>
        <p:spPr>
          <a:xfrm>
            <a:off x="552450" y="2362200"/>
            <a:ext cx="476250" cy="285750"/>
          </a:xfrm>
          <a:prstGeom prst="rect">
            <a:avLst/>
          </a:prstGeom>
          <a:noFill/>
          <a:ln w="0">
            <a:noFill/>
            <a:prstDash val="solid"/>
          </a:ln>
        </p:spPr>
        <p:txBody>
          <a:bodyPr lIns="57150" tIns="38100" rIns="57150" bIns="38100" anchor="ctr">
            <a:normAutofit/>
          </a:bodyPr>
          <a:lstStyle/>
          <a:p>
            <a:pPr algn="l">
              <a:buNone/>
              <a:defRPr sz="1200" b="1">
                <a:solidFill>
                  <a:srgbClr val="F2994A"/>
                </a:solidFill>
              </a:defRPr>
            </a:pPr>
            <a:r>
              <a:rPr sz="1200" b="1">
                <a:solidFill>
                  <a:srgbClr val="F2994A"/>
                </a:solidFill>
              </a:rPr>
              <a:t>02</a:t>
            </a:r>
          </a:p>
        </p:txBody>
      </p:sp>
      <p:sp>
        <p:nvSpPr>
          <p:cNvPr id="264" name="Rectangle 263">
            <a:extLst>
              <a:ext uri="{FF2B5EF4-FFF2-40B4-BE49-F238E27FC236}">
                <a16:creationId xmlns:a16="http://schemas.microsoft.com/office/drawing/2014/main" id="{1A315718-09F2-462B-9176-AAC7E795D03F}"/>
              </a:ext>
            </a:extLst>
          </p:cNvPr>
          <p:cNvSpPr>
            <a:spLocks noGrp="1"/>
          </p:cNvSpPr>
          <p:nvPr/>
        </p:nvSpPr>
        <p:spPr>
          <a:xfrm>
            <a:off x="1162050" y="2362200"/>
            <a:ext cx="2667000" cy="285750"/>
          </a:xfrm>
          <a:prstGeom prst="rect">
            <a:avLst/>
          </a:prstGeom>
          <a:noFill/>
          <a:ln w="0">
            <a:noFill/>
            <a:prstDash val="solid"/>
          </a:ln>
        </p:spPr>
        <p:txBody>
          <a:bodyPr lIns="57150" tIns="38100" rIns="57150" bIns="38100" anchor="ctr">
            <a:normAutofit fontScale="96491"/>
          </a:bodyPr>
          <a:lstStyle/>
          <a:p>
            <a:pPr algn="l">
              <a:buNone/>
              <a:defRPr sz="1425" b="1">
                <a:solidFill>
                  <a:srgbClr val="1F2937"/>
                </a:solidFill>
              </a:defRPr>
            </a:pPr>
            <a:r>
              <a:rPr sz="1425" b="1">
                <a:solidFill>
                  <a:srgbClr val="1F2937"/>
                </a:solidFill>
              </a:rPr>
              <a:t>Create the client</a:t>
            </a:r>
          </a:p>
        </p:txBody>
      </p:sp>
      <p:sp>
        <p:nvSpPr>
          <p:cNvPr id="265" name="Rectangle 264">
            <a:extLst>
              <a:ext uri="{FF2B5EF4-FFF2-40B4-BE49-F238E27FC236}">
                <a16:creationId xmlns:a16="http://schemas.microsoft.com/office/drawing/2014/main" id="{C51C2CA2-BEF6-44B0-8A81-8D4F725CA8DE}"/>
              </a:ext>
            </a:extLst>
          </p:cNvPr>
          <p:cNvSpPr>
            <a:spLocks noGrp="1"/>
          </p:cNvSpPr>
          <p:nvPr/>
        </p:nvSpPr>
        <p:spPr>
          <a:xfrm>
            <a:off x="4000500" y="2362200"/>
            <a:ext cx="4476750" cy="40005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Keep HTTP and provider DTOs at the edge.</a:t>
            </a:r>
          </a:p>
        </p:txBody>
      </p:sp>
      <p:sp>
        <p:nvSpPr>
          <p:cNvPr id="266" name="Rectangle 265">
            <a:extLst>
              <a:ext uri="{FF2B5EF4-FFF2-40B4-BE49-F238E27FC236}">
                <a16:creationId xmlns:a16="http://schemas.microsoft.com/office/drawing/2014/main" id="{8C3B32AB-5810-4FAD-AC25-93EE85105295}"/>
              </a:ext>
            </a:extLst>
          </p:cNvPr>
          <p:cNvSpPr>
            <a:spLocks noGrp="1"/>
          </p:cNvSpPr>
          <p:nvPr/>
        </p:nvSpPr>
        <p:spPr>
          <a:xfrm>
            <a:off x="552450" y="3009900"/>
            <a:ext cx="476250" cy="285750"/>
          </a:xfrm>
          <a:prstGeom prst="rect">
            <a:avLst/>
          </a:prstGeom>
          <a:noFill/>
          <a:ln w="0">
            <a:noFill/>
            <a:prstDash val="solid"/>
          </a:ln>
        </p:spPr>
        <p:txBody>
          <a:bodyPr lIns="57150" tIns="38100" rIns="57150" bIns="38100" anchor="ctr">
            <a:normAutofit/>
          </a:bodyPr>
          <a:lstStyle/>
          <a:p>
            <a:pPr algn="l">
              <a:buNone/>
              <a:defRPr sz="1200" b="1">
                <a:solidFill>
                  <a:srgbClr val="F2994A"/>
                </a:solidFill>
              </a:defRPr>
            </a:pPr>
            <a:r>
              <a:rPr sz="1200" b="1">
                <a:solidFill>
                  <a:srgbClr val="F2994A"/>
                </a:solidFill>
              </a:rPr>
              <a:t>03</a:t>
            </a:r>
          </a:p>
        </p:txBody>
      </p:sp>
      <p:sp>
        <p:nvSpPr>
          <p:cNvPr id="267" name="Rectangle 266">
            <a:extLst>
              <a:ext uri="{FF2B5EF4-FFF2-40B4-BE49-F238E27FC236}">
                <a16:creationId xmlns:a16="http://schemas.microsoft.com/office/drawing/2014/main" id="{8640F3E4-2829-4389-B754-24F8AB20B30E}"/>
              </a:ext>
            </a:extLst>
          </p:cNvPr>
          <p:cNvSpPr>
            <a:spLocks noGrp="1"/>
          </p:cNvSpPr>
          <p:nvPr/>
        </p:nvSpPr>
        <p:spPr>
          <a:xfrm>
            <a:off x="1162050" y="3009900"/>
            <a:ext cx="2667000" cy="285750"/>
          </a:xfrm>
          <a:prstGeom prst="rect">
            <a:avLst/>
          </a:prstGeom>
          <a:noFill/>
          <a:ln w="0">
            <a:noFill/>
            <a:prstDash val="solid"/>
          </a:ln>
        </p:spPr>
        <p:txBody>
          <a:bodyPr lIns="57150" tIns="38100" rIns="57150" bIns="38100" anchor="ctr">
            <a:normAutofit fontScale="96491"/>
          </a:bodyPr>
          <a:lstStyle/>
          <a:p>
            <a:pPr algn="l">
              <a:buNone/>
              <a:defRPr sz="1425" b="1">
                <a:solidFill>
                  <a:srgbClr val="1F2937"/>
                </a:solidFill>
              </a:defRPr>
            </a:pPr>
            <a:r>
              <a:rPr sz="1425" b="1">
                <a:solidFill>
                  <a:srgbClr val="1F2937"/>
                </a:solidFill>
              </a:rPr>
              <a:t>Translate meaning</a:t>
            </a:r>
          </a:p>
        </p:txBody>
      </p:sp>
      <p:sp>
        <p:nvSpPr>
          <p:cNvPr id="268" name="Rectangle 267">
            <a:extLst>
              <a:ext uri="{FF2B5EF4-FFF2-40B4-BE49-F238E27FC236}">
                <a16:creationId xmlns:a16="http://schemas.microsoft.com/office/drawing/2014/main" id="{F7BBB9C5-A599-4127-8657-0ACC6A836BF1}"/>
              </a:ext>
            </a:extLst>
          </p:cNvPr>
          <p:cNvSpPr>
            <a:spLocks noGrp="1"/>
          </p:cNvSpPr>
          <p:nvPr/>
        </p:nvSpPr>
        <p:spPr>
          <a:xfrm>
            <a:off x="4000500" y="3009900"/>
            <a:ext cx="4476750" cy="40005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Map values and failures into application concepts.</a:t>
            </a:r>
          </a:p>
        </p:txBody>
      </p:sp>
      <p:sp>
        <p:nvSpPr>
          <p:cNvPr id="269" name="Rectangle 268">
            <a:extLst>
              <a:ext uri="{FF2B5EF4-FFF2-40B4-BE49-F238E27FC236}">
                <a16:creationId xmlns:a16="http://schemas.microsoft.com/office/drawing/2014/main" id="{91FDA84C-E92A-4CA7-8EE7-8F72ED92A58A}"/>
              </a:ext>
            </a:extLst>
          </p:cNvPr>
          <p:cNvSpPr>
            <a:spLocks noGrp="1"/>
          </p:cNvSpPr>
          <p:nvPr/>
        </p:nvSpPr>
        <p:spPr>
          <a:xfrm>
            <a:off x="552450" y="3657600"/>
            <a:ext cx="476250" cy="285750"/>
          </a:xfrm>
          <a:prstGeom prst="rect">
            <a:avLst/>
          </a:prstGeom>
          <a:noFill/>
          <a:ln w="0">
            <a:noFill/>
            <a:prstDash val="solid"/>
          </a:ln>
        </p:spPr>
        <p:txBody>
          <a:bodyPr lIns="57150" tIns="38100" rIns="57150" bIns="38100" anchor="ctr">
            <a:normAutofit/>
          </a:bodyPr>
          <a:lstStyle/>
          <a:p>
            <a:pPr algn="l">
              <a:buNone/>
              <a:defRPr sz="1200" b="1">
                <a:solidFill>
                  <a:srgbClr val="F2994A"/>
                </a:solidFill>
              </a:defRPr>
            </a:pPr>
            <a:r>
              <a:rPr sz="1200" b="1">
                <a:solidFill>
                  <a:srgbClr val="F2994A"/>
                </a:solidFill>
              </a:rPr>
              <a:t>04</a:t>
            </a:r>
          </a:p>
        </p:txBody>
      </p:sp>
      <p:sp>
        <p:nvSpPr>
          <p:cNvPr id="270" name="Rectangle 269">
            <a:extLst>
              <a:ext uri="{FF2B5EF4-FFF2-40B4-BE49-F238E27FC236}">
                <a16:creationId xmlns:a16="http://schemas.microsoft.com/office/drawing/2014/main" id="{87140002-ACFB-48D7-9B3E-944420AC10F8}"/>
              </a:ext>
            </a:extLst>
          </p:cNvPr>
          <p:cNvSpPr>
            <a:spLocks noGrp="1"/>
          </p:cNvSpPr>
          <p:nvPr/>
        </p:nvSpPr>
        <p:spPr>
          <a:xfrm>
            <a:off x="1162050" y="3657600"/>
            <a:ext cx="2667000" cy="285750"/>
          </a:xfrm>
          <a:prstGeom prst="rect">
            <a:avLst/>
          </a:prstGeom>
          <a:noFill/>
          <a:ln w="0">
            <a:noFill/>
            <a:prstDash val="solid"/>
          </a:ln>
        </p:spPr>
        <p:txBody>
          <a:bodyPr lIns="57150" tIns="38100" rIns="57150" bIns="38100" anchor="ctr">
            <a:normAutofit fontScale="96491"/>
          </a:bodyPr>
          <a:lstStyle/>
          <a:p>
            <a:pPr algn="l">
              <a:buNone/>
              <a:defRPr sz="1425" b="1">
                <a:solidFill>
                  <a:srgbClr val="1F2937"/>
                </a:solidFill>
              </a:defRPr>
            </a:pPr>
            <a:r>
              <a:rPr sz="1425" b="1">
                <a:solidFill>
                  <a:srgbClr val="1F2937"/>
                </a:solidFill>
              </a:rPr>
              <a:t>Replace the provider</a:t>
            </a:r>
          </a:p>
        </p:txBody>
      </p:sp>
      <p:sp>
        <p:nvSpPr>
          <p:cNvPr id="271" name="Rectangle 270">
            <a:extLst>
              <a:ext uri="{FF2B5EF4-FFF2-40B4-BE49-F238E27FC236}">
                <a16:creationId xmlns:a16="http://schemas.microsoft.com/office/drawing/2014/main" id="{553BAAF1-1523-495D-83A3-B24F541BF607}"/>
              </a:ext>
            </a:extLst>
          </p:cNvPr>
          <p:cNvSpPr>
            <a:spLocks noGrp="1"/>
          </p:cNvSpPr>
          <p:nvPr/>
        </p:nvSpPr>
        <p:spPr>
          <a:xfrm>
            <a:off x="4000500" y="3657600"/>
            <a:ext cx="4476750" cy="400050"/>
          </a:xfrm>
          <a:prstGeom prst="rect">
            <a:avLst/>
          </a:prstGeom>
          <a:noFill/>
          <a:ln w="0">
            <a:noFill/>
            <a:prstDash val="solid"/>
          </a:ln>
        </p:spPr>
        <p:txBody>
          <a:bodyPr lIns="57150" tIns="38100" rIns="57150" bIns="38100" anchor="ctr">
            <a:normAutofit/>
          </a:bodyPr>
          <a:lstStyle/>
          <a:p>
            <a:pPr algn="l">
              <a:buNone/>
              <a:defRPr sz="1275" b="0">
                <a:solidFill>
                  <a:srgbClr val="5F6B76"/>
                </a:solidFill>
              </a:defRPr>
            </a:pPr>
            <a:r>
              <a:rPr sz="1275" b="0">
                <a:solidFill>
                  <a:srgbClr val="5F6B76"/>
                </a:solidFill>
              </a:rPr>
              <a:t>Verify the use case and domain do not change.</a:t>
            </a:r>
          </a:p>
        </p:txBody>
      </p:sp>
      <p:sp>
        <p:nvSpPr>
          <p:cNvPr id="272" name="Rectangle: Rounded Corners 271">
            <a:extLst>
              <a:ext uri="{FF2B5EF4-FFF2-40B4-BE49-F238E27FC236}">
                <a16:creationId xmlns:a16="http://schemas.microsoft.com/office/drawing/2014/main" id="{9E90ACE5-9458-45DB-A7FD-7F6618415AB3}"/>
              </a:ext>
            </a:extLst>
          </p:cNvPr>
          <p:cNvSpPr>
            <a:spLocks noGrp="1"/>
          </p:cNvSpPr>
          <p:nvPr/>
        </p:nvSpPr>
        <p:spPr>
          <a:xfrm>
            <a:off x="895350" y="4419600"/>
            <a:ext cx="7353300" cy="438150"/>
          </a:xfrm>
          <a:prstGeom prst="roundRect">
            <a:avLst>
              <a:gd name="adj" fmla="val 26087"/>
            </a:avLst>
          </a:prstGeom>
          <a:solidFill>
            <a:srgbClr val="EAF5FA"/>
          </a:solidFill>
          <a:ln w="0">
            <a:noFill/>
            <a:prstDash val="solid"/>
          </a:ln>
        </p:spPr>
        <p:txBody>
          <a:bodyPr/>
          <a:lstStyle/>
          <a:p>
            <a:endParaRPr/>
          </a:p>
        </p:txBody>
      </p:sp>
      <p:sp>
        <p:nvSpPr>
          <p:cNvPr id="273" name="Rectangle 272">
            <a:extLst>
              <a:ext uri="{FF2B5EF4-FFF2-40B4-BE49-F238E27FC236}">
                <a16:creationId xmlns:a16="http://schemas.microsoft.com/office/drawing/2014/main" id="{9236E233-B521-4137-92A9-258471C0A572}"/>
              </a:ext>
            </a:extLst>
          </p:cNvPr>
          <p:cNvSpPr>
            <a:spLocks noGrp="1"/>
          </p:cNvSpPr>
          <p:nvPr/>
        </p:nvSpPr>
        <p:spPr>
          <a:xfrm>
            <a:off x="1085850" y="4495800"/>
            <a:ext cx="6972300" cy="266700"/>
          </a:xfrm>
          <a:prstGeom prst="rect">
            <a:avLst/>
          </a:prstGeom>
          <a:noFill/>
          <a:ln w="0">
            <a:noFill/>
            <a:prstDash val="solid"/>
          </a:ln>
        </p:spPr>
        <p:txBody>
          <a:bodyPr lIns="57150" tIns="38100" rIns="57150" bIns="38100" anchor="ctr">
            <a:normAutofit fontScale="87719"/>
          </a:bodyPr>
          <a:lstStyle/>
          <a:p>
            <a:pPr algn="ctr">
              <a:buNone/>
              <a:defRPr sz="1425" b="1">
                <a:solidFill>
                  <a:srgbClr val="0B83BD"/>
                </a:solidFill>
              </a:defRPr>
            </a:pPr>
            <a:r>
              <a:rPr sz="1425" b="1">
                <a:solidFill>
                  <a:srgbClr val="0B83BD"/>
                </a:solidFill>
              </a:rPr>
              <a:t>Final test: if the provider changed tomorrow, how far would the change spread?</a:t>
            </a:r>
          </a:p>
        </p:txBody>
      </p:sp>
    </p:spTree>
    <p:extLst>
      <p:ext uri="{BB962C8B-B14F-4D97-AF65-F5344CB8AC3E}">
        <p14:creationId xmlns:p14="http://schemas.microsoft.com/office/powerpoint/2010/main" val="11507105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15B6D"/>
      </a:dk2>
      <a:lt2>
        <a:srgbClr val="434C5E"/>
      </a:lt2>
      <a:accent1>
        <a:srgbClr val="ED2926"/>
      </a:accent1>
      <a:accent2>
        <a:srgbClr val="0975B6"/>
      </a:accent2>
      <a:accent3>
        <a:srgbClr val="78879C"/>
      </a:accent3>
      <a:accent4>
        <a:srgbClr val="ECEDF0"/>
      </a:accent4>
      <a:accent5>
        <a:srgbClr val="F5F7F8"/>
      </a:accent5>
      <a:accent6>
        <a:srgbClr val="096196"/>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15B6D"/>
      </a:dk2>
      <a:lt2>
        <a:srgbClr val="434C5E"/>
      </a:lt2>
      <a:accent1>
        <a:srgbClr val="ED2926"/>
      </a:accent1>
      <a:accent2>
        <a:srgbClr val="0975B6"/>
      </a:accent2>
      <a:accent3>
        <a:srgbClr val="78879C"/>
      </a:accent3>
      <a:accent4>
        <a:srgbClr val="ECEDF0"/>
      </a:accent4>
      <a:accent5>
        <a:srgbClr val="F5F7F8"/>
      </a:accent5>
      <a:accent6>
        <a:srgbClr val="096196"/>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1266</Words>
  <Application>Microsoft Office PowerPoint</Application>
  <DocSecurity>0</DocSecurity>
  <PresentationFormat>On-screen Show (16:9)</PresentationFormat>
  <Paragraphs>226</Paragraphs>
  <Slides>10</Slides>
  <Notes>10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10</vt:i4>
      </vt:variant>
    </vt:vector>
  </HeadingPairs>
  <TitlesOfParts>
    <vt:vector size="17" baseType="lpstr">
      <vt:lpstr>Inter Tight Light</vt:lpstr>
      <vt:lpstr>Arial</vt:lpstr>
      <vt:lpstr>Inter Tight ExtraBold</vt:lpstr>
      <vt:lpstr>Roboto</vt:lpstr>
      <vt:lpstr>Simple Light</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Chris Tremblay</cp:lastModifiedBy>
  <cp:revision>1</cp:revision>
  <dcterms:created xsi:type="dcterms:W3CDTF">2026-07-30T01:45:10Z</dcterms:created>
  <dcterms:modified xsi:type="dcterms:W3CDTF">2026-07-30T01:49:51Z</dcterms:modified>
</cp:coreProperties>
</file>