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3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embeddedFontLst>
    <p:embeddedFont>
      <p:font typeface="Inter Tight ExtraBold" panose="020B0604020202020204" charset="0"/>
      <p:bold r:id="rId18"/>
      <p:boldItalic r:id="rId19"/>
    </p:embeddedFont>
    <p:embeddedFont>
      <p:font typeface="Inter Tight Light" panose="020B060402020202020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3" d="100"/>
          <a:sy n="173" d="100"/>
        </p:scale>
        <p:origin x="768" y="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- docs/Syllabus.docx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- Local bootcamp repository.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[Timing] 0:30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Open by connecting Week 3 domain behavior and Week 4 presentation boundaries to the question: how does the application remember?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docs/Syllabus.docx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2:00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Frame the data layer as an architectural boundary, not simply a folder containing EF code. Discuss persistence, relational integrity, performance, and schema 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src/Zeal.Bootcamp.DnD.Application/Data/Repositories/ICharacterRepository.cs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3:00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Explain that a DDD repository behaves like a collection of aggregate roots. Its vocabulary is Character, Get, and Save—not tables, joins, or DbSet.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src/Zeal.Bootcamp.DnD.Application/Data/Repositories/ICharacterRepository.cs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src/Zeal.Bootcamp.DnD.Application/Data/Queries/ListCharacters/IListCharactersDataQuery.cs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Contrast behavioral access with read projections. Keep CQRS terminology light; Week 8 will develop it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src/Zeal.Bootcamp.DnD.Data/Repository/CharacterRepository.cs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src/Zeal.Bootcamp.DnD.Data/Entities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Walk through insert-versus-update mapping. Point out that Save does not commit directly; the unit of work coordinates SaveChanges.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src/Zeal.Bootcamp.DnD.Data/DnDContext.cs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src/Zeal.Bootcamp.DnD.Data/Migrations/20260717015356_SqlServerSchema.cs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docs/Syllabus.docx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Discuss tables, constraints, delete behavior, indexes, and migrations as data-layer responsibilities. The sample uses SQL Server; the syllabus homework may use SQLite with the same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src/Zeal.Bootcamp.DnD.Data/Repository/CharacterRepository.cs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src/Zeal.Bootcamp.DnD.Data/Entities/CharacterEntity.cs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src/Zeal.Bootcamp.DnD.Data/Extensions/ServiceCollectionExtensions.cs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2:00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Show how C# internal limits accidental coupling. Only the public registration extension and application-owned interfaces need to cross the assembly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src/Zeal.Bootcamp.DnD.Data/Repository/CharacterRepository.cs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src/Zeal.Bootcamp.DnD.Domain/Characters/Character.cs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3:30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Define rehydration. Contrast it with Character.Create. Call out a useful code-review question: the current sample restores core fields, but complete rehydration should also restore persisted background, experience, inventory, child IDs, and equipped-item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src/Zeal.Bootcamp.DnD.Data/Repository/CharacterRepository.cs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src/Zeal.Bootcamp.DnD.Domain/Characters/Character.cs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2:00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Reinforce the layered boundary. The repository can know both EF entities and domain objects because mapping between them is its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src/Zeal.Bootcamp.DnD.Domain/Zeal.Bootcamp.DnD.Domain.csproj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src/Zeal.Bootcamp.DnD.Domain/Characters/Character.cs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2:00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Explain InternalsVisibleTo as a deliberate narrow permission. The public factory protects creation invariants; the internal constructor supports persistence restoration.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src/Zeal.Bootcamp.DnD.Application/Data/Queries/ListCharacters/IListCharactersDataQuery.cs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src/Zeal.Bootcamp.DnD.Application/Data/Queries/ListCharacters/ListCharactersDataQueryResult.cs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src/Zeal.Bootcamp.DnD.Data/Queries/ListCharactersDataQuery.cs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2:30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Emphasize ownership: Application declares the result it needs; Data implements it efficiently. Mention IQueryable carefully as a composable boundary used by the sample's OData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src/Zeal.Bootcamp.DnD.Api/Program.cs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src/Zeal.Bootcamp.DnD.Data/Extensions/ServiceCollectionExtensions.cs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src/Zeal.Bootcamp.DnD.Data/DnDContext.cs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3:00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Give a high-level EF walkthrough: provider, connection string, scoped context, model configuration, migration. Explain that UseSqlite can replace UseSqlServer for the syllabus homework without changing repository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docs/Syllabus.docx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Local bootcamp repository.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[Timing] 1:30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Close with the homework and architectural test. Encourage students to verify that the saved aggregate can be loaded with the same identity, state, and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05598831-8EC0-4054-B936-15F992E54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0B63BD7F-0FBC-4618-9748-594102EAF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6E8D8E9-B0BA-4941-8476-C2CBD4B105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7DDD19BB-91F0-4F43-9467-D672517B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7B92075D-0A74-4B46-89C9-96DD327CA6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B6379593-7E0F-4478-A79F-8ABF04C92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0697C9FE-8671-4DE9-A6BE-C75B34B0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DDB594E8-E927-44BA-ACB6-57DC79F3FA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F532C63C-5297-4F29-8546-29E7979C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649E350B-5BA8-4B3E-ACDE-7FE065249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0C505418-5593-4653-B8A7-6B5F3AA50E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21698256-3F83-4FF2-A383-5C348AAAF0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940E4547-2677-4597-87BC-541374F4F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13E238CF-BBD8-4DC5-B4D9-246FAABD98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F0120261-0D61-46E5-BDE3-A1E0EDA8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0A75605-E789-40D7-87F1-1B4BE74FB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5552180C-8CF8-4E57-8455-78C741912D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17AA6A97-5FD5-40E0-8B6E-A3D4FBF9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B03B2C3C-FBCD-4476-8879-3C84FD824E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222E529F-7751-40D7-A863-0F16E0565FCB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71DCA2F4-9E45-40A3-840D-30C5D001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5700099E-9072-40DE-9829-98B5905A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DC2C6AA3-DACF-4FE0-9FB0-8CB14C0D56B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AB4BC879-F68E-474B-A4E7-F7A9CBD851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9B9ADCD8-2213-42DA-BFE0-96351B5CF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68D1B300-0C5F-473F-88A3-ACC808BBA1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FFC19078-551C-4367-B707-A5FFC6DDB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4B705198-D609-4FA1-8D86-BD2E46517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55B34E8E-7336-4BCD-A3E8-B23EE0D64B3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DF9F36E4-FEF4-4097-8B3D-6DEAD0A350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735D7A0-3C27-48D0-AD72-CD299C878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CFCB7893-4BAE-41CE-A361-C890A3E40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F5C59F2D-BD02-4DF4-BCA3-57CECDE1F3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2CC94EF6-1CFA-4892-B57C-4B05A51B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491DF31D-76F6-4404-9103-107263D196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>
            <a:extLst>
              <a:ext uri="{FF2B5EF4-FFF2-40B4-BE49-F238E27FC236}">
                <a16:creationId xmlns:a16="http://schemas.microsoft.com/office/drawing/2014/main" id="{2D9A7DBE-4B22-4D63-8953-28B27396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>
            <a:extLst>
              <a:ext uri="{FF2B5EF4-FFF2-40B4-BE49-F238E27FC236}">
                <a16:creationId xmlns:a16="http://schemas.microsoft.com/office/drawing/2014/main" id="{CC3879F6-4058-4D83-AE52-997FADCD8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038F6F80-FB20-4F75-B2FA-4420AFC0AF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>
            <a:extLst>
              <a:ext uri="{FF2B5EF4-FFF2-40B4-BE49-F238E27FC236}">
                <a16:creationId xmlns:a16="http://schemas.microsoft.com/office/drawing/2014/main" id="{6FA1D2D0-BBE5-4F83-8736-7D42DA63F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>
            <a:extLst>
              <a:ext uri="{FF2B5EF4-FFF2-40B4-BE49-F238E27FC236}">
                <a16:creationId xmlns:a16="http://schemas.microsoft.com/office/drawing/2014/main" id="{16F11A8D-395E-4EF0-B852-8CEA271E4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>
            <a:extLst>
              <a:ext uri="{FF2B5EF4-FFF2-40B4-BE49-F238E27FC236}">
                <a16:creationId xmlns:a16="http://schemas.microsoft.com/office/drawing/2014/main" id="{F2AF369C-46AD-42B5-9F9E-D0C523C84B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>
            <a:extLst>
              <a:ext uri="{FF2B5EF4-FFF2-40B4-BE49-F238E27FC236}">
                <a16:creationId xmlns:a16="http://schemas.microsoft.com/office/drawing/2014/main" id="{3AC7150D-80EB-4252-AD97-72AC4C6B54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>
            <a:extLst>
              <a:ext uri="{FF2B5EF4-FFF2-40B4-BE49-F238E27FC236}">
                <a16:creationId xmlns:a16="http://schemas.microsoft.com/office/drawing/2014/main" id="{9B7BB09A-45CC-43F4-ADBA-F6961DCD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>
            <a:extLst>
              <a:ext uri="{FF2B5EF4-FFF2-40B4-BE49-F238E27FC236}">
                <a16:creationId xmlns:a16="http://schemas.microsoft.com/office/drawing/2014/main" id="{D448AAAD-381B-444E-967B-3104A1146F8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>
            <a:extLst>
              <a:ext uri="{FF2B5EF4-FFF2-40B4-BE49-F238E27FC236}">
                <a16:creationId xmlns:a16="http://schemas.microsoft.com/office/drawing/2014/main" id="{FC5BCCB8-0CC8-4AD7-A345-4692AFB5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>
            <a:extLst>
              <a:ext uri="{FF2B5EF4-FFF2-40B4-BE49-F238E27FC236}">
                <a16:creationId xmlns:a16="http://schemas.microsoft.com/office/drawing/2014/main" id="{1066318D-130A-4ABA-942A-32EF0B091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>
            <a:extLst>
              <a:ext uri="{FF2B5EF4-FFF2-40B4-BE49-F238E27FC236}">
                <a16:creationId xmlns:a16="http://schemas.microsoft.com/office/drawing/2014/main" id="{FF7B20BC-C9ED-44E8-8AAA-0AC6C19FB3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>
            <a:extLst>
              <a:ext uri="{FF2B5EF4-FFF2-40B4-BE49-F238E27FC236}">
                <a16:creationId xmlns:a16="http://schemas.microsoft.com/office/drawing/2014/main" id="{581CBC4D-EC94-4D21-A063-CDC7A0A16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>
            <a:extLst>
              <a:ext uri="{FF2B5EF4-FFF2-40B4-BE49-F238E27FC236}">
                <a16:creationId xmlns:a16="http://schemas.microsoft.com/office/drawing/2014/main" id="{5F623E14-3EC7-4077-B35A-ECD45DE9D4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>
            <a:extLst>
              <a:ext uri="{FF2B5EF4-FFF2-40B4-BE49-F238E27FC236}">
                <a16:creationId xmlns:a16="http://schemas.microsoft.com/office/drawing/2014/main" id="{F025CE31-1B4C-48DD-8F33-057C1C62F37B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>
            <a:extLst>
              <a:ext uri="{FF2B5EF4-FFF2-40B4-BE49-F238E27FC236}">
                <a16:creationId xmlns:a16="http://schemas.microsoft.com/office/drawing/2014/main" id="{47249C98-621A-40FD-8A2C-AAAEA1E5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>
            <a:extLst>
              <a:ext uri="{FF2B5EF4-FFF2-40B4-BE49-F238E27FC236}">
                <a16:creationId xmlns:a16="http://schemas.microsoft.com/office/drawing/2014/main" id="{F8B7DFB3-0ACB-47E4-9F04-DCD2EB9C4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>
            <a:extLst>
              <a:ext uri="{FF2B5EF4-FFF2-40B4-BE49-F238E27FC236}">
                <a16:creationId xmlns:a16="http://schemas.microsoft.com/office/drawing/2014/main" id="{DE785423-CF05-45A1-A91B-FFA199DC5F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>
            <a:extLst>
              <a:ext uri="{FF2B5EF4-FFF2-40B4-BE49-F238E27FC236}">
                <a16:creationId xmlns:a16="http://schemas.microsoft.com/office/drawing/2014/main" id="{1F1C71D0-36D9-473F-AD75-DC2B9882A9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>
            <a:extLst>
              <a:ext uri="{FF2B5EF4-FFF2-40B4-BE49-F238E27FC236}">
                <a16:creationId xmlns:a16="http://schemas.microsoft.com/office/drawing/2014/main" id="{75B65192-40DE-41F6-B98D-3129B3A11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>
            <a:extLst>
              <a:ext uri="{FF2B5EF4-FFF2-40B4-BE49-F238E27FC236}">
                <a16:creationId xmlns:a16="http://schemas.microsoft.com/office/drawing/2014/main" id="{CB547345-774B-4888-86F7-A84CEEAADB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>
            <a:extLst>
              <a:ext uri="{FF2B5EF4-FFF2-40B4-BE49-F238E27FC236}">
                <a16:creationId xmlns:a16="http://schemas.microsoft.com/office/drawing/2014/main" id="{3EFDB922-B81B-4F41-86CB-2C93D39E4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>
            <a:extLst>
              <a:ext uri="{FF2B5EF4-FFF2-40B4-BE49-F238E27FC236}">
                <a16:creationId xmlns:a16="http://schemas.microsoft.com/office/drawing/2014/main" id="{64324242-A302-40ED-8436-0D277C28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>
            <a:extLst>
              <a:ext uri="{FF2B5EF4-FFF2-40B4-BE49-F238E27FC236}">
                <a16:creationId xmlns:a16="http://schemas.microsoft.com/office/drawing/2014/main" id="{8A4A84BE-D328-46FD-A65B-8EBB4FED4B3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>
            <a:extLst>
              <a:ext uri="{FF2B5EF4-FFF2-40B4-BE49-F238E27FC236}">
                <a16:creationId xmlns:a16="http://schemas.microsoft.com/office/drawing/2014/main" id="{4E152B4D-7AA6-4793-A099-E7BD21A7A6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6;p2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76536"/>
          <a:stretch/>
        </p:blipFill>
        <p:spPr>
          <a:xfrm>
            <a:off x="8815751" y="4683775"/>
            <a:ext cx="258600" cy="393600"/>
          </a:xfrm>
          <a:prstGeom prst="rect">
            <a:avLst/>
          </a:prstGeom>
          <a:ln>
            <a:noFill/>
          </a:ln>
        </p:spPr>
      </p:pic>
      <p:sp>
        <p:nvSpPr>
          <p:cNvPr id="97" name="Google Shape;97;p25">
            <a:extLst>
              <a:ext uri="{FF2B5EF4-FFF2-40B4-BE49-F238E27FC236}">
                <a16:creationId xmlns:a16="http://schemas.microsoft.com/office/drawing/2014/main" id="{F258B795-D935-47D8-BAEF-66CADE23118E}"/>
              </a:ext>
            </a:extLst>
          </p:cNvPr>
          <p:cNvSpPr>
            <a:spLocks noGrp="1"/>
          </p:cNvSpPr>
          <p:nvPr/>
        </p:nvSpPr>
        <p:spPr>
          <a:xfrm rot="-8293048">
            <a:off x="6851623" y="-2339201"/>
            <a:ext cx="3707761" cy="8529736"/>
          </a:xfrm>
          <a:prstGeom prst="triangle">
            <a:avLst>
              <a:gd name="adj" fmla="val 50000"/>
            </a:avLst>
          </a:prstGeom>
          <a:solidFill>
            <a:srgbClr val="0F76BA">
              <a:alpha val="3038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>
            <a:extLst>
              <a:ext uri="{FF2B5EF4-FFF2-40B4-BE49-F238E27FC236}">
                <a16:creationId xmlns:a16="http://schemas.microsoft.com/office/drawing/2014/main" id="{FBED90B4-D0FC-42E5-8A44-A780939B1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27">
            <a:extLst>
              <a:ext uri="{FF2B5EF4-FFF2-40B4-BE49-F238E27FC236}">
                <a16:creationId xmlns:a16="http://schemas.microsoft.com/office/drawing/2014/main" id="{78BCD21C-D277-4BB2-9392-656D47E97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27">
            <a:extLst>
              <a:ext uri="{FF2B5EF4-FFF2-40B4-BE49-F238E27FC236}">
                <a16:creationId xmlns:a16="http://schemas.microsoft.com/office/drawing/2014/main" id="{808ACF72-6DDE-4B82-BEF1-FE702FC3C3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>
            <a:extLst>
              <a:ext uri="{FF2B5EF4-FFF2-40B4-BE49-F238E27FC236}">
                <a16:creationId xmlns:a16="http://schemas.microsoft.com/office/drawing/2014/main" id="{91396517-CD2F-49C9-B748-58CB4A38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>
            <a:extLst>
              <a:ext uri="{FF2B5EF4-FFF2-40B4-BE49-F238E27FC236}">
                <a16:creationId xmlns:a16="http://schemas.microsoft.com/office/drawing/2014/main" id="{ED787204-AEF6-4A81-A4B4-80E79BBB5AB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>
            <a:extLst>
              <a:ext uri="{FF2B5EF4-FFF2-40B4-BE49-F238E27FC236}">
                <a16:creationId xmlns:a16="http://schemas.microsoft.com/office/drawing/2014/main" id="{006C4AAD-C063-4702-AA47-4D7CA1AD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1" name="Google Shape;111;p29">
            <a:extLst>
              <a:ext uri="{FF2B5EF4-FFF2-40B4-BE49-F238E27FC236}">
                <a16:creationId xmlns:a16="http://schemas.microsoft.com/office/drawing/2014/main" id="{E43737EF-5BF4-43FC-87E8-7038EE1775B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>
            <a:extLst>
              <a:ext uri="{FF2B5EF4-FFF2-40B4-BE49-F238E27FC236}">
                <a16:creationId xmlns:a16="http://schemas.microsoft.com/office/drawing/2014/main" id="{31672C32-00F2-44C8-82B8-B3A38036B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4" name="Google Shape;114;p30">
            <a:extLst>
              <a:ext uri="{FF2B5EF4-FFF2-40B4-BE49-F238E27FC236}">
                <a16:creationId xmlns:a16="http://schemas.microsoft.com/office/drawing/2014/main" id="{B6BAFA6C-152F-4FAF-9CB6-2C87F520E1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1">
            <a:extLst>
              <a:ext uri="{FF2B5EF4-FFF2-40B4-BE49-F238E27FC236}">
                <a16:creationId xmlns:a16="http://schemas.microsoft.com/office/drawing/2014/main" id="{2ACD4D30-F39B-44A2-B516-CF16428EF6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9BA6A068-8FA2-42C7-8A1F-0F8A11E9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429D0DC3-AEF6-42FF-B539-48D4A2F20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3DEE6C49-158E-44DE-AEE5-06629975FF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988C9C0C-D894-4419-87EE-FDF160A4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9A5F4569-1D18-4CD5-B891-51483C22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5263CDEA-2DC2-49DB-B8ED-682F6D6951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>
            <a:extLst>
              <a:ext uri="{FF2B5EF4-FFF2-40B4-BE49-F238E27FC236}">
                <a16:creationId xmlns:a16="http://schemas.microsoft.com/office/drawing/2014/main" id="{CE07DB51-0455-4CCB-BFCC-0AF47A59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0" name="Google Shape;100;p26">
            <a:extLst>
              <a:ext uri="{FF2B5EF4-FFF2-40B4-BE49-F238E27FC236}">
                <a16:creationId xmlns:a16="http://schemas.microsoft.com/office/drawing/2014/main" id="{799EFAB0-91B3-49BF-ADAE-6692CBC83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1" name="Google Shape;101;p26">
            <a:extLst>
              <a:ext uri="{FF2B5EF4-FFF2-40B4-BE49-F238E27FC236}">
                <a16:creationId xmlns:a16="http://schemas.microsoft.com/office/drawing/2014/main" id="{012EC415-DEF3-4557-80F3-C442641E48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21;p32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20" b="30"/>
          <a:stretch/>
        </p:blipFill>
        <p:spPr>
          <a:xfrm>
            <a:off x="0" y="0"/>
            <a:ext cx="9144001" cy="5143501"/>
          </a:xfrm>
          <a:prstGeom prst="rect">
            <a:avLst/>
          </a:prstGeom>
          <a:ln>
            <a:noFill/>
          </a:ln>
        </p:spPr>
      </p:pic>
      <p:pic>
        <p:nvPicPr>
          <p:cNvPr id="181" name="Google Shape;122;p3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325" y="468084"/>
            <a:ext cx="1001023" cy="343126"/>
          </a:xfrm>
          <a:prstGeom prst="rect">
            <a:avLst/>
          </a:prstGeom>
          <a:ln>
            <a:noFill/>
          </a:ln>
        </p:spPr>
      </p:pic>
      <p:pic>
        <p:nvPicPr>
          <p:cNvPr id="182" name="Google Shape;123;p3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2140" y="482376"/>
            <a:ext cx="609352" cy="314548"/>
          </a:xfrm>
          <a:prstGeom prst="rect">
            <a:avLst/>
          </a:prstGeom>
          <a:ln>
            <a:noFill/>
          </a:ln>
        </p:spPr>
      </p:pic>
      <p:pic>
        <p:nvPicPr>
          <p:cNvPr id="183" name="Google Shape;124;p32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66525" y="511393"/>
            <a:ext cx="425966" cy="256514"/>
          </a:xfrm>
          <a:prstGeom prst="rect">
            <a:avLst/>
          </a:prstGeom>
          <a:ln>
            <a:noFill/>
          </a:ln>
        </p:spPr>
      </p:pic>
      <p:pic>
        <p:nvPicPr>
          <p:cNvPr id="184" name="Google Shape;125;p32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61142" y="434787"/>
            <a:ext cx="542033" cy="409725"/>
          </a:xfrm>
          <a:prstGeom prst="rect">
            <a:avLst/>
          </a:prstGeom>
          <a:ln>
            <a:noFill/>
          </a:ln>
        </p:spPr>
      </p:pic>
      <p:sp>
        <p:nvSpPr>
          <p:cNvPr id="126" name="Google Shape;126;p32">
            <a:extLst>
              <a:ext uri="{FF2B5EF4-FFF2-40B4-BE49-F238E27FC236}">
                <a16:creationId xmlns:a16="http://schemas.microsoft.com/office/drawing/2014/main" id="{709BF5FB-5112-4F47-8EBF-239BE688A632}"/>
              </a:ext>
            </a:extLst>
          </p:cNvPr>
          <p:cNvSpPr>
            <a:spLocks noGrp="1"/>
          </p:cNvSpPr>
          <p:nvPr/>
        </p:nvSpPr>
        <p:spPr>
          <a:xfrm>
            <a:off x="1827875" y="278425"/>
            <a:ext cx="9000" cy="7224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27;p32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2826" y="390799"/>
            <a:ext cx="299700" cy="497700"/>
          </a:xfrm>
          <a:prstGeom prst="rect">
            <a:avLst/>
          </a:prstGeom>
          <a:ln>
            <a:noFill/>
          </a:ln>
        </p:spPr>
      </p:pic>
      <p:cxnSp>
        <p:nvCxnSpPr>
          <p:cNvPr id="187" name="Google Shape;128;p32"/>
          <p:cNvCxnSpPr/>
          <p:nvPr/>
        </p:nvCxnSpPr>
        <p:spPr>
          <a:xfrm>
            <a:off x="497200" y="4298925"/>
            <a:ext cx="0" cy="854400"/>
          </a:xfrm>
          <a:prstGeom prst="straightConnector1">
            <a:avLst/>
          </a:prstGeom>
          <a:ln w="28575" cap="flat">
            <a:solidFill>
              <a:srgbClr val="ED29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32">
            <a:extLst>
              <a:ext uri="{FF2B5EF4-FFF2-40B4-BE49-F238E27FC236}">
                <a16:creationId xmlns:a16="http://schemas.microsoft.com/office/drawing/2014/main" id="{194A114D-79A2-4A99-9076-7F1BC37F5FD5}"/>
              </a:ext>
            </a:extLst>
          </p:cNvPr>
          <p:cNvSpPr>
            <a:spLocks noGrp="1"/>
          </p:cNvSpPr>
          <p:nvPr/>
        </p:nvSpPr>
        <p:spPr>
          <a:xfrm>
            <a:off x="861325" y="3429000"/>
            <a:ext cx="4420200" cy="554100"/>
          </a:xfrm>
          <a:prstGeom prst="rect">
            <a:avLst/>
          </a:prstGeom>
          <a:noFill/>
          <a:ln>
            <a:noFill/>
          </a:ln>
          <a:effectLst>
            <a:outerShdw blurRad="100013" dist="7620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b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</a:rPr>
              <a:t>API Design Bootcamp | Week 5</a:t>
            </a:r>
          </a:p>
        </p:txBody>
      </p:sp>
      <p:sp>
        <p:nvSpPr>
          <p:cNvPr id="130" name="Google Shape;130;p32">
            <a:extLst>
              <a:ext uri="{FF2B5EF4-FFF2-40B4-BE49-F238E27FC236}">
                <a16:creationId xmlns:a16="http://schemas.microsoft.com/office/drawing/2014/main" id="{4FE7C99B-9DF8-4B3C-AD7C-0BC153A70F62}"/>
              </a:ext>
            </a:extLst>
          </p:cNvPr>
          <p:cNvSpPr>
            <a:spLocks noGrp="1"/>
          </p:cNvSpPr>
          <p:nvPr/>
        </p:nvSpPr>
        <p:spPr>
          <a:xfrm>
            <a:off x="861346" y="3749326"/>
            <a:ext cx="6140387" cy="952500"/>
          </a:xfrm>
          <a:prstGeom prst="rect">
            <a:avLst/>
          </a:prstGeom>
          <a:noFill/>
          <a:ln>
            <a:noFill/>
          </a:ln>
          <a:effectLst>
            <a:outerShdw blurRad="100013" dist="76200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b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The Data Layer</a:t>
            </a:r>
          </a:p>
        </p:txBody>
      </p:sp>
    </p:spTree>
    <p:extLst>
      <p:ext uri="{BB962C8B-B14F-4D97-AF65-F5344CB8AC3E}">
        <p14:creationId xmlns:p14="http://schemas.microsoft.com/office/powerpoint/2010/main" val="1216901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8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58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The data layer protects memory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1191AE59-B4A6-4AF4-9474-F69BB07DBEB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792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875" b="1">
                <a:solidFill>
                  <a:srgbClr val="1F2937"/>
                </a:solidFill>
              </a:defRPr>
            </a:pPr>
            <a:r>
              <a:rPr sz="1875" b="1">
                <a:solidFill>
                  <a:srgbClr val="1F2937"/>
                </a:solidFill>
              </a:rPr>
              <a:t>The application asks for data; the data layer decides how it is stored.</a:t>
            </a:r>
          </a:p>
        </p:txBody>
      </p:sp>
      <p:sp>
        <p:nvSpPr>
          <p:cNvPr id="260" name="Rectangle: Rounded Corners 259">
            <a:extLst>
              <a:ext uri="{FF2B5EF4-FFF2-40B4-BE49-F238E27FC236}">
                <a16:creationId xmlns:a16="http://schemas.microsoft.com/office/drawing/2014/main" id="{9C851258-B915-40B1-B996-ED26CFE4A12F}"/>
              </a:ext>
            </a:extLst>
          </p:cNvPr>
          <p:cNvSpPr>
            <a:spLocks noGrp="1"/>
          </p:cNvSpPr>
          <p:nvPr/>
        </p:nvSpPr>
        <p:spPr>
          <a:xfrm>
            <a:off x="514350" y="2047875"/>
            <a:ext cx="180975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C98FE9C4-CF72-4ED8-9C61-3643F5CA794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PERSISTENCE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AB73F4D3-9A65-4BA1-800B-A4179D351C72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relational state</a:t>
            </a:r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483FF414-CE86-4AAD-9175-75D116E5276F}"/>
              </a:ext>
            </a:extLst>
          </p:cNvPr>
          <p:cNvSpPr>
            <a:spLocks noGrp="1"/>
          </p:cNvSpPr>
          <p:nvPr/>
        </p:nvSpPr>
        <p:spPr>
          <a:xfrm>
            <a:off x="2667000" y="2047875"/>
            <a:ext cx="180975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76B93C62-626A-471E-BCB1-E0F8FEE39ABA}"/>
              </a:ext>
            </a:extLst>
          </p:cNvPr>
          <p:cNvSpPr>
            <a:spLocks noGrp="1"/>
          </p:cNvSpPr>
          <p:nvPr/>
        </p:nvSpPr>
        <p:spPr>
          <a:xfrm>
            <a:off x="2838450" y="22669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INTEGRITY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71C86BBC-5B55-4D55-A9B2-7ECAA21A70AE}"/>
              </a:ext>
            </a:extLst>
          </p:cNvPr>
          <p:cNvSpPr>
            <a:spLocks noGrp="1"/>
          </p:cNvSpPr>
          <p:nvPr/>
        </p:nvSpPr>
        <p:spPr>
          <a:xfrm>
            <a:off x="2838450" y="276225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keys + constraints</a:t>
            </a: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83CFCC55-717F-40EA-939D-8EAA4489A384}"/>
              </a:ext>
            </a:extLst>
          </p:cNvPr>
          <p:cNvSpPr>
            <a:spLocks noGrp="1"/>
          </p:cNvSpPr>
          <p:nvPr/>
        </p:nvSpPr>
        <p:spPr>
          <a:xfrm>
            <a:off x="4819650" y="2047875"/>
            <a:ext cx="180975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1A56614-0439-4A0D-871A-E37B35B2EE08}"/>
              </a:ext>
            </a:extLst>
          </p:cNvPr>
          <p:cNvSpPr>
            <a:spLocks noGrp="1"/>
          </p:cNvSpPr>
          <p:nvPr/>
        </p:nvSpPr>
        <p:spPr>
          <a:xfrm>
            <a:off x="4991100" y="22669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1F2937"/>
                </a:solidFill>
              </a:defRPr>
            </a:pPr>
            <a:r>
              <a:rPr sz="1350" b="1">
                <a:solidFill>
                  <a:srgbClr val="1F2937"/>
                </a:solidFill>
              </a:rPr>
              <a:t>PERFORMANCE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3954E6A4-FAC3-4A3C-A0A9-8EDC985A40AD}"/>
              </a:ext>
            </a:extLst>
          </p:cNvPr>
          <p:cNvSpPr>
            <a:spLocks noGrp="1"/>
          </p:cNvSpPr>
          <p:nvPr/>
        </p:nvSpPr>
        <p:spPr>
          <a:xfrm>
            <a:off x="4991100" y="276225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4591"/>
          </a:bodyPr>
          <a:lstStyle/>
          <a:p>
            <a:pPr algn="ctr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indexes + projections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ECE0585E-D356-4E45-916E-C18741D5D999}"/>
              </a:ext>
            </a:extLst>
          </p:cNvPr>
          <p:cNvSpPr>
            <a:spLocks noGrp="1"/>
          </p:cNvSpPr>
          <p:nvPr/>
        </p:nvSpPr>
        <p:spPr>
          <a:xfrm>
            <a:off x="6972300" y="2047875"/>
            <a:ext cx="1809750" cy="1409700"/>
          </a:xfrm>
          <a:prstGeom prst="roundRect">
            <a:avLst>
              <a:gd name="adj" fmla="val 8108"/>
            </a:avLst>
          </a:prstGeom>
          <a:solidFill>
            <a:srgbClr val="EAF5FA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24FCAAB3-89E6-4B1D-A53A-9EE7CE1AF678}"/>
              </a:ext>
            </a:extLst>
          </p:cNvPr>
          <p:cNvSpPr>
            <a:spLocks noGrp="1"/>
          </p:cNvSpPr>
          <p:nvPr/>
        </p:nvSpPr>
        <p:spPr>
          <a:xfrm>
            <a:off x="7143750" y="22669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EVOLUTION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D269F1F2-A698-411C-A21C-34379F4C2EC6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4809"/>
          </a:bodyPr>
          <a:lstStyle/>
          <a:p>
            <a:pPr algn="ctr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migrations + provider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DE280F0-2AFB-43AD-9003-762590BCE5FB}"/>
              </a:ext>
            </a:extLst>
          </p:cNvPr>
          <p:cNvSpPr>
            <a:spLocks noGrp="1"/>
          </p:cNvSpPr>
          <p:nvPr/>
        </p:nvSpPr>
        <p:spPr>
          <a:xfrm>
            <a:off x="1028700" y="3876675"/>
            <a:ext cx="7086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0B83BD"/>
                </a:solidFill>
              </a:defRPr>
            </a:pPr>
            <a:r>
              <a:rPr sz="1575" b="1">
                <a:solidFill>
                  <a:srgbClr val="0B83BD"/>
                </a:solidFill>
              </a:rPr>
              <a:t>Database details stay behind a boundary the application owns.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8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58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Repositories persist aggregates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2A117B93-9CBB-43E7-A993-A6FE7FDECB59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5619750" cy="2857500"/>
          </a:xfrm>
          <a:prstGeom prst="roundRect">
            <a:avLst>
              <a:gd name="adj" fmla="val 4000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22E7B26D-0E20-430C-ABB3-A32DBD73582A}"/>
              </a:ext>
            </a:extLst>
          </p:cNvPr>
          <p:cNvSpPr>
            <a:spLocks noGrp="1"/>
          </p:cNvSpPr>
          <p:nvPr/>
        </p:nvSpPr>
        <p:spPr>
          <a:xfrm>
            <a:off x="647700" y="1314450"/>
            <a:ext cx="535305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public interface ICharacterRepository</a:t>
            </a:r>
          </a:p>
          <a:p>
            <a:pPr algn="l">
              <a:buNone/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{</a:t>
            </a:r>
          </a:p>
          <a:p>
            <a:pPr algn="l">
              <a:buNone/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    Task&lt;Character?&gt; Get(Guid id);</a:t>
            </a:r>
          </a:p>
          <a:p>
            <a:pPr algn="l">
              <a:buNone/>
              <a:defRPr sz="1050" b="0">
                <a:solidFill>
                  <a:srgbClr val="EDF4F7"/>
                </a:solidFill>
              </a:defRPr>
            </a:pPr>
            <a:endParaRPr sz="1050" b="0">
              <a:solidFill>
                <a:srgbClr val="F3F4F6"/>
              </a:solidFill>
            </a:endParaRPr>
          </a:p>
          <a:p>
            <a:pPr algn="l">
              <a:buNone/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    Task Save(Character character);</a:t>
            </a:r>
          </a:p>
          <a:p>
            <a:pPr algn="l">
              <a:buNone/>
              <a:defRPr sz="1050" b="0">
                <a:solidFill>
                  <a:srgbClr val="F3F4F6"/>
                </a:solidFill>
              </a:defRPr>
            </a:pPr>
            <a:r>
              <a:rPr sz="1050" b="0">
                <a:solidFill>
                  <a:srgbClr val="F3F4F6"/>
                </a:solidFill>
              </a:rPr>
              <a:t>}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4CC726B5-48CE-41BC-903E-09F15D7A9838}"/>
              </a:ext>
            </a:extLst>
          </p:cNvPr>
          <p:cNvSpPr>
            <a:spLocks noGrp="1"/>
          </p:cNvSpPr>
          <p:nvPr/>
        </p:nvSpPr>
        <p:spPr>
          <a:xfrm>
            <a:off x="6419850" y="1219200"/>
            <a:ext cx="110490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DF407B3-23AB-45A5-ADB4-C6DA4B2BF5B6}"/>
              </a:ext>
            </a:extLst>
          </p:cNvPr>
          <p:cNvSpPr>
            <a:spLocks noGrp="1"/>
          </p:cNvSpPr>
          <p:nvPr/>
        </p:nvSpPr>
        <p:spPr>
          <a:xfrm>
            <a:off x="6496050" y="12573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GET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483FE56F-2530-4D62-AF6A-475749B17485}"/>
              </a:ext>
            </a:extLst>
          </p:cNvPr>
          <p:cNvSpPr>
            <a:spLocks noGrp="1"/>
          </p:cNvSpPr>
          <p:nvPr/>
        </p:nvSpPr>
        <p:spPr>
          <a:xfrm>
            <a:off x="7620000" y="121920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2500" lnSpcReduction="10000"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 dirty="0">
                <a:solidFill>
                  <a:srgbClr val="5F6B76"/>
                </a:solidFill>
              </a:rPr>
              <a:t>Rehydrate</a:t>
            </a:r>
            <a:r>
              <a:rPr lang="en-US" sz="1200" b="0" dirty="0">
                <a:solidFill>
                  <a:srgbClr val="5F6B76"/>
                </a:solidFill>
              </a:rPr>
              <a:t>s</a:t>
            </a:r>
            <a:r>
              <a:rPr sz="1200" b="0" dirty="0">
                <a:solidFill>
                  <a:srgbClr val="5F6B76"/>
                </a:solidFill>
              </a:rPr>
              <a:t> an aggregate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B0870AF0-7CAC-432E-BAAA-A5FF86F130AF}"/>
              </a:ext>
            </a:extLst>
          </p:cNvPr>
          <p:cNvSpPr>
            <a:spLocks noGrp="1"/>
          </p:cNvSpPr>
          <p:nvPr/>
        </p:nvSpPr>
        <p:spPr>
          <a:xfrm>
            <a:off x="6419850" y="1943100"/>
            <a:ext cx="110490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E711289-464C-44F2-A0B2-55F683865C94}"/>
              </a:ext>
            </a:extLst>
          </p:cNvPr>
          <p:cNvSpPr>
            <a:spLocks noGrp="1"/>
          </p:cNvSpPr>
          <p:nvPr/>
        </p:nvSpPr>
        <p:spPr>
          <a:xfrm>
            <a:off x="6496050" y="19812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SAVE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F07314F-A826-437A-8551-BBF1F07AE232}"/>
              </a:ext>
            </a:extLst>
          </p:cNvPr>
          <p:cNvSpPr>
            <a:spLocks noGrp="1"/>
          </p:cNvSpPr>
          <p:nvPr/>
        </p:nvSpPr>
        <p:spPr>
          <a:xfrm>
            <a:off x="7620000" y="194310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3597" lnSpcReduction="10000"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 dirty="0">
                <a:solidFill>
                  <a:srgbClr val="5F6B76"/>
                </a:solidFill>
              </a:rPr>
              <a:t>Persist</a:t>
            </a:r>
            <a:r>
              <a:rPr lang="en-US" sz="1200" b="0" dirty="0">
                <a:solidFill>
                  <a:srgbClr val="5F6B76"/>
                </a:solidFill>
              </a:rPr>
              <a:t>s</a:t>
            </a:r>
            <a:r>
              <a:rPr sz="1200" b="0" dirty="0">
                <a:solidFill>
                  <a:srgbClr val="5F6B76"/>
                </a:solidFill>
              </a:rPr>
              <a:t> an aggregate</a:t>
            </a: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C3C96929-376A-4809-B7EC-C28C149730C5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110490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FE77C560-31C6-46C9-8E0C-186CFA88E72F}"/>
              </a:ext>
            </a:extLst>
          </p:cNvPr>
          <p:cNvSpPr>
            <a:spLocks noGrp="1"/>
          </p:cNvSpPr>
          <p:nvPr/>
        </p:nvSpPr>
        <p:spPr>
          <a:xfrm>
            <a:off x="6496050" y="27051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DOMAIN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9F686FE1-0962-486D-ACD7-730689C6582D}"/>
              </a:ext>
            </a:extLst>
          </p:cNvPr>
          <p:cNvSpPr>
            <a:spLocks noGrp="1"/>
          </p:cNvSpPr>
          <p:nvPr/>
        </p:nvSpPr>
        <p:spPr>
          <a:xfrm>
            <a:off x="7620000" y="266700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4359"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Uses Character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521BEFFC-A078-40C4-9259-C831E40F1983}"/>
              </a:ext>
            </a:extLst>
          </p:cNvPr>
          <p:cNvSpPr>
            <a:spLocks noGrp="1"/>
          </p:cNvSpPr>
          <p:nvPr/>
        </p:nvSpPr>
        <p:spPr>
          <a:xfrm>
            <a:off x="6419850" y="3390900"/>
            <a:ext cx="1104900" cy="304800"/>
          </a:xfrm>
          <a:prstGeom prst="roundRect">
            <a:avLst>
              <a:gd name="adj" fmla="val 37500"/>
            </a:avLst>
          </a:prstGeom>
          <a:solidFill>
            <a:srgbClr val="F299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217E623-8061-4697-BEF6-32F259368092}"/>
              </a:ext>
            </a:extLst>
          </p:cNvPr>
          <p:cNvSpPr>
            <a:spLocks noGrp="1"/>
          </p:cNvSpPr>
          <p:nvPr/>
        </p:nvSpPr>
        <p:spPr>
          <a:xfrm>
            <a:off x="6496050" y="34290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6964FF4-5CD1-4FDD-A423-F3F785958FD8}"/>
              </a:ext>
            </a:extLst>
          </p:cNvPr>
          <p:cNvSpPr>
            <a:spLocks noGrp="1"/>
          </p:cNvSpPr>
          <p:nvPr/>
        </p:nvSpPr>
        <p:spPr>
          <a:xfrm>
            <a:off x="7620000" y="339090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71103"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Application owns it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8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58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Behavior and read models diverge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DE4D0C56-552E-4FF2-A07F-99EA0A08FA21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BEHAVIOR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6DC1F4CA-917D-454A-BB92-4ED1CCF3A9DE}"/>
              </a:ext>
            </a:extLst>
          </p:cNvPr>
          <p:cNvSpPr>
            <a:spLocks noGrp="1"/>
          </p:cNvSpPr>
          <p:nvPr/>
        </p:nvSpPr>
        <p:spPr>
          <a:xfrm>
            <a:off x="7467600" y="11620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buNone/>
              <a:defRPr sz="1200" b="1">
                <a:solidFill>
                  <a:srgbClr val="0B83BD"/>
                </a:solidFill>
              </a:defRPr>
            </a:pPr>
            <a:r>
              <a:rPr sz="1200" b="1">
                <a:solidFill>
                  <a:srgbClr val="0B83BD"/>
                </a:solidFill>
              </a:rPr>
              <a:t>READ MODEL</a:t>
            </a:r>
          </a:p>
        </p:txBody>
      </p:sp>
      <p:sp>
        <p:nvSpPr>
          <p:cNvPr id="261" name="Straight Connector 260">
            <a:extLst>
              <a:ext uri="{FF2B5EF4-FFF2-40B4-BE49-F238E27FC236}">
                <a16:creationId xmlns:a16="http://schemas.microsoft.com/office/drawing/2014/main" id="{1D9D9BDB-8BCD-4D03-819B-C2A7EC72C71E}"/>
              </a:ext>
            </a:extLst>
          </p:cNvPr>
          <p:cNvSpPr>
            <a:spLocks noGrp="1"/>
          </p:cNvSpPr>
          <p:nvPr/>
        </p:nvSpPr>
        <p:spPr>
          <a:xfrm>
            <a:off x="2171700" y="2724150"/>
            <a:ext cx="552450" cy="0"/>
          </a:xfrm>
          <a:prstGeom prst="line">
            <a:avLst/>
          </a:prstGeom>
          <a:noFill/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71D42F1D-9706-4F35-A493-C8F3DD838467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1581150" cy="114300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C87BAC7-E77B-4F95-B3A9-7221DAB16E65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Use case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EC8F705F-B596-4F9C-AF12-B95997E46049}"/>
              </a:ext>
            </a:extLst>
          </p:cNvPr>
          <p:cNvSpPr>
            <a:spLocks noGrp="1"/>
          </p:cNvSpPr>
          <p:nvPr/>
        </p:nvSpPr>
        <p:spPr>
          <a:xfrm>
            <a:off x="2724150" y="2152650"/>
            <a:ext cx="15811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E4F8FBAF-D0B8-49D3-9D7F-3DEEFFD22619}"/>
              </a:ext>
            </a:extLst>
          </p:cNvPr>
          <p:cNvSpPr>
            <a:spLocks noGrp="1"/>
          </p:cNvSpPr>
          <p:nvPr/>
        </p:nvSpPr>
        <p:spPr>
          <a:xfrm>
            <a:off x="2876550" y="241935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Repository</a:t>
            </a:r>
          </a:p>
        </p:txBody>
      </p:sp>
      <p:sp>
        <p:nvSpPr>
          <p:cNvPr id="266" name="Rectangle: Rounded Corners 265">
            <a:extLst>
              <a:ext uri="{FF2B5EF4-FFF2-40B4-BE49-F238E27FC236}">
                <a16:creationId xmlns:a16="http://schemas.microsoft.com/office/drawing/2014/main" id="{313D0D89-D055-46AE-BBBB-B611027F50B3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1581150" cy="1143000"/>
          </a:xfrm>
          <a:prstGeom prst="roundRect">
            <a:avLst>
              <a:gd name="adj" fmla="val 10000"/>
            </a:avLst>
          </a:prstGeom>
          <a:solidFill>
            <a:srgbClr val="EAF5FA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629A2819-4FEB-4064-ABA8-5DCD1AF435BD}"/>
              </a:ext>
            </a:extLst>
          </p:cNvPr>
          <p:cNvSpPr>
            <a:spLocks noGrp="1"/>
          </p:cNvSpPr>
          <p:nvPr/>
        </p:nvSpPr>
        <p:spPr>
          <a:xfrm>
            <a:off x="5010150" y="241935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Use case</a:t>
            </a: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3158B633-155C-4D61-8C50-5255BC5BEF0D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1581150" cy="114300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5247509C-1AD6-4E7F-9D1A-876F1D871970}"/>
              </a:ext>
            </a:extLst>
          </p:cNvPr>
          <p:cNvSpPr>
            <a:spLocks noGrp="1"/>
          </p:cNvSpPr>
          <p:nvPr/>
        </p:nvSpPr>
        <p:spPr>
          <a:xfrm>
            <a:off x="7143750" y="2419350"/>
            <a:ext cx="1276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Data query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230B578B-4188-4DB3-882A-6E0E3ECFF357}"/>
              </a:ext>
            </a:extLst>
          </p:cNvPr>
          <p:cNvSpPr>
            <a:spLocks noGrp="1"/>
          </p:cNvSpPr>
          <p:nvPr/>
        </p:nvSpPr>
        <p:spPr>
          <a:xfrm>
            <a:off x="666750" y="36480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5F6B76"/>
                </a:solidFill>
              </a:defRPr>
            </a:pPr>
            <a:r>
              <a:rPr sz="1275" b="1">
                <a:solidFill>
                  <a:srgbClr val="5F6B76"/>
                </a:solidFill>
              </a:rPr>
              <a:t>load • change • save an aggregate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2A2CF8D6-9441-450C-BE16-0BA3496DF081}"/>
              </a:ext>
            </a:extLst>
          </p:cNvPr>
          <p:cNvSpPr>
            <a:spLocks noGrp="1"/>
          </p:cNvSpPr>
          <p:nvPr/>
        </p:nvSpPr>
        <p:spPr>
          <a:xfrm>
            <a:off x="5067300" y="364807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5F6B76"/>
                </a:solidFill>
              </a:defRPr>
            </a:pPr>
            <a:r>
              <a:rPr sz="1275" b="1">
                <a:solidFill>
                  <a:srgbClr val="5F6B76"/>
                </a:solidFill>
              </a:rPr>
              <a:t>filter • select • return only needed fields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01DEB376-7166-4E99-A292-4065B2310644}"/>
              </a:ext>
            </a:extLst>
          </p:cNvPr>
          <p:cNvSpPr>
            <a:spLocks noGrp="1"/>
          </p:cNvSpPr>
          <p:nvPr/>
        </p:nvSpPr>
        <p:spPr>
          <a:xfrm>
            <a:off x="1504950" y="4257675"/>
            <a:ext cx="6134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317"/>
          </a:bodyPr>
          <a:lstStyle/>
          <a:p>
            <a:pPr algn="ctr"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Repositories restore behavior; data queries shape efficient reads.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079DE6B-D13C-4A1C-EA2E-287A9505E150}"/>
              </a:ext>
            </a:extLst>
          </p:cNvPr>
          <p:cNvSpPr>
            <a:spLocks noGrp="1"/>
          </p:cNvSpPr>
          <p:nvPr/>
        </p:nvSpPr>
        <p:spPr>
          <a:xfrm>
            <a:off x="6438900" y="2766116"/>
            <a:ext cx="552450" cy="0"/>
          </a:xfrm>
          <a:prstGeom prst="line">
            <a:avLst/>
          </a:prstGeom>
          <a:noFill/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1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672221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Saving maps aggregates to relational state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61068D7A-E4EC-478D-9283-0D9F74F33F24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5219700" cy="2400300"/>
          </a:xfrm>
          <a:prstGeom prst="roundRect">
            <a:avLst>
              <a:gd name="adj" fmla="val 4762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945942E6-FCBB-4289-8A35-A6EED11B2EA2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495300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77778"/>
          </a:bodyPr>
          <a:lstStyle/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public async Task Save(Character character)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{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var entity = db.Set&lt;CharacterEntity&gt;()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    .FirstOrDefault(i =&gt;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        i.CharacterId == character.Id);</a:t>
            </a:r>
          </a:p>
          <a:p>
            <a:pPr algn="l">
              <a:buNone/>
              <a:defRPr sz="1200" b="0">
                <a:solidFill>
                  <a:srgbClr val="EDF4F7"/>
                </a:solidFill>
              </a:defRPr>
            </a:pPr>
            <a:endParaRPr sz="1200" b="0">
              <a:solidFill>
                <a:srgbClr val="F3F4F6"/>
              </a:solidFill>
            </a:endParaRP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if (entity is null)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{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    entity = new CharacterEntity { ... };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    db.Add(entity);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}</a:t>
            </a:r>
          </a:p>
          <a:p>
            <a:pPr algn="l">
              <a:buNone/>
              <a:defRPr sz="1200" b="0">
                <a:solidFill>
                  <a:srgbClr val="EDF4F7"/>
                </a:solidFill>
              </a:defRPr>
            </a:pPr>
            <a:endParaRPr sz="1200" b="0">
              <a:solidFill>
                <a:srgbClr val="F3F4F6"/>
              </a:solidFill>
            </a:endParaRP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entity.Name = character.Name;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    entity.Class = character.Class.Name;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>
                <a:solidFill>
                  <a:srgbClr val="F3F4F6"/>
                </a:solidFill>
              </a:rPr>
              <a:t>}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340BFF20-E798-43FA-BDAD-6BF47FCFB3FD}"/>
              </a:ext>
            </a:extLst>
          </p:cNvPr>
          <p:cNvSpPr>
            <a:spLocks noGrp="1"/>
          </p:cNvSpPr>
          <p:nvPr/>
        </p:nvSpPr>
        <p:spPr>
          <a:xfrm>
            <a:off x="6038850" y="1257300"/>
            <a:ext cx="2590800" cy="2400300"/>
          </a:xfrm>
          <a:prstGeom prst="roundRect">
            <a:avLst>
              <a:gd name="adj" fmla="val 4762"/>
            </a:avLst>
          </a:prstGeom>
          <a:solidFill>
            <a:srgbClr val="EAF5FA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8C634B2-C070-4083-899B-91BBDC7130C7}"/>
              </a:ext>
            </a:extLst>
          </p:cNvPr>
          <p:cNvSpPr>
            <a:spLocks noGrp="1"/>
          </p:cNvSpPr>
          <p:nvPr/>
        </p:nvSpPr>
        <p:spPr>
          <a:xfrm>
            <a:off x="6267450" y="1495425"/>
            <a:ext cx="213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154" lnSpcReduction="10000"/>
          </a:bodyPr>
          <a:lstStyle/>
          <a:p>
            <a:pPr algn="ctr">
              <a:buNone/>
              <a:defRPr sz="1950" b="1">
                <a:solidFill>
                  <a:srgbClr val="F2994A"/>
                </a:solidFill>
              </a:defRPr>
            </a:pPr>
            <a:r>
              <a:rPr sz="1950" b="1" dirty="0">
                <a:solidFill>
                  <a:srgbClr val="F2994A"/>
                </a:solidFill>
              </a:rPr>
              <a:t>AGGREGATE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7F3F0992-E0F0-4B1F-BBCB-6794AA20306A}"/>
              </a:ext>
            </a:extLst>
          </p:cNvPr>
          <p:cNvSpPr>
            <a:spLocks noGrp="1"/>
          </p:cNvSpPr>
          <p:nvPr/>
        </p:nvSpPr>
        <p:spPr>
          <a:xfrm>
            <a:off x="6267450" y="2009775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575" b="1">
                <a:solidFill>
                  <a:srgbClr val="1F2937"/>
                </a:solidFill>
              </a:defRPr>
            </a:pPr>
            <a:r>
              <a:rPr sz="1575" b="1">
                <a:solidFill>
                  <a:srgbClr val="1F2937"/>
                </a:solidFill>
              </a:rPr>
              <a:t>Character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5AC45465-DB13-4E72-B193-7579B35B8EF1}"/>
              </a:ext>
            </a:extLst>
          </p:cNvPr>
          <p:cNvSpPr>
            <a:spLocks noGrp="1"/>
          </p:cNvSpPr>
          <p:nvPr/>
        </p:nvSpPr>
        <p:spPr>
          <a:xfrm>
            <a:off x="6267450" y="2647950"/>
            <a:ext cx="21336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8517"/>
          </a:bodyPr>
          <a:lstStyle/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maps into related rows</a:t>
            </a:r>
          </a:p>
          <a:p>
            <a:endParaRPr sz="1275" b="0">
              <a:solidFill>
                <a:srgbClr val="5F6B76"/>
              </a:solidFill>
            </a:endParaRPr>
          </a:p>
          <a:p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Character • Inventory • Items • Experience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4A5A97B-E959-40F9-94D2-79FA8609B0DF}"/>
              </a:ext>
            </a:extLst>
          </p:cNvPr>
          <p:cNvSpPr>
            <a:spLocks noGrp="1"/>
          </p:cNvSpPr>
          <p:nvPr/>
        </p:nvSpPr>
        <p:spPr>
          <a:xfrm>
            <a:off x="1123950" y="4010025"/>
            <a:ext cx="6896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500" b="1">
                <a:solidFill>
                  <a:srgbClr val="0B83BD"/>
                </a:solidFill>
              </a:defRPr>
            </a:pPr>
            <a:r>
              <a:rPr sz="1500" b="1">
                <a:solidFill>
                  <a:srgbClr val="0B83BD"/>
                </a:solidFill>
              </a:rPr>
              <a:t>The repository owns translation; the domain never sees EF entities.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80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6885658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Relational concerns stay in the data layer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9CFF8026-6971-4016-B953-781541F49FE7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STRUCTURE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4E03BB0-D638-413B-B88F-ABCE83E27B59}"/>
              </a:ext>
            </a:extLst>
          </p:cNvPr>
          <p:cNvSpPr>
            <a:spLocks noGrp="1"/>
          </p:cNvSpPr>
          <p:nvPr/>
        </p:nvSpPr>
        <p:spPr>
          <a:xfrm>
            <a:off x="2190750" y="120015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tables + relationships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E933509D-03F7-4881-BAFC-2CA2AC255254}"/>
              </a:ext>
            </a:extLst>
          </p:cNvPr>
          <p:cNvSpPr>
            <a:spLocks noGrp="1"/>
          </p:cNvSpPr>
          <p:nvPr/>
        </p:nvSpPr>
        <p:spPr>
          <a:xfrm>
            <a:off x="4857750" y="1200150"/>
            <a:ext cx="3771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OnModelCreating</a:t>
            </a:r>
          </a:p>
        </p:txBody>
      </p:sp>
      <p:sp>
        <p:nvSpPr>
          <p:cNvPr id="262" name="Straight Connector 261">
            <a:extLst>
              <a:ext uri="{FF2B5EF4-FFF2-40B4-BE49-F238E27FC236}">
                <a16:creationId xmlns:a16="http://schemas.microsoft.com/office/drawing/2014/main" id="{3F52174C-7AA3-4A10-9E5B-A94252445CEE}"/>
              </a:ext>
            </a:extLst>
          </p:cNvPr>
          <p:cNvSpPr>
            <a:spLocks noGrp="1"/>
          </p:cNvSpPr>
          <p:nvPr/>
        </p:nvSpPr>
        <p:spPr>
          <a:xfrm>
            <a:off x="514350" y="1819275"/>
            <a:ext cx="8115300" cy="0"/>
          </a:xfrm>
          <a:prstGeom prst="line">
            <a:avLst/>
          </a:prstGeom>
          <a:noFill/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43D4C614-A323-456E-B3FF-CD8311ADBE1D}"/>
              </a:ext>
            </a:extLst>
          </p:cNvPr>
          <p:cNvSpPr>
            <a:spLocks noGrp="1"/>
          </p:cNvSpPr>
          <p:nvPr/>
        </p:nvSpPr>
        <p:spPr>
          <a:xfrm>
            <a:off x="514350" y="20193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INTEGRITY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AC76191-7EF7-4BEA-A547-B8985A5DC4BA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keys + foreign keys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1ADEE227-11D5-440E-B442-48A75AA6DF8A}"/>
              </a:ext>
            </a:extLst>
          </p:cNvPr>
          <p:cNvSpPr>
            <a:spLocks noGrp="1"/>
          </p:cNvSpPr>
          <p:nvPr/>
        </p:nvSpPr>
        <p:spPr>
          <a:xfrm>
            <a:off x="4857750" y="2019300"/>
            <a:ext cx="3771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cascade / restrict</a:t>
            </a:r>
          </a:p>
        </p:txBody>
      </p:sp>
      <p:sp>
        <p:nvSpPr>
          <p:cNvPr id="266" name="Straight Connector 265">
            <a:extLst>
              <a:ext uri="{FF2B5EF4-FFF2-40B4-BE49-F238E27FC236}">
                <a16:creationId xmlns:a16="http://schemas.microsoft.com/office/drawing/2014/main" id="{9EE390B6-FB9E-4D50-A05A-2A049627A67B}"/>
              </a:ext>
            </a:extLst>
          </p:cNvPr>
          <p:cNvSpPr>
            <a:spLocks noGrp="1"/>
          </p:cNvSpPr>
          <p:nvPr/>
        </p:nvSpPr>
        <p:spPr>
          <a:xfrm>
            <a:off x="514350" y="2638425"/>
            <a:ext cx="8115300" cy="0"/>
          </a:xfrm>
          <a:prstGeom prst="line">
            <a:avLst/>
          </a:prstGeom>
          <a:noFill/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B76FC180-CD86-405A-9F20-F55D8F709E0F}"/>
              </a:ext>
            </a:extLst>
          </p:cNvPr>
          <p:cNvSpPr>
            <a:spLocks noGrp="1"/>
          </p:cNvSpPr>
          <p:nvPr/>
        </p:nvSpPr>
        <p:spPr>
          <a:xfrm>
            <a:off x="514350" y="283845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PERFORMANCE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51D2A06-311D-45EF-AD1D-2B1600E3266A}"/>
              </a:ext>
            </a:extLst>
          </p:cNvPr>
          <p:cNvSpPr>
            <a:spLocks noGrp="1"/>
          </p:cNvSpPr>
          <p:nvPr/>
        </p:nvSpPr>
        <p:spPr>
          <a:xfrm>
            <a:off x="2190750" y="283845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indexes + projections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9551372A-3D60-403F-BF54-2C7DBC39B1ED}"/>
              </a:ext>
            </a:extLst>
          </p:cNvPr>
          <p:cNvSpPr>
            <a:spLocks noGrp="1"/>
          </p:cNvSpPr>
          <p:nvPr/>
        </p:nvSpPr>
        <p:spPr>
          <a:xfrm>
            <a:off x="4857750" y="2838450"/>
            <a:ext cx="3771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AsNoTracking</a:t>
            </a:r>
          </a:p>
        </p:txBody>
      </p:sp>
      <p:sp>
        <p:nvSpPr>
          <p:cNvPr id="270" name="Straight Connector 269">
            <a:extLst>
              <a:ext uri="{FF2B5EF4-FFF2-40B4-BE49-F238E27FC236}">
                <a16:creationId xmlns:a16="http://schemas.microsoft.com/office/drawing/2014/main" id="{2A4B706F-8BCC-4AB1-A59D-67DE024F079C}"/>
              </a:ext>
            </a:extLst>
          </p:cNvPr>
          <p:cNvSpPr>
            <a:spLocks noGrp="1"/>
          </p:cNvSpPr>
          <p:nvPr/>
        </p:nvSpPr>
        <p:spPr>
          <a:xfrm>
            <a:off x="514350" y="3457575"/>
            <a:ext cx="8115300" cy="0"/>
          </a:xfrm>
          <a:prstGeom prst="line">
            <a:avLst/>
          </a:prstGeom>
          <a:noFill/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4A2C02E7-6FCE-4430-88F1-5177D5E70241}"/>
              </a:ext>
            </a:extLst>
          </p:cNvPr>
          <p:cNvSpPr>
            <a:spLocks noGrp="1"/>
          </p:cNvSpPr>
          <p:nvPr/>
        </p:nvSpPr>
        <p:spPr>
          <a:xfrm>
            <a:off x="514350" y="36576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1">
                <a:solidFill>
                  <a:srgbClr val="F2994A"/>
                </a:solidFill>
              </a:defRPr>
            </a:pPr>
            <a:r>
              <a:rPr sz="1125" b="1">
                <a:solidFill>
                  <a:srgbClr val="F2994A"/>
                </a:solidFill>
              </a:rPr>
              <a:t>CHANGE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C05B1B4-9003-4103-9B2F-5D43C471E413}"/>
              </a:ext>
            </a:extLst>
          </p:cNvPr>
          <p:cNvSpPr>
            <a:spLocks noGrp="1"/>
          </p:cNvSpPr>
          <p:nvPr/>
        </p:nvSpPr>
        <p:spPr>
          <a:xfrm>
            <a:off x="2190750" y="365760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migrations + provider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ED6D7CC2-5458-416E-80CF-8081FB48229A}"/>
              </a:ext>
            </a:extLst>
          </p:cNvPr>
          <p:cNvSpPr>
            <a:spLocks noGrp="1"/>
          </p:cNvSpPr>
          <p:nvPr/>
        </p:nvSpPr>
        <p:spPr>
          <a:xfrm>
            <a:off x="4857750" y="3657600"/>
            <a:ext cx="3771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SQL Server / SQLite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2EFD3862-608F-49D0-B17B-AB176B0E01BD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0B83BD"/>
                </a:solidFill>
              </a:defRPr>
            </a:pPr>
            <a:r>
              <a:rPr sz="1275" b="1">
                <a:solidFill>
                  <a:srgbClr val="0B83BD"/>
                </a:solidFill>
              </a:rPr>
              <a:t>These decisions support the application without becoming its public model.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81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0" y="202120"/>
            <a:ext cx="704910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Internal types keep </a:t>
            </a:r>
            <a:r>
              <a:rPr lang="en-US"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data types </a:t>
            </a: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private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4971661C-9753-4192-8B6A-647CDDFF98E0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4762500" cy="2571750"/>
          </a:xfrm>
          <a:prstGeom prst="roundRect">
            <a:avLst>
              <a:gd name="adj" fmla="val 4444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0C412B79-65DD-4489-A318-7A3C7241B957}"/>
              </a:ext>
            </a:extLst>
          </p:cNvPr>
          <p:cNvSpPr>
            <a:spLocks noGrp="1"/>
          </p:cNvSpPr>
          <p:nvPr/>
        </p:nvSpPr>
        <p:spPr>
          <a:xfrm>
            <a:off x="647700" y="1409700"/>
            <a:ext cx="44958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9896" lnSpcReduction="10000"/>
          </a:bodyPr>
          <a:lstStyle/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internal class </a:t>
            </a:r>
            <a:r>
              <a:rPr sz="1275" b="0" dirty="0" err="1">
                <a:solidFill>
                  <a:srgbClr val="F3F4F6"/>
                </a:solidFill>
              </a:rPr>
              <a:t>CharacterRepository</a:t>
            </a:r>
            <a:r>
              <a:rPr sz="1275" b="0" dirty="0">
                <a:solidFill>
                  <a:srgbClr val="F3F4F6"/>
                </a:solidFill>
              </a:rPr>
              <a:t>(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    </a:t>
            </a:r>
            <a:r>
              <a:rPr sz="1275" b="0" dirty="0" err="1">
                <a:solidFill>
                  <a:srgbClr val="F3F4F6"/>
                </a:solidFill>
              </a:rPr>
              <a:t>DnDContext</a:t>
            </a:r>
            <a:r>
              <a:rPr sz="1275" b="0" dirty="0">
                <a:solidFill>
                  <a:srgbClr val="F3F4F6"/>
                </a:solidFill>
              </a:rPr>
              <a:t> </a:t>
            </a:r>
            <a:r>
              <a:rPr sz="1275" b="0" dirty="0" err="1">
                <a:solidFill>
                  <a:srgbClr val="F3F4F6"/>
                </a:solidFill>
              </a:rPr>
              <a:t>db</a:t>
            </a:r>
            <a:r>
              <a:rPr sz="1275" b="0" dirty="0">
                <a:solidFill>
                  <a:srgbClr val="F3F4F6"/>
                </a:solidFill>
              </a:rPr>
              <a:t>,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    </a:t>
            </a:r>
            <a:r>
              <a:rPr sz="1275" b="0" dirty="0" err="1">
                <a:solidFill>
                  <a:srgbClr val="F3F4F6"/>
                </a:solidFill>
              </a:rPr>
              <a:t>IDomainEventsStorage</a:t>
            </a:r>
            <a:r>
              <a:rPr sz="1275" b="0" dirty="0">
                <a:solidFill>
                  <a:srgbClr val="F3F4F6"/>
                </a:solidFill>
              </a:rPr>
              <a:t> events)</a:t>
            </a:r>
          </a:p>
          <a:p>
            <a:pPr>
              <a:defRPr>
                <a:solidFill>
                  <a:srgbClr val="F3F4F6"/>
                </a:solidFill>
              </a:defRPr>
            </a:pPr>
            <a:r>
              <a:rPr dirty="0">
                <a:solidFill>
                  <a:srgbClr val="F3F4F6"/>
                </a:solidFill>
              </a:rPr>
              <a:t>    : </a:t>
            </a:r>
            <a:r>
              <a:rPr sz="1200" b="1" dirty="0" err="1">
                <a:solidFill>
                  <a:srgbClr val="F3F4F6"/>
                </a:solidFill>
              </a:rPr>
              <a:t>ICharacterRepository</a:t>
            </a:r>
            <a:endParaRPr sz="1200" b="1" dirty="0">
              <a:solidFill>
                <a:srgbClr val="F3F4F6"/>
              </a:solidFill>
            </a:endParaRP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{</a:t>
            </a:r>
          </a:p>
          <a:p>
            <a:pPr>
              <a:defRPr>
                <a:solidFill>
                  <a:srgbClr val="F3F4F6"/>
                </a:solidFill>
              </a:defRPr>
            </a:pPr>
            <a:r>
              <a:rPr dirty="0">
                <a:solidFill>
                  <a:srgbClr val="F3F4F6"/>
                </a:solidFill>
              </a:rPr>
              <a:t>    </a:t>
            </a:r>
            <a:r>
              <a:rPr sz="1200" dirty="0">
                <a:solidFill>
                  <a:srgbClr val="F3F4F6"/>
                </a:solidFill>
              </a:rPr>
              <a:t>// EF and mapping stay here.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}</a:t>
            </a:r>
          </a:p>
          <a:p>
            <a:pPr algn="l">
              <a:buNone/>
              <a:defRPr sz="1275" b="0">
                <a:solidFill>
                  <a:srgbClr val="EDF4F7"/>
                </a:solidFill>
              </a:defRPr>
            </a:pPr>
            <a:endParaRPr sz="1275" b="0" dirty="0">
              <a:solidFill>
                <a:srgbClr val="F3F4F6"/>
              </a:solidFill>
            </a:endParaRP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internal sealed class </a:t>
            </a:r>
            <a:r>
              <a:rPr sz="1275" b="0" dirty="0" err="1">
                <a:solidFill>
                  <a:srgbClr val="F3F4F6"/>
                </a:solidFill>
              </a:rPr>
              <a:t>CharacterEntity</a:t>
            </a:r>
            <a:endParaRPr sz="1275" b="0" dirty="0">
              <a:solidFill>
                <a:srgbClr val="F3F4F6"/>
              </a:solidFill>
            </a:endParaRP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{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    public </a:t>
            </a:r>
            <a:r>
              <a:rPr sz="1275" b="0" dirty="0" err="1">
                <a:solidFill>
                  <a:srgbClr val="F3F4F6"/>
                </a:solidFill>
              </a:rPr>
              <a:t>Guid</a:t>
            </a:r>
            <a:r>
              <a:rPr sz="1275" b="0" dirty="0">
                <a:solidFill>
                  <a:srgbClr val="F3F4F6"/>
                </a:solidFill>
              </a:rPr>
              <a:t> </a:t>
            </a:r>
            <a:r>
              <a:rPr sz="1275" b="0" dirty="0" err="1">
                <a:solidFill>
                  <a:srgbClr val="F3F4F6"/>
                </a:solidFill>
              </a:rPr>
              <a:t>CharacterId</a:t>
            </a:r>
            <a:r>
              <a:rPr sz="1275" b="0" dirty="0">
                <a:solidFill>
                  <a:srgbClr val="F3F4F6"/>
                </a:solidFill>
              </a:rPr>
              <a:t> { get; set; }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    public string Name { get; set; }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}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E9E98384-74EA-4539-8F10-FAA680AB0490}"/>
              </a:ext>
            </a:extLst>
          </p:cNvPr>
          <p:cNvSpPr>
            <a:spLocks noGrp="1"/>
          </p:cNvSpPr>
          <p:nvPr/>
        </p:nvSpPr>
        <p:spPr>
          <a:xfrm>
            <a:off x="5734050" y="13239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1667"/>
          </a:bodyPr>
          <a:lstStyle/>
          <a:p>
            <a:pPr algn="l">
              <a:buNone/>
              <a:defRPr sz="1500" b="1">
                <a:solidFill>
                  <a:srgbClr val="1F2937"/>
                </a:solidFill>
              </a:defRPr>
            </a:pPr>
            <a:r>
              <a:rPr sz="1500" b="1">
                <a:solidFill>
                  <a:srgbClr val="1F2937"/>
                </a:solidFill>
              </a:rPr>
              <a:t>The implementation is:</a:t>
            </a:r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D673B2EF-1516-40F0-866C-C0CF8CEDBCCA}"/>
              </a:ext>
            </a:extLst>
          </p:cNvPr>
          <p:cNvSpPr>
            <a:spLocks noGrp="1"/>
          </p:cNvSpPr>
          <p:nvPr/>
        </p:nvSpPr>
        <p:spPr>
          <a:xfrm>
            <a:off x="5753100" y="1809750"/>
            <a:ext cx="36195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EF083E37-17B9-47C0-AB22-A90AC63864A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366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✓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87B33E24-8302-42B2-9F55-050136F2CEB5}"/>
              </a:ext>
            </a:extLst>
          </p:cNvPr>
          <p:cNvSpPr>
            <a:spLocks noGrp="1"/>
          </p:cNvSpPr>
          <p:nvPr/>
        </p:nvSpPr>
        <p:spPr>
          <a:xfrm>
            <a:off x="6229350" y="18097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internal</a:t>
            </a:r>
          </a:p>
        </p:txBody>
      </p:sp>
      <p:sp>
        <p:nvSpPr>
          <p:cNvPr id="265" name="Rectangle: Rounded Corners 264">
            <a:extLst>
              <a:ext uri="{FF2B5EF4-FFF2-40B4-BE49-F238E27FC236}">
                <a16:creationId xmlns:a16="http://schemas.microsoft.com/office/drawing/2014/main" id="{38AB8928-EE4B-4ED3-97DE-41C9023D4916}"/>
              </a:ext>
            </a:extLst>
          </p:cNvPr>
          <p:cNvSpPr>
            <a:spLocks noGrp="1"/>
          </p:cNvSpPr>
          <p:nvPr/>
        </p:nvSpPr>
        <p:spPr>
          <a:xfrm>
            <a:off x="5753100" y="2286000"/>
            <a:ext cx="36195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3AD9B1D-9E8E-46D0-8070-D7A11548C045}"/>
              </a:ext>
            </a:extLst>
          </p:cNvPr>
          <p:cNvSpPr>
            <a:spLocks noGrp="1"/>
          </p:cNvSpPr>
          <p:nvPr/>
        </p:nvSpPr>
        <p:spPr>
          <a:xfrm>
            <a:off x="5829300" y="23241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366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✓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F7C98397-A8B7-411F-B4D8-2C448BD0AC38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EF-aware</a:t>
            </a: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57E05947-D4F4-4F77-B72B-36A40505B0A5}"/>
              </a:ext>
            </a:extLst>
          </p:cNvPr>
          <p:cNvSpPr>
            <a:spLocks noGrp="1"/>
          </p:cNvSpPr>
          <p:nvPr/>
        </p:nvSpPr>
        <p:spPr>
          <a:xfrm>
            <a:off x="5753100" y="2762250"/>
            <a:ext cx="36195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5F6452BF-CA49-4887-9DBE-EFA2D7A826D4}"/>
              </a:ext>
            </a:extLst>
          </p:cNvPr>
          <p:cNvSpPr>
            <a:spLocks noGrp="1"/>
          </p:cNvSpPr>
          <p:nvPr/>
        </p:nvSpPr>
        <p:spPr>
          <a:xfrm>
            <a:off x="5829300" y="28003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366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✓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F168EA38-07F0-4EF9-88D1-F19424EBF20C}"/>
              </a:ext>
            </a:extLst>
          </p:cNvPr>
          <p:cNvSpPr>
            <a:spLocks noGrp="1"/>
          </p:cNvSpPr>
          <p:nvPr/>
        </p:nvSpPr>
        <p:spPr>
          <a:xfrm>
            <a:off x="6229350" y="27622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mapping owner</a:t>
            </a: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8C97017-BE6D-451E-851F-A3FE8599D111}"/>
              </a:ext>
            </a:extLst>
          </p:cNvPr>
          <p:cNvSpPr>
            <a:spLocks noGrp="1"/>
          </p:cNvSpPr>
          <p:nvPr/>
        </p:nvSpPr>
        <p:spPr>
          <a:xfrm>
            <a:off x="5753100" y="3238500"/>
            <a:ext cx="361950" cy="304800"/>
          </a:xfrm>
          <a:prstGeom prst="roundRect">
            <a:avLst>
              <a:gd name="adj" fmla="val 37500"/>
            </a:avLst>
          </a:prstGeom>
          <a:solidFill>
            <a:srgbClr val="F299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E1F9149F-32DA-4CEC-B6EC-A6CF5EF04599}"/>
              </a:ext>
            </a:extLst>
          </p:cNvPr>
          <p:cNvSpPr>
            <a:spLocks noGrp="1"/>
          </p:cNvSpPr>
          <p:nvPr/>
        </p:nvSpPr>
        <p:spPr>
          <a:xfrm>
            <a:off x="5829300" y="32766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3668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8DEAE620-057C-4107-8CB9-6F05C33E5A4F}"/>
              </a:ext>
            </a:extLst>
          </p:cNvPr>
          <p:cNvSpPr>
            <a:spLocks noGrp="1"/>
          </p:cNvSpPr>
          <p:nvPr/>
        </p:nvSpPr>
        <p:spPr>
          <a:xfrm>
            <a:off x="6229350" y="32385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registered behind a contract</a:t>
            </a:r>
          </a:p>
        </p:txBody>
      </p:sp>
      <p:sp>
        <p:nvSpPr>
          <p:cNvPr id="274" name="Rectangle: Rounded Corners 273">
            <a:extLst>
              <a:ext uri="{FF2B5EF4-FFF2-40B4-BE49-F238E27FC236}">
                <a16:creationId xmlns:a16="http://schemas.microsoft.com/office/drawing/2014/main" id="{B18A8EA5-B3E8-4360-9257-A651594F7E7D}"/>
              </a:ext>
            </a:extLst>
          </p:cNvPr>
          <p:cNvSpPr>
            <a:spLocks noGrp="1"/>
          </p:cNvSpPr>
          <p:nvPr/>
        </p:nvSpPr>
        <p:spPr>
          <a:xfrm>
            <a:off x="1524000" y="4238625"/>
            <a:ext cx="6096000" cy="400050"/>
          </a:xfrm>
          <a:prstGeom prst="roundRect">
            <a:avLst>
              <a:gd name="adj" fmla="val 28571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AC0F046-9BD4-4B91-9F29-92DA4D996472}"/>
              </a:ext>
            </a:extLst>
          </p:cNvPr>
          <p:cNvSpPr>
            <a:spLocks noGrp="1"/>
          </p:cNvSpPr>
          <p:nvPr/>
        </p:nvSpPr>
        <p:spPr>
          <a:xfrm>
            <a:off x="1676400" y="4305300"/>
            <a:ext cx="579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593"/>
          </a:bodyPr>
          <a:lstStyle/>
          <a:p>
            <a:pPr algn="ctr">
              <a:buNone/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Callers can depend on the interface—not the database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3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58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Loading rehydrates behavior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2EA8AC09-448A-420D-981D-85891617211D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5048250" cy="2667000"/>
          </a:xfrm>
          <a:prstGeom prst="roundRect">
            <a:avLst>
              <a:gd name="adj" fmla="val 4286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943C17F5-048E-49BD-8FAC-EE0200D1AD9C}"/>
              </a:ext>
            </a:extLst>
          </p:cNvPr>
          <p:cNvSpPr>
            <a:spLocks noGrp="1"/>
          </p:cNvSpPr>
          <p:nvPr/>
        </p:nvSpPr>
        <p:spPr>
          <a:xfrm>
            <a:off x="647700" y="1314450"/>
            <a:ext cx="47815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return new Character(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</a:t>
            </a:r>
            <a:r>
              <a:rPr sz="1200" b="0" dirty="0" err="1">
                <a:solidFill>
                  <a:srgbClr val="F3F4F6"/>
                </a:solidFill>
              </a:rPr>
              <a:t>entity.CharacterId</a:t>
            </a:r>
            <a:r>
              <a:rPr sz="1200" b="0" dirty="0">
                <a:solidFill>
                  <a:srgbClr val="F3F4F6"/>
                </a:solidFill>
              </a:rPr>
              <a:t>,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</a:t>
            </a:r>
            <a:r>
              <a:rPr sz="1200" b="0" dirty="0" err="1">
                <a:solidFill>
                  <a:srgbClr val="F3F4F6"/>
                </a:solidFill>
              </a:rPr>
              <a:t>entity.Name</a:t>
            </a:r>
            <a:r>
              <a:rPr sz="1200" b="0" dirty="0">
                <a:solidFill>
                  <a:srgbClr val="F3F4F6"/>
                </a:solidFill>
              </a:rPr>
              <a:t>,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</a:t>
            </a:r>
            <a:r>
              <a:rPr sz="1200" b="0" dirty="0" err="1">
                <a:solidFill>
                  <a:srgbClr val="F3F4F6"/>
                </a:solidFill>
              </a:rPr>
              <a:t>typeof</a:t>
            </a:r>
            <a:r>
              <a:rPr sz="1200" b="0" dirty="0">
                <a:solidFill>
                  <a:srgbClr val="F3F4F6"/>
                </a:solidFill>
              </a:rPr>
              <a:t>(Class).</a:t>
            </a:r>
            <a:r>
              <a:rPr sz="1200" b="0" dirty="0" err="1">
                <a:solidFill>
                  <a:srgbClr val="F3F4F6"/>
                </a:solidFill>
              </a:rPr>
              <a:t>GetStaticField</a:t>
            </a:r>
            <a:r>
              <a:rPr sz="1200" b="0" dirty="0">
                <a:solidFill>
                  <a:srgbClr val="F3F4F6"/>
                </a:solidFill>
              </a:rPr>
              <a:t>&lt;Class&gt;(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    </a:t>
            </a:r>
            <a:r>
              <a:rPr sz="1200" b="0" dirty="0" err="1">
                <a:solidFill>
                  <a:srgbClr val="F3F4F6"/>
                </a:solidFill>
              </a:rPr>
              <a:t>entity.Class</a:t>
            </a:r>
            <a:r>
              <a:rPr sz="1200" b="0" dirty="0">
                <a:solidFill>
                  <a:srgbClr val="F3F4F6"/>
                </a:solidFill>
              </a:rPr>
              <a:t>),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</a:t>
            </a:r>
            <a:r>
              <a:rPr sz="1200" b="0" dirty="0" err="1">
                <a:solidFill>
                  <a:srgbClr val="F3F4F6"/>
                </a:solidFill>
              </a:rPr>
              <a:t>entity.EquippedWeaponItem</a:t>
            </a:r>
            <a:r>
              <a:rPr sz="1200" b="0" dirty="0">
                <a:solidFill>
                  <a:srgbClr val="F3F4F6"/>
                </a:solidFill>
              </a:rPr>
              <a:t> is null</a:t>
            </a:r>
          </a:p>
          <a:p>
            <a:pPr>
              <a:defRPr>
                <a:solidFill>
                  <a:srgbClr val="F3F4F6"/>
                </a:solidFill>
              </a:defRPr>
            </a:pPr>
            <a:r>
              <a:rPr sz="1200" dirty="0">
                <a:solidFill>
                  <a:srgbClr val="F3F4F6"/>
                </a:solidFill>
              </a:rPr>
              <a:t>        ? </a:t>
            </a:r>
            <a:r>
              <a:rPr sz="1200" dirty="0" err="1">
                <a:solidFill>
                  <a:srgbClr val="F3F4F6"/>
                </a:solidFill>
              </a:rPr>
              <a:t>Weapon.Hands</a:t>
            </a:r>
            <a:endParaRPr sz="1200" dirty="0">
              <a:solidFill>
                <a:srgbClr val="F3F4F6"/>
              </a:solidFill>
            </a:endParaRP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    : </a:t>
            </a:r>
            <a:r>
              <a:rPr sz="1200" b="0" dirty="0" err="1">
                <a:solidFill>
                  <a:srgbClr val="F3F4F6"/>
                </a:solidFill>
              </a:rPr>
              <a:t>typeof</a:t>
            </a:r>
            <a:r>
              <a:rPr sz="1200" b="0" dirty="0">
                <a:solidFill>
                  <a:srgbClr val="F3F4F6"/>
                </a:solidFill>
              </a:rPr>
              <a:t>(Weapon).</a:t>
            </a:r>
            <a:r>
              <a:rPr sz="1200" b="0" dirty="0" err="1">
                <a:solidFill>
                  <a:srgbClr val="F3F4F6"/>
                </a:solidFill>
              </a:rPr>
              <a:t>GetStaticField</a:t>
            </a:r>
            <a:r>
              <a:rPr sz="1200" b="0" dirty="0">
                <a:solidFill>
                  <a:srgbClr val="F3F4F6"/>
                </a:solidFill>
              </a:rPr>
              <a:t>&lt;Weapon&gt;(</a:t>
            </a:r>
          </a:p>
          <a:p>
            <a:pPr algn="l">
              <a:buNone/>
              <a:defRPr sz="1200" b="0">
                <a:solidFill>
                  <a:srgbClr val="F3F4F6"/>
                </a:solidFill>
              </a:defRPr>
            </a:pPr>
            <a:r>
              <a:rPr sz="1200" b="0" dirty="0">
                <a:solidFill>
                  <a:srgbClr val="F3F4F6"/>
                </a:solidFill>
              </a:rPr>
              <a:t>            </a:t>
            </a:r>
            <a:r>
              <a:rPr sz="1200" b="0" dirty="0" err="1">
                <a:solidFill>
                  <a:srgbClr val="F3F4F6"/>
                </a:solidFill>
              </a:rPr>
              <a:t>entity.EquippedWeaponItem.Name</a:t>
            </a:r>
            <a:r>
              <a:rPr sz="1200" b="0" dirty="0">
                <a:solidFill>
                  <a:srgbClr val="F3F4F6"/>
                </a:solidFill>
              </a:rPr>
              <a:t>));</a:t>
            </a:r>
          </a:p>
        </p:txBody>
      </p:sp>
      <p:sp>
        <p:nvSpPr>
          <p:cNvPr id="261" name="Straight Connector 260">
            <a:extLst>
              <a:ext uri="{FF2B5EF4-FFF2-40B4-BE49-F238E27FC236}">
                <a16:creationId xmlns:a16="http://schemas.microsoft.com/office/drawing/2014/main" id="{3B8D95AD-4937-4EC4-AF1A-2D5D401F488D}"/>
              </a:ext>
            </a:extLst>
          </p:cNvPr>
          <p:cNvSpPr>
            <a:spLocks noGrp="1"/>
          </p:cNvSpPr>
          <p:nvPr/>
        </p:nvSpPr>
        <p:spPr>
          <a:xfrm>
            <a:off x="6873460" y="2212561"/>
            <a:ext cx="310322" cy="0"/>
          </a:xfrm>
          <a:prstGeom prst="line">
            <a:avLst/>
          </a:prstGeom>
          <a:noFill/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Rectangle: Rounded Corners 261">
            <a:extLst>
              <a:ext uri="{FF2B5EF4-FFF2-40B4-BE49-F238E27FC236}">
                <a16:creationId xmlns:a16="http://schemas.microsoft.com/office/drawing/2014/main" id="{EE1FF90F-AF1A-402B-9751-769DA4F68FA0}"/>
              </a:ext>
            </a:extLst>
          </p:cNvPr>
          <p:cNvSpPr>
            <a:spLocks noGrp="1"/>
          </p:cNvSpPr>
          <p:nvPr/>
        </p:nvSpPr>
        <p:spPr>
          <a:xfrm>
            <a:off x="5867400" y="1752600"/>
            <a:ext cx="1066800" cy="914400"/>
          </a:xfrm>
          <a:prstGeom prst="roundRect">
            <a:avLst>
              <a:gd name="adj" fmla="val 12500"/>
            </a:avLst>
          </a:prstGeom>
          <a:solidFill>
            <a:srgbClr val="F2F5F7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0CA3A1E8-EDB9-4FD9-A198-257DD72D7A2B}"/>
              </a:ext>
            </a:extLst>
          </p:cNvPr>
          <p:cNvSpPr>
            <a:spLocks noGrp="1"/>
          </p:cNvSpPr>
          <p:nvPr/>
        </p:nvSpPr>
        <p:spPr>
          <a:xfrm>
            <a:off x="5981699" y="1943100"/>
            <a:ext cx="89176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6583"/>
          </a:bodyPr>
          <a:lstStyle/>
          <a:p>
            <a:pPr algn="ctr">
              <a:buNone/>
              <a:defRPr sz="1125" b="1">
                <a:solidFill>
                  <a:srgbClr val="1F2937"/>
                </a:solidFill>
              </a:defRPr>
            </a:pPr>
            <a:r>
              <a:rPr sz="1125" b="1" dirty="0">
                <a:solidFill>
                  <a:srgbClr val="1F2937"/>
                </a:solidFill>
              </a:rPr>
              <a:t>DATABASE</a:t>
            </a:r>
          </a:p>
          <a:p>
            <a:pPr algn="ctr">
              <a:buNone/>
              <a:defRPr sz="1125" b="1">
                <a:solidFill>
                  <a:srgbClr val="1F2937"/>
                </a:solidFill>
              </a:defRPr>
            </a:pPr>
            <a:r>
              <a:rPr sz="1125" b="1" dirty="0">
                <a:solidFill>
                  <a:srgbClr val="1F2937"/>
                </a:solidFill>
              </a:rPr>
              <a:t>ENTITY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A9C04F39-64FA-4B89-BB38-8512D27F908B}"/>
              </a:ext>
            </a:extLst>
          </p:cNvPr>
          <p:cNvSpPr>
            <a:spLocks noGrp="1"/>
          </p:cNvSpPr>
          <p:nvPr/>
        </p:nvSpPr>
        <p:spPr>
          <a:xfrm>
            <a:off x="7181850" y="1752600"/>
            <a:ext cx="1447800" cy="914400"/>
          </a:xfrm>
          <a:prstGeom prst="roundRect">
            <a:avLst>
              <a:gd name="adj" fmla="val 12500"/>
            </a:avLst>
          </a:prstGeom>
          <a:solidFill>
            <a:srgbClr val="EAF5FA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9A33056C-25DD-4BB3-A8EE-7E2640467F18}"/>
              </a:ext>
            </a:extLst>
          </p:cNvPr>
          <p:cNvSpPr>
            <a:spLocks noGrp="1"/>
          </p:cNvSpPr>
          <p:nvPr/>
        </p:nvSpPr>
        <p:spPr>
          <a:xfrm>
            <a:off x="7315200" y="1943100"/>
            <a:ext cx="1181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DOMAIN</a:t>
            </a:r>
          </a:p>
          <a:p>
            <a:pPr algn="ctr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AGGREGATE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B9C6DC3B-6300-4A64-B1DC-23596A30BF2E}"/>
              </a:ext>
            </a:extLst>
          </p:cNvPr>
          <p:cNvSpPr>
            <a:spLocks noGrp="1"/>
          </p:cNvSpPr>
          <p:nvPr/>
        </p:nvSpPr>
        <p:spPr>
          <a:xfrm>
            <a:off x="6096000" y="313372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58319"/>
          </a:bodyPr>
          <a:lstStyle/>
          <a:p>
            <a:pPr algn="ctr">
              <a:buNone/>
              <a:defRPr sz="1350" b="1">
                <a:solidFill>
                  <a:srgbClr val="F2994A"/>
                </a:solidFill>
              </a:defRPr>
            </a:pPr>
            <a:r>
              <a:rPr sz="1350" b="1">
                <a:solidFill>
                  <a:srgbClr val="F2994A"/>
                </a:solidFill>
              </a:rPr>
              <a:t>The repository crosses the mapping boundary.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E02E8C7A-53B1-4026-9C7B-9DAB37B7F486}"/>
              </a:ext>
            </a:extLst>
          </p:cNvPr>
          <p:cNvSpPr>
            <a:spLocks noGrp="1"/>
          </p:cNvSpPr>
          <p:nvPr/>
        </p:nvSpPr>
        <p:spPr>
          <a:xfrm>
            <a:off x="990600" y="4238625"/>
            <a:ext cx="716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425" b="1">
                <a:solidFill>
                  <a:srgbClr val="5F6B76"/>
                </a:solidFill>
              </a:defRPr>
            </a:pPr>
            <a:r>
              <a:rPr sz="1425" b="1">
                <a:solidFill>
                  <a:srgbClr val="5F6B76"/>
                </a:solidFill>
              </a:rPr>
              <a:t>Rehydration restores identity and behavior without raising a new creation event.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84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673988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Repositories map; domains protect rules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7ACC072B-C446-4A62-BF61-D27FEF50947E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0B83BD"/>
                </a:solidFill>
              </a:defRPr>
            </a:pPr>
            <a:r>
              <a:rPr sz="1200" b="1">
                <a:solidFill>
                  <a:srgbClr val="0B83BD"/>
                </a:solidFill>
              </a:rPr>
              <a:t>REPOSITORY SHOULD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E5D853E7-9EB7-40CB-8582-34CA2B16A08D}"/>
              </a:ext>
            </a:extLst>
          </p:cNvPr>
          <p:cNvSpPr>
            <a:spLocks noGrp="1"/>
          </p:cNvSpPr>
          <p:nvPr/>
        </p:nvSpPr>
        <p:spPr>
          <a:xfrm>
            <a:off x="4876800" y="1219200"/>
            <a:ext cx="3752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REPOSITORY SHOULD NOT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8C31D3F0-D87C-4C88-9BD0-9460AAB9ECF1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593"/>
          </a:bodyPr>
          <a:lstStyle/>
          <a:p>
            <a:pPr algn="ctr">
              <a:buNone/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CE5881B-3BBB-4631-9F33-D82E37DAE980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Load the aggregate graph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4CA9D530-2B4A-4556-8C4A-B36CC4A99CF8}"/>
              </a:ext>
            </a:extLst>
          </p:cNvPr>
          <p:cNvSpPr>
            <a:spLocks noGrp="1"/>
          </p:cNvSpPr>
          <p:nvPr/>
        </p:nvSpPr>
        <p:spPr>
          <a:xfrm>
            <a:off x="571500" y="231457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593"/>
          </a:bodyPr>
          <a:lstStyle/>
          <a:p>
            <a:pPr algn="ctr">
              <a:buNone/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8ECF785C-0696-45B2-94E3-D71CE22A6564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Map entities and value objects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B21C2D3C-29AC-4FF5-ADA7-52DD622FC2F9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593"/>
          </a:bodyPr>
          <a:lstStyle/>
          <a:p>
            <a:pPr algn="ctr">
              <a:buNone/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7EA1FEE-83C9-4B9C-8FE0-E38E60FF38C7}"/>
              </a:ext>
            </a:extLst>
          </p:cNvPr>
          <p:cNvSpPr>
            <a:spLocks noGrp="1"/>
          </p:cNvSpPr>
          <p:nvPr/>
        </p:nvSpPr>
        <p:spPr>
          <a:xfrm>
            <a:off x="952500" y="28765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Preserve identity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2ECF8C62-7B95-4E72-B093-B07B1D3F1C65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593"/>
          </a:bodyPr>
          <a:lstStyle/>
          <a:p>
            <a:pPr algn="ctr">
              <a:buNone/>
              <a:defRPr sz="1350" b="1">
                <a:solidFill>
                  <a:srgbClr val="23A36D"/>
                </a:solidFill>
              </a:defRPr>
            </a:pPr>
            <a:r>
              <a:rPr sz="1350" b="1">
                <a:solidFill>
                  <a:srgbClr val="23A36D"/>
                </a:solidFill>
              </a:rPr>
              <a:t>✓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001F1C9B-1C09-4E2F-96EA-3B81B95166E6}"/>
              </a:ext>
            </a:extLst>
          </p:cNvPr>
          <p:cNvSpPr>
            <a:spLocks noGrp="1"/>
          </p:cNvSpPr>
          <p:nvPr/>
        </p:nvSpPr>
        <p:spPr>
          <a:xfrm>
            <a:off x="952500" y="34575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Track persistence events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8CB5573-FC4D-4F08-B92E-E9818AFA2AFE}"/>
              </a:ext>
            </a:extLst>
          </p:cNvPr>
          <p:cNvSpPr>
            <a:spLocks noGrp="1"/>
          </p:cNvSpPr>
          <p:nvPr/>
        </p:nvSpPr>
        <p:spPr>
          <a:xfrm>
            <a:off x="4933950" y="17335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3333"/>
          </a:bodyPr>
          <a:lstStyle/>
          <a:p>
            <a:pPr algn="ctr">
              <a:buNone/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42900D95-8F15-4085-8EFF-26B787EA2FE6}"/>
              </a:ext>
            </a:extLst>
          </p:cNvPr>
          <p:cNvSpPr>
            <a:spLocks noGrp="1"/>
          </p:cNvSpPr>
          <p:nvPr/>
        </p:nvSpPr>
        <p:spPr>
          <a:xfrm>
            <a:off x="5314950" y="17145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Decide character rules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1BAD7FC-454D-4792-8F1A-84796F43E51B}"/>
              </a:ext>
            </a:extLst>
          </p:cNvPr>
          <p:cNvSpPr>
            <a:spLocks noGrp="1"/>
          </p:cNvSpPr>
          <p:nvPr/>
        </p:nvSpPr>
        <p:spPr>
          <a:xfrm>
            <a:off x="4933950" y="231457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3333"/>
          </a:bodyPr>
          <a:lstStyle/>
          <a:p>
            <a:pPr algn="ctr">
              <a:buNone/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8BF1900C-5ED2-4370-9365-4F523767A6D5}"/>
              </a:ext>
            </a:extLst>
          </p:cNvPr>
          <p:cNvSpPr>
            <a:spLocks noGrp="1"/>
          </p:cNvSpPr>
          <p:nvPr/>
        </p:nvSpPr>
        <p:spPr>
          <a:xfrm>
            <a:off x="5314950" y="229552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Expose DbSet to callers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C0DA5331-D8E0-41F7-9E22-40F941FE0087}"/>
              </a:ext>
            </a:extLst>
          </p:cNvPr>
          <p:cNvSpPr>
            <a:spLocks noGrp="1"/>
          </p:cNvSpPr>
          <p:nvPr/>
        </p:nvSpPr>
        <p:spPr>
          <a:xfrm>
            <a:off x="4933950" y="28956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3333"/>
          </a:bodyPr>
          <a:lstStyle/>
          <a:p>
            <a:pPr algn="ctr">
              <a:buNone/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7143CEF0-AEAD-4B75-8DA7-82D8F399A5FB}"/>
              </a:ext>
            </a:extLst>
          </p:cNvPr>
          <p:cNvSpPr>
            <a:spLocks noGrp="1"/>
          </p:cNvSpPr>
          <p:nvPr/>
        </p:nvSpPr>
        <p:spPr>
          <a:xfrm>
            <a:off x="5314950" y="28765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Return EF entities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D45B718-899E-454F-8832-E9F549929FF7}"/>
              </a:ext>
            </a:extLst>
          </p:cNvPr>
          <p:cNvSpPr>
            <a:spLocks noGrp="1"/>
          </p:cNvSpPr>
          <p:nvPr/>
        </p:nvSpPr>
        <p:spPr>
          <a:xfrm>
            <a:off x="4933950" y="34766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3333"/>
          </a:bodyPr>
          <a:lstStyle/>
          <a:p>
            <a:pPr algn="ctr">
              <a:buNone/>
              <a:defRPr sz="1500" b="1">
                <a:solidFill>
                  <a:srgbClr val="F2994A"/>
                </a:solidFill>
              </a:defRPr>
            </a:pPr>
            <a:r>
              <a:rPr sz="1500" b="1">
                <a:solidFill>
                  <a:srgbClr val="F2994A"/>
                </a:solidFill>
              </a:rPr>
              <a:t>×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3532E87E-1CC4-4A2F-9CCE-9CE3924DD41E}"/>
              </a:ext>
            </a:extLst>
          </p:cNvPr>
          <p:cNvSpPr>
            <a:spLocks noGrp="1"/>
          </p:cNvSpPr>
          <p:nvPr/>
        </p:nvSpPr>
        <p:spPr>
          <a:xfrm>
            <a:off x="5314950" y="34575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Design HTTP responses</a:t>
            </a:r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039A2E1E-4C03-447C-9C73-373443C954A7}"/>
              </a:ext>
            </a:extLst>
          </p:cNvPr>
          <p:cNvSpPr>
            <a:spLocks noGrp="1"/>
          </p:cNvSpPr>
          <p:nvPr/>
        </p:nvSpPr>
        <p:spPr>
          <a:xfrm>
            <a:off x="1162050" y="4229100"/>
            <a:ext cx="6819900" cy="438150"/>
          </a:xfrm>
          <a:prstGeom prst="roundRect">
            <a:avLst>
              <a:gd name="adj" fmla="val 26087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4543BD20-3048-4533-BD64-58D2FC4F5242}"/>
              </a:ext>
            </a:extLst>
          </p:cNvPr>
          <p:cNvSpPr>
            <a:spLocks noGrp="1"/>
          </p:cNvSpPr>
          <p:nvPr/>
        </p:nvSpPr>
        <p:spPr>
          <a:xfrm>
            <a:off x="1333500" y="430530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491"/>
          </a:bodyPr>
          <a:lstStyle/>
          <a:p>
            <a:pPr algn="ctr">
              <a:buNone/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Persistence policy belongs here; business policy remains in the domain.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6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728764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Friend assemblies enable rehydration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6849CF51-705F-40F6-9BBE-F563C7F6E461}"/>
              </a:ext>
            </a:extLst>
          </p:cNvPr>
          <p:cNvSpPr>
            <a:spLocks noGrp="1"/>
          </p:cNvSpPr>
          <p:nvPr/>
        </p:nvSpPr>
        <p:spPr>
          <a:xfrm>
            <a:off x="514350" y="1190625"/>
            <a:ext cx="5219700" cy="3143250"/>
          </a:xfrm>
          <a:prstGeom prst="roundRect">
            <a:avLst>
              <a:gd name="adj" fmla="val 3636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EF716AD-5FA9-4412-A7BE-8FD6901A6584}"/>
              </a:ext>
            </a:extLst>
          </p:cNvPr>
          <p:cNvSpPr>
            <a:spLocks noGrp="1"/>
          </p:cNvSpPr>
          <p:nvPr/>
        </p:nvSpPr>
        <p:spPr>
          <a:xfrm>
            <a:off x="647700" y="1285875"/>
            <a:ext cx="4953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 dirty="0">
                <a:solidFill>
                  <a:srgbClr val="F3F4F6"/>
                </a:solidFill>
              </a:rPr>
              <a:t>// </a:t>
            </a:r>
            <a:r>
              <a:rPr sz="1100" b="0" dirty="0">
                <a:solidFill>
                  <a:srgbClr val="F3F4F6"/>
                </a:solidFill>
              </a:rPr>
              <a:t>Domain project</a:t>
            </a:r>
            <a:r>
              <a:rPr lang="en-US" sz="1100" b="0" dirty="0">
                <a:solidFill>
                  <a:srgbClr val="F3F4F6"/>
                </a:solidFill>
              </a:rPr>
              <a:t> (.</a:t>
            </a:r>
            <a:r>
              <a:rPr lang="en-US" sz="1100" b="0" dirty="0" err="1">
                <a:solidFill>
                  <a:srgbClr val="F3F4F6"/>
                </a:solidFill>
              </a:rPr>
              <a:t>csproj</a:t>
            </a:r>
            <a:r>
              <a:rPr lang="en-US" sz="1100" b="0" dirty="0">
                <a:solidFill>
                  <a:srgbClr val="F3F4F6"/>
                </a:solidFill>
              </a:rPr>
              <a:t>)</a:t>
            </a:r>
            <a:endParaRPr sz="1100" b="0" dirty="0">
              <a:solidFill>
                <a:srgbClr val="F3F4F6"/>
              </a:solidFill>
            </a:endParaRP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&lt;</a:t>
            </a:r>
            <a:r>
              <a:rPr sz="1100" b="0" dirty="0" err="1">
                <a:solidFill>
                  <a:srgbClr val="F3F4F6"/>
                </a:solidFill>
              </a:rPr>
              <a:t>InternalsVisibleTo</a:t>
            </a:r>
            <a:r>
              <a:rPr sz="1100" b="0" dirty="0">
                <a:solidFill>
                  <a:srgbClr val="F3F4F6"/>
                </a:solidFill>
              </a:rPr>
              <a:t> Include="</a:t>
            </a:r>
            <a:r>
              <a:rPr sz="1100" b="0" dirty="0" err="1">
                <a:solidFill>
                  <a:srgbClr val="F3F4F6"/>
                </a:solidFill>
              </a:rPr>
              <a:t>Zeal.Bootcamp.DnD.Data</a:t>
            </a:r>
            <a:r>
              <a:rPr sz="1100" b="0" dirty="0">
                <a:solidFill>
                  <a:srgbClr val="F3F4F6"/>
                </a:solidFill>
              </a:rPr>
              <a:t>" /&gt;</a:t>
            </a:r>
          </a:p>
          <a:p>
            <a:pPr algn="l">
              <a:buNone/>
              <a:defRPr sz="1125" b="0">
                <a:solidFill>
                  <a:srgbClr val="EDF4F7"/>
                </a:solidFill>
              </a:defRPr>
            </a:pPr>
            <a:endParaRPr sz="1100" b="0" dirty="0">
              <a:solidFill>
                <a:srgbClr val="F3F4F6"/>
              </a:solidFill>
            </a:endParaRPr>
          </a:p>
          <a:p>
            <a:pPr>
              <a:defRPr>
                <a:solidFill>
                  <a:srgbClr val="F3F4F6"/>
                </a:solidFill>
              </a:defRPr>
            </a:pPr>
            <a:r>
              <a:rPr sz="1100" dirty="0">
                <a:solidFill>
                  <a:srgbClr val="F3F4F6"/>
                </a:solidFill>
              </a:rPr>
              <a:t>// Domain aggregate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internal Character(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    </a:t>
            </a:r>
            <a:r>
              <a:rPr sz="1100" b="0" dirty="0" err="1">
                <a:solidFill>
                  <a:srgbClr val="F3F4F6"/>
                </a:solidFill>
              </a:rPr>
              <a:t>Guid</a:t>
            </a:r>
            <a:r>
              <a:rPr sz="1100" b="0" dirty="0">
                <a:solidFill>
                  <a:srgbClr val="F3F4F6"/>
                </a:solidFill>
              </a:rPr>
              <a:t> id,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    string name,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    Class @class,</a:t>
            </a:r>
          </a:p>
          <a:p>
            <a:pPr>
              <a:defRPr>
                <a:solidFill>
                  <a:srgbClr val="F3F4F6"/>
                </a:solidFill>
              </a:defRPr>
            </a:pPr>
            <a:r>
              <a:rPr sz="1100" dirty="0">
                <a:solidFill>
                  <a:srgbClr val="F3F4F6"/>
                </a:solidFill>
              </a:rPr>
              <a:t>    Weapon weapon)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    : this(id, new </a:t>
            </a:r>
            <a:r>
              <a:rPr sz="1100" b="0" dirty="0" err="1">
                <a:solidFill>
                  <a:srgbClr val="F3F4F6"/>
                </a:solidFill>
              </a:rPr>
              <a:t>CharacterName</a:t>
            </a:r>
            <a:r>
              <a:rPr sz="1100" b="0" dirty="0">
                <a:solidFill>
                  <a:srgbClr val="F3F4F6"/>
                </a:solidFill>
              </a:rPr>
              <a:t>(name),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        @class, </a:t>
            </a:r>
            <a:r>
              <a:rPr sz="1100" b="0" dirty="0" err="1">
                <a:solidFill>
                  <a:srgbClr val="F3F4F6"/>
                </a:solidFill>
              </a:rPr>
              <a:t>BackgroundStory.Empty</a:t>
            </a:r>
            <a:r>
              <a:rPr sz="1100" b="0" dirty="0">
                <a:solidFill>
                  <a:srgbClr val="F3F4F6"/>
                </a:solidFill>
              </a:rPr>
              <a:t>)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00" b="0" dirty="0">
                <a:solidFill>
                  <a:srgbClr val="F3F4F6"/>
                </a:solidFill>
              </a:rPr>
              <a:t>{ ... }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008DB7B1-45D6-48F8-BE11-417831D1D5C9}"/>
              </a:ext>
            </a:extLst>
          </p:cNvPr>
          <p:cNvSpPr>
            <a:spLocks noGrp="1"/>
          </p:cNvSpPr>
          <p:nvPr/>
        </p:nvSpPr>
        <p:spPr>
          <a:xfrm>
            <a:off x="6057900" y="1352550"/>
            <a:ext cx="990600" cy="304800"/>
          </a:xfrm>
          <a:prstGeom prst="roundRect">
            <a:avLst>
              <a:gd name="adj" fmla="val 37500"/>
            </a:avLst>
          </a:prstGeom>
          <a:solidFill>
            <a:srgbClr val="F299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66642B5-2D04-437F-86F7-F467E0539DD1}"/>
              </a:ext>
            </a:extLst>
          </p:cNvPr>
          <p:cNvSpPr>
            <a:spLocks noGrp="1"/>
          </p:cNvSpPr>
          <p:nvPr/>
        </p:nvSpPr>
        <p:spPr>
          <a:xfrm>
            <a:off x="6134100" y="139065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9CE33FB3-7D74-4C7D-96BF-2A0D34A29F76}"/>
              </a:ext>
            </a:extLst>
          </p:cNvPr>
          <p:cNvSpPr>
            <a:spLocks noGrp="1"/>
          </p:cNvSpPr>
          <p:nvPr/>
        </p:nvSpPr>
        <p:spPr>
          <a:xfrm>
            <a:off x="7200900" y="13525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Not public API</a:t>
            </a:r>
          </a:p>
        </p:txBody>
      </p:sp>
      <p:sp>
        <p:nvSpPr>
          <p:cNvPr id="264" name="Rectangle: Rounded Corners 263">
            <a:extLst>
              <a:ext uri="{FF2B5EF4-FFF2-40B4-BE49-F238E27FC236}">
                <a16:creationId xmlns:a16="http://schemas.microsoft.com/office/drawing/2014/main" id="{D99BE397-51FB-430E-A2CB-445BC69CCB8B}"/>
              </a:ext>
            </a:extLst>
          </p:cNvPr>
          <p:cNvSpPr>
            <a:spLocks noGrp="1"/>
          </p:cNvSpPr>
          <p:nvPr/>
        </p:nvSpPr>
        <p:spPr>
          <a:xfrm>
            <a:off x="6057900" y="2228850"/>
            <a:ext cx="99060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F27CD2DE-B87D-4D92-B8F8-91135FEA686E}"/>
              </a:ext>
            </a:extLst>
          </p:cNvPr>
          <p:cNvSpPr>
            <a:spLocks noGrp="1"/>
          </p:cNvSpPr>
          <p:nvPr/>
        </p:nvSpPr>
        <p:spPr>
          <a:xfrm>
            <a:off x="6134100" y="226695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friend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0123039-E06D-4019-993C-38F70D339286}"/>
              </a:ext>
            </a:extLst>
          </p:cNvPr>
          <p:cNvSpPr>
            <a:spLocks noGrp="1"/>
          </p:cNvSpPr>
          <p:nvPr/>
        </p:nvSpPr>
        <p:spPr>
          <a:xfrm>
            <a:off x="7200900" y="22288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0373"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Data assembly only</a:t>
            </a: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970302F7-5D3E-4FFB-B907-71B4A376135C}"/>
              </a:ext>
            </a:extLst>
          </p:cNvPr>
          <p:cNvSpPr>
            <a:spLocks noGrp="1"/>
          </p:cNvSpPr>
          <p:nvPr/>
        </p:nvSpPr>
        <p:spPr>
          <a:xfrm>
            <a:off x="6057900" y="3105150"/>
            <a:ext cx="990600" cy="304800"/>
          </a:xfrm>
          <a:prstGeom prst="roundRect">
            <a:avLst>
              <a:gd name="adj" fmla="val 37500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3AA93672-A419-4501-86B0-3B9559CADF85}"/>
              </a:ext>
            </a:extLst>
          </p:cNvPr>
          <p:cNvSpPr>
            <a:spLocks noGrp="1"/>
          </p:cNvSpPr>
          <p:nvPr/>
        </p:nvSpPr>
        <p:spPr>
          <a:xfrm>
            <a:off x="6134100" y="314325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38"/>
          </a:bodyPr>
          <a:lstStyle/>
          <a:p>
            <a:pPr algn="ctr">
              <a:buNone/>
              <a:defRPr sz="1050" b="1">
                <a:solidFill>
                  <a:srgbClr val="0B83BD"/>
                </a:solidFill>
              </a:defRPr>
            </a:pPr>
            <a:r>
              <a:rPr sz="1050" b="1">
                <a:solidFill>
                  <a:srgbClr val="0B83BD"/>
                </a:solidFill>
              </a:rPr>
              <a:t>Create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ED97BE8-53C6-4CD3-903E-5C012BFBAFBC}"/>
              </a:ext>
            </a:extLst>
          </p:cNvPr>
          <p:cNvSpPr>
            <a:spLocks noGrp="1"/>
          </p:cNvSpPr>
          <p:nvPr/>
        </p:nvSpPr>
        <p:spPr>
          <a:xfrm>
            <a:off x="7200900" y="31051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66026"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 dirty="0">
                <a:solidFill>
                  <a:srgbClr val="5F6B76"/>
                </a:solidFill>
              </a:rPr>
              <a:t>Public path for new objects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BBCEB92D-67B7-48E5-8F12-2052AC2D167A}"/>
              </a:ext>
            </a:extLst>
          </p:cNvPr>
          <p:cNvSpPr>
            <a:spLocks noGrp="1"/>
          </p:cNvSpPr>
          <p:nvPr/>
        </p:nvSpPr>
        <p:spPr>
          <a:xfrm>
            <a:off x="6019800" y="4010025"/>
            <a:ext cx="2609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79164"/>
          </a:bodyPr>
          <a:lstStyle/>
          <a:p>
            <a:pPr algn="ctr">
              <a:buNone/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New objects use the factory; persisted objects use the rehydration path.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1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58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Data queries shape read models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72B4FB42-BF8D-40E0-83DD-EB9514014044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1CF27AAC-325B-47F8-BC9B-B331F3DBF1F5}"/>
              </a:ext>
            </a:extLst>
          </p:cNvPr>
          <p:cNvSpPr>
            <a:spLocks noGrp="1"/>
          </p:cNvSpPr>
          <p:nvPr/>
        </p:nvSpPr>
        <p:spPr>
          <a:xfrm>
            <a:off x="647700" y="1314450"/>
            <a:ext cx="50673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4127"/>
          </a:bodyPr>
          <a:lstStyle/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internal class ListCharactersDataQuery(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DnDContext db)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: IListCharactersDataQuery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{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public IQueryable&lt;Result&gt; Execute()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=&gt; db.Set&lt;CharacterEntity&gt;()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.AsNoTracking()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.Select(i =&gt; new Result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{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    Id = i.CharacterId,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    Name = i.Name,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    ClassName = i.Class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            });</a:t>
            </a:r>
          </a:p>
          <a:p>
            <a:pPr algn="l">
              <a:buNone/>
              <a:defRPr sz="1125" b="0">
                <a:solidFill>
                  <a:srgbClr val="F3F4F6"/>
                </a:solidFill>
              </a:defRPr>
            </a:pPr>
            <a:r>
              <a:rPr sz="1125" b="0">
                <a:solidFill>
                  <a:srgbClr val="F3F4F6"/>
                </a:solidFill>
              </a:rPr>
              <a:t>}</a:t>
            </a:r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3D36AC6C-8921-4CE0-A4FA-B2FBA4E8F889}"/>
              </a:ext>
            </a:extLst>
          </p:cNvPr>
          <p:cNvSpPr>
            <a:spLocks noGrp="1"/>
          </p:cNvSpPr>
          <p:nvPr/>
        </p:nvSpPr>
        <p:spPr>
          <a:xfrm>
            <a:off x="514350" y="3781425"/>
            <a:ext cx="8115300" cy="685800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9525">
            <a:solidFill>
              <a:srgbClr val="D8E0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E1766398-82E2-476D-9CDE-196071EB95E5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7772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buNone/>
              <a:defRPr sz="1125" b="0">
                <a:solidFill>
                  <a:srgbClr val="1F2937"/>
                </a:solidFill>
              </a:defRPr>
            </a:pPr>
            <a:r>
              <a:rPr sz="1125" b="0">
                <a:solidFill>
                  <a:srgbClr val="1F2937"/>
                </a:solidFill>
              </a:rPr>
              <a:t>Character table → SELECT needed columns → ListCharactersDataQueryResult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C5E2A03D-8839-4403-B6A6-6C9A6F870A0E}"/>
              </a:ext>
            </a:extLst>
          </p:cNvPr>
          <p:cNvSpPr>
            <a:spLocks noGrp="1"/>
          </p:cNvSpPr>
          <p:nvPr/>
        </p:nvSpPr>
        <p:spPr>
          <a:xfrm>
            <a:off x="6191250" y="13525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1">
                <a:solidFill>
                  <a:srgbClr val="F2994A"/>
                </a:solidFill>
              </a:defRPr>
            </a:pPr>
            <a:r>
              <a:rPr sz="1125" b="1">
                <a:solidFill>
                  <a:srgbClr val="F2994A"/>
                </a:solidFill>
              </a:rPr>
              <a:t>project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F0A385AA-A499-4D0C-AB3D-8C0CF3F4DACF}"/>
              </a:ext>
            </a:extLst>
          </p:cNvPr>
          <p:cNvSpPr>
            <a:spLocks noGrp="1"/>
          </p:cNvSpPr>
          <p:nvPr/>
        </p:nvSpPr>
        <p:spPr>
          <a:xfrm>
            <a:off x="7372350" y="13525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125" b="1">
                <a:solidFill>
                  <a:srgbClr val="0B83BD"/>
                </a:solidFill>
              </a:defRPr>
            </a:pPr>
            <a:r>
              <a:rPr sz="1125" b="1">
                <a:solidFill>
                  <a:srgbClr val="0B83BD"/>
                </a:solidFill>
              </a:rPr>
              <a:t>no tracking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04CA03BA-4766-4596-B619-DF1DB9C71103}"/>
              </a:ext>
            </a:extLst>
          </p:cNvPr>
          <p:cNvSpPr>
            <a:spLocks noGrp="1"/>
          </p:cNvSpPr>
          <p:nvPr/>
        </p:nvSpPr>
        <p:spPr>
          <a:xfrm>
            <a:off x="6153150" y="1962150"/>
            <a:ext cx="23050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9019"/>
          </a:bodyPr>
          <a:lstStyle/>
          <a:p>
            <a:pPr algn="ctr">
              <a:buNone/>
              <a:defRPr sz="1350" b="1">
                <a:solidFill>
                  <a:srgbClr val="5F6B76"/>
                </a:solidFill>
              </a:defRPr>
            </a:pPr>
            <a:r>
              <a:rPr sz="1350" b="1">
                <a:solidFill>
                  <a:srgbClr val="5F6B76"/>
                </a:solidFill>
              </a:rPr>
              <a:t>Read models avoid loading domain behavior when the use case only needs data.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4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715126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 dirty="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Configuration wires EF behind contracts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8B5DD839-A7B5-4870-9210-3B1BC49728CA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4629150" cy="2857500"/>
          </a:xfrm>
          <a:prstGeom prst="roundRect">
            <a:avLst>
              <a:gd name="adj" fmla="val 4000"/>
            </a:avLst>
          </a:prstGeom>
          <a:solidFill>
            <a:srgbClr val="16212B"/>
          </a:solidFill>
          <a:ln w="9525">
            <a:solidFill>
              <a:srgbClr val="1621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FA9BD75E-6C61-406E-94EC-4FD0835DF919}"/>
              </a:ext>
            </a:extLst>
          </p:cNvPr>
          <p:cNvSpPr>
            <a:spLocks noGrp="1"/>
          </p:cNvSpPr>
          <p:nvPr/>
        </p:nvSpPr>
        <p:spPr>
          <a:xfrm>
            <a:off x="647700" y="1314450"/>
            <a:ext cx="436245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5242" lnSpcReduction="10000"/>
          </a:bodyPr>
          <a:lstStyle/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 err="1">
                <a:solidFill>
                  <a:srgbClr val="F3F4F6"/>
                </a:solidFill>
              </a:rPr>
              <a:t>builder.Services.AddDataServices</a:t>
            </a:r>
            <a:r>
              <a:rPr sz="1275" b="0" dirty="0">
                <a:solidFill>
                  <a:srgbClr val="F3F4F6"/>
                </a:solidFill>
              </a:rPr>
              <a:t>(options =&gt;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275" b="0" dirty="0">
                <a:solidFill>
                  <a:srgbClr val="F3F4F6"/>
                </a:solidFill>
              </a:rPr>
              <a:t>    </a:t>
            </a:r>
            <a:r>
              <a:rPr sz="1300" b="0" dirty="0" err="1">
                <a:solidFill>
                  <a:srgbClr val="F3F4F6"/>
                </a:solidFill>
              </a:rPr>
              <a:t>options.UseSqlServer</a:t>
            </a:r>
            <a:r>
              <a:rPr sz="1300" b="0" dirty="0">
                <a:solidFill>
                  <a:srgbClr val="F3F4F6"/>
                </a:solidFill>
              </a:rPr>
              <a:t>(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        </a:t>
            </a:r>
            <a:r>
              <a:rPr sz="1300" b="0" dirty="0" err="1">
                <a:solidFill>
                  <a:srgbClr val="F3F4F6"/>
                </a:solidFill>
              </a:rPr>
              <a:t>builder.Configuration</a:t>
            </a:r>
            <a:endParaRPr sz="1300" b="0" dirty="0">
              <a:solidFill>
                <a:srgbClr val="F3F4F6"/>
              </a:solidFill>
            </a:endParaRPr>
          </a:p>
          <a:p>
            <a:pPr>
              <a:defRPr>
                <a:solidFill>
                  <a:srgbClr val="F3F4F6"/>
                </a:solidFill>
              </a:defRPr>
            </a:pPr>
            <a:r>
              <a:rPr sz="1300" dirty="0">
                <a:solidFill>
                  <a:srgbClr val="F3F4F6"/>
                </a:solidFill>
              </a:rPr>
              <a:t>            .</a:t>
            </a:r>
            <a:r>
              <a:rPr sz="1300" dirty="0" err="1">
                <a:solidFill>
                  <a:srgbClr val="F3F4F6"/>
                </a:solidFill>
              </a:rPr>
              <a:t>GetConnectionString</a:t>
            </a:r>
            <a:r>
              <a:rPr sz="1300" dirty="0">
                <a:solidFill>
                  <a:srgbClr val="F3F4F6"/>
                </a:solidFill>
              </a:rPr>
              <a:t>("</a:t>
            </a:r>
            <a:r>
              <a:rPr sz="1300" dirty="0" err="1">
                <a:solidFill>
                  <a:srgbClr val="F3F4F6"/>
                </a:solidFill>
              </a:rPr>
              <a:t>DnDDatabase</a:t>
            </a:r>
            <a:r>
              <a:rPr sz="1300" dirty="0">
                <a:solidFill>
                  <a:srgbClr val="F3F4F6"/>
                </a:solidFill>
              </a:rPr>
              <a:t>")));</a:t>
            </a:r>
          </a:p>
          <a:p>
            <a:pPr algn="l">
              <a:buNone/>
              <a:defRPr sz="1275" b="0">
                <a:solidFill>
                  <a:srgbClr val="EDF4F7"/>
                </a:solidFill>
              </a:defRPr>
            </a:pPr>
            <a:endParaRPr sz="1300" dirty="0">
              <a:solidFill>
                <a:srgbClr val="F3F4F6"/>
              </a:solidFill>
            </a:endParaRP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 err="1">
                <a:solidFill>
                  <a:srgbClr val="F3F4F6"/>
                </a:solidFill>
              </a:rPr>
              <a:t>services.AddDbContext</a:t>
            </a:r>
            <a:r>
              <a:rPr sz="1300" b="0" dirty="0">
                <a:solidFill>
                  <a:srgbClr val="F3F4F6"/>
                </a:solidFill>
              </a:rPr>
              <a:t>&lt;</a:t>
            </a:r>
            <a:r>
              <a:rPr sz="1300" b="0" dirty="0" err="1">
                <a:solidFill>
                  <a:srgbClr val="F3F4F6"/>
                </a:solidFill>
              </a:rPr>
              <a:t>DnDContext</a:t>
            </a:r>
            <a:r>
              <a:rPr sz="1300" b="0" dirty="0">
                <a:solidFill>
                  <a:srgbClr val="F3F4F6"/>
                </a:solidFill>
              </a:rPr>
              <a:t>&gt;(...);</a:t>
            </a:r>
          </a:p>
          <a:p>
            <a:pPr>
              <a:defRPr>
                <a:solidFill>
                  <a:srgbClr val="F3F4F6"/>
                </a:solidFill>
              </a:defRPr>
            </a:pPr>
            <a:r>
              <a:rPr sz="1300" dirty="0" err="1">
                <a:solidFill>
                  <a:srgbClr val="F3F4F6"/>
                </a:solidFill>
              </a:rPr>
              <a:t>services.AddScoped</a:t>
            </a:r>
            <a:r>
              <a:rPr sz="1300" dirty="0">
                <a:solidFill>
                  <a:srgbClr val="F3F4F6"/>
                </a:solidFill>
              </a:rPr>
              <a:t>&lt;</a:t>
            </a:r>
            <a:r>
              <a:rPr sz="1300" dirty="0" err="1">
                <a:solidFill>
                  <a:srgbClr val="F3F4F6"/>
                </a:solidFill>
              </a:rPr>
              <a:t>ICharacterRepository</a:t>
            </a:r>
            <a:r>
              <a:rPr sz="1300" dirty="0">
                <a:solidFill>
                  <a:srgbClr val="F3F4F6"/>
                </a:solidFill>
              </a:rPr>
              <a:t>,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    </a:t>
            </a:r>
            <a:r>
              <a:rPr sz="1300" b="0" dirty="0" err="1">
                <a:solidFill>
                  <a:srgbClr val="F3F4F6"/>
                </a:solidFill>
              </a:rPr>
              <a:t>CharacterRepository</a:t>
            </a:r>
            <a:r>
              <a:rPr sz="1300" b="0" dirty="0">
                <a:solidFill>
                  <a:srgbClr val="F3F4F6"/>
                </a:solidFill>
              </a:rPr>
              <a:t>&gt;();</a:t>
            </a:r>
          </a:p>
          <a:p>
            <a:pPr algn="l">
              <a:buNone/>
              <a:defRPr sz="1275" b="0">
                <a:solidFill>
                  <a:srgbClr val="EDF4F7"/>
                </a:solidFill>
              </a:defRPr>
            </a:pPr>
            <a:endParaRPr sz="1300" b="0" dirty="0">
              <a:solidFill>
                <a:srgbClr val="F3F4F6"/>
              </a:solidFill>
            </a:endParaRP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 err="1">
                <a:solidFill>
                  <a:srgbClr val="F3F4F6"/>
                </a:solidFill>
              </a:rPr>
              <a:t>modelBuilder.Entity</a:t>
            </a:r>
            <a:r>
              <a:rPr sz="1300" b="0" dirty="0">
                <a:solidFill>
                  <a:srgbClr val="F3F4F6"/>
                </a:solidFill>
              </a:rPr>
              <a:t>&lt;</a:t>
            </a:r>
            <a:r>
              <a:rPr sz="1300" b="0" dirty="0" err="1">
                <a:solidFill>
                  <a:srgbClr val="F3F4F6"/>
                </a:solidFill>
              </a:rPr>
              <a:t>CharacterEntity</a:t>
            </a:r>
            <a:r>
              <a:rPr sz="1300" b="0" dirty="0">
                <a:solidFill>
                  <a:srgbClr val="F3F4F6"/>
                </a:solidFill>
              </a:rPr>
              <a:t>&gt;(entity =&gt;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{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    </a:t>
            </a:r>
            <a:r>
              <a:rPr sz="1300" b="0" dirty="0" err="1">
                <a:solidFill>
                  <a:srgbClr val="F3F4F6"/>
                </a:solidFill>
              </a:rPr>
              <a:t>entity.HasKey</a:t>
            </a:r>
            <a:r>
              <a:rPr sz="1300" b="0" dirty="0">
                <a:solidFill>
                  <a:srgbClr val="F3F4F6"/>
                </a:solidFill>
              </a:rPr>
              <a:t>(e =&gt; </a:t>
            </a:r>
            <a:r>
              <a:rPr sz="1300" b="0" dirty="0" err="1">
                <a:solidFill>
                  <a:srgbClr val="F3F4F6"/>
                </a:solidFill>
              </a:rPr>
              <a:t>e.CharacterId</a:t>
            </a:r>
            <a:r>
              <a:rPr sz="1300" b="0" dirty="0">
                <a:solidFill>
                  <a:srgbClr val="F3F4F6"/>
                </a:solidFill>
              </a:rPr>
              <a:t>);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    </a:t>
            </a:r>
            <a:r>
              <a:rPr sz="1300" b="0" dirty="0" err="1">
                <a:solidFill>
                  <a:srgbClr val="F3F4F6"/>
                </a:solidFill>
              </a:rPr>
              <a:t>entity.Property</a:t>
            </a:r>
            <a:r>
              <a:rPr sz="1300" b="0" dirty="0">
                <a:solidFill>
                  <a:srgbClr val="F3F4F6"/>
                </a:solidFill>
              </a:rPr>
              <a:t>(e =&gt; </a:t>
            </a:r>
            <a:r>
              <a:rPr sz="1300" b="0" dirty="0" err="1">
                <a:solidFill>
                  <a:srgbClr val="F3F4F6"/>
                </a:solidFill>
              </a:rPr>
              <a:t>e.Name</a:t>
            </a:r>
            <a:r>
              <a:rPr sz="1300" b="0" dirty="0">
                <a:solidFill>
                  <a:srgbClr val="F3F4F6"/>
                </a:solidFill>
              </a:rPr>
              <a:t>)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        .</a:t>
            </a:r>
            <a:r>
              <a:rPr sz="1300" b="0" dirty="0" err="1">
                <a:solidFill>
                  <a:srgbClr val="F3F4F6"/>
                </a:solidFill>
              </a:rPr>
              <a:t>HasMaxLength</a:t>
            </a:r>
            <a:r>
              <a:rPr sz="1300" b="0" dirty="0">
                <a:solidFill>
                  <a:srgbClr val="F3F4F6"/>
                </a:solidFill>
              </a:rPr>
              <a:t>(50).</a:t>
            </a:r>
            <a:r>
              <a:rPr sz="1300" b="0" dirty="0" err="1">
                <a:solidFill>
                  <a:srgbClr val="F3F4F6"/>
                </a:solidFill>
              </a:rPr>
              <a:t>IsRequired</a:t>
            </a:r>
            <a:r>
              <a:rPr sz="1300" b="0" dirty="0">
                <a:solidFill>
                  <a:srgbClr val="F3F4F6"/>
                </a:solidFill>
              </a:rPr>
              <a:t>();</a:t>
            </a:r>
          </a:p>
          <a:p>
            <a:pPr algn="l">
              <a:buNone/>
              <a:defRPr sz="1275" b="0">
                <a:solidFill>
                  <a:srgbClr val="F3F4F6"/>
                </a:solidFill>
              </a:defRPr>
            </a:pPr>
            <a:r>
              <a:rPr sz="1300" b="0" dirty="0">
                <a:solidFill>
                  <a:srgbClr val="F3F4F6"/>
                </a:solidFill>
              </a:rPr>
              <a:t>});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C788D147-CD47-463E-9F23-1E68936B8098}"/>
              </a:ext>
            </a:extLst>
          </p:cNvPr>
          <p:cNvSpPr>
            <a:spLocks noGrp="1"/>
          </p:cNvSpPr>
          <p:nvPr/>
        </p:nvSpPr>
        <p:spPr>
          <a:xfrm>
            <a:off x="5543550" y="1381125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1">
                <a:solidFill>
                  <a:srgbClr val="0B83BD"/>
                </a:solidFill>
              </a:defRPr>
            </a:pPr>
            <a:r>
              <a:rPr sz="1275" b="1">
                <a:solidFill>
                  <a:srgbClr val="0B83BD"/>
                </a:solidFill>
              </a:rPr>
              <a:t>AddDbContext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AA6B13C9-C81A-4F83-8528-03DAB244C9D4}"/>
              </a:ext>
            </a:extLst>
          </p:cNvPr>
          <p:cNvSpPr>
            <a:spLocks noGrp="1"/>
          </p:cNvSpPr>
          <p:nvPr/>
        </p:nvSpPr>
        <p:spPr>
          <a:xfrm>
            <a:off x="6953250" y="1381125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 dirty="0">
                <a:solidFill>
                  <a:srgbClr val="5F6B76"/>
                </a:solidFill>
              </a:rPr>
              <a:t>Create scoped context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13D7B610-332D-4B88-A5B8-758E653F43EA}"/>
              </a:ext>
            </a:extLst>
          </p:cNvPr>
          <p:cNvSpPr>
            <a:spLocks noGrp="1"/>
          </p:cNvSpPr>
          <p:nvPr/>
        </p:nvSpPr>
        <p:spPr>
          <a:xfrm>
            <a:off x="5543550" y="2257425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1">
                <a:solidFill>
                  <a:srgbClr val="F2994A"/>
                </a:solidFill>
              </a:defRPr>
            </a:pPr>
            <a:r>
              <a:rPr sz="1275" b="1">
                <a:solidFill>
                  <a:srgbClr val="F2994A"/>
                </a:solidFill>
              </a:rPr>
              <a:t>UseSqlServer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7DDB619-C133-4EEF-82D2-9BCBEFF6674F}"/>
              </a:ext>
            </a:extLst>
          </p:cNvPr>
          <p:cNvSpPr>
            <a:spLocks noGrp="1"/>
          </p:cNvSpPr>
          <p:nvPr/>
        </p:nvSpPr>
        <p:spPr>
          <a:xfrm>
            <a:off x="6953250" y="2257425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Choose provider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25ECB0E-24FA-4E92-9BCE-0DBD3D95FDE7}"/>
              </a:ext>
            </a:extLst>
          </p:cNvPr>
          <p:cNvSpPr>
            <a:spLocks noGrp="1"/>
          </p:cNvSpPr>
          <p:nvPr/>
        </p:nvSpPr>
        <p:spPr>
          <a:xfrm>
            <a:off x="5543550" y="3133725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279"/>
          </a:bodyPr>
          <a:lstStyle/>
          <a:p>
            <a:pPr algn="l">
              <a:buNone/>
              <a:defRPr sz="1275" b="1">
                <a:solidFill>
                  <a:srgbClr val="0B83BD"/>
                </a:solidFill>
              </a:defRPr>
            </a:pPr>
            <a:r>
              <a:rPr sz="1275" b="1" dirty="0" err="1">
                <a:solidFill>
                  <a:srgbClr val="0B83BD"/>
                </a:solidFill>
              </a:rPr>
              <a:t>OnModelCreating</a:t>
            </a:r>
            <a:endParaRPr sz="1275" b="1" dirty="0">
              <a:solidFill>
                <a:srgbClr val="0B83BD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DAABF92-8738-4798-A5A2-75E537610B21}"/>
              </a:ext>
            </a:extLst>
          </p:cNvPr>
          <p:cNvSpPr>
            <a:spLocks noGrp="1"/>
          </p:cNvSpPr>
          <p:nvPr/>
        </p:nvSpPr>
        <p:spPr>
          <a:xfrm>
            <a:off x="6953250" y="3133725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Map relational rules</a:t>
            </a:r>
          </a:p>
        </p:txBody>
      </p: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14B8C7D0-810F-4572-9779-620AE997A4D7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6743700" cy="400050"/>
          </a:xfrm>
          <a:prstGeom prst="roundRect">
            <a:avLst>
              <a:gd name="adj" fmla="val 28571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59E74D3-3EE7-40A0-A9A2-FD23B9D46AE6}"/>
              </a:ext>
            </a:extLst>
          </p:cNvPr>
          <p:cNvSpPr>
            <a:spLocks noGrp="1"/>
          </p:cNvSpPr>
          <p:nvPr/>
        </p:nvSpPr>
        <p:spPr>
          <a:xfrm>
            <a:off x="1371600" y="4429125"/>
            <a:ext cx="640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2593"/>
          </a:bodyPr>
          <a:lstStyle/>
          <a:p>
            <a:pPr algn="ctr">
              <a:buNone/>
              <a:defRPr sz="1350" b="1">
                <a:solidFill>
                  <a:srgbClr val="0B83BD"/>
                </a:solidFill>
              </a:defRPr>
            </a:pPr>
            <a:r>
              <a:rPr sz="1350" b="1">
                <a:solidFill>
                  <a:srgbClr val="0B83BD"/>
                </a:solidFill>
              </a:rPr>
              <a:t>Registration selects the technology; contracts preserve the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>
            <a:extLst>
              <a:ext uri="{FF2B5EF4-FFF2-40B4-BE49-F238E27FC236}">
                <a16:creationId xmlns:a16="http://schemas.microsoft.com/office/drawing/2014/main" id="{02329705-08BB-4706-8818-9034A2460CBD}"/>
              </a:ext>
            </a:extLst>
          </p:cNvPr>
          <p:cNvSpPr>
            <a:spLocks noGrp="1"/>
          </p:cNvSpPr>
          <p:nvPr/>
        </p:nvSpPr>
        <p:spPr>
          <a:xfrm rot="10800000">
            <a:off x="-2" y="198"/>
            <a:ext cx="9144001" cy="930692"/>
          </a:xfrm>
          <a:prstGeom prst="flowChartManualInpu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cxnSp>
        <p:nvCxnSpPr>
          <p:cNvPr id="279" name="Google Shape;254;p41"/>
          <p:cNvCxnSpPr/>
          <p:nvPr/>
        </p:nvCxnSpPr>
        <p:spPr>
          <a:xfrm rot="10800000">
            <a:off x="500941" y="665081"/>
            <a:ext cx="676200" cy="0"/>
          </a:xfrm>
          <a:prstGeom prst="straightConnector1">
            <a:avLst/>
          </a:prstGeom>
          <a:ln w="28575" cap="flat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41">
            <a:extLst>
              <a:ext uri="{FF2B5EF4-FFF2-40B4-BE49-F238E27FC236}">
                <a16:creationId xmlns:a16="http://schemas.microsoft.com/office/drawing/2014/main" id="{347813FE-5269-4AE0-B22C-7B5D04154DE1}"/>
              </a:ext>
            </a:extLst>
          </p:cNvPr>
          <p:cNvSpPr>
            <a:spLocks noGrp="1"/>
          </p:cNvSpPr>
          <p:nvPr/>
        </p:nvSpPr>
        <p:spPr>
          <a:xfrm>
            <a:off x="7449015" y="-959005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6" name="Google Shape;256;p41">
            <a:extLst>
              <a:ext uri="{FF2B5EF4-FFF2-40B4-BE49-F238E27FC236}">
                <a16:creationId xmlns:a16="http://schemas.microsoft.com/office/drawing/2014/main" id="{A6AA3429-F28F-4491-A616-A4BC36F53070}"/>
              </a:ext>
            </a:extLst>
          </p:cNvPr>
          <p:cNvSpPr>
            <a:spLocks noGrp="1"/>
          </p:cNvSpPr>
          <p:nvPr/>
        </p:nvSpPr>
        <p:spPr>
          <a:xfrm>
            <a:off x="482551" y="202075"/>
            <a:ext cx="58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sz="2600">
                <a:solidFill>
                  <a:schemeClr val="accent2"/>
                </a:solidFill>
                <a:latin typeface="Inter Tight ExtraBold"/>
                <a:ea typeface="Inter Tight ExtraBold"/>
                <a:cs typeface="Inter Tight ExtraBold"/>
              </a:rPr>
              <a:t>Week 5: persist an aggregate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641EB5A-6F55-46AE-9B0F-73CC047B6CEC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811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5F6B76"/>
                </a:solidFill>
              </a:defRPr>
            </a:pPr>
            <a:r>
              <a:rPr sz="1725" b="0">
                <a:solidFill>
                  <a:srgbClr val="5F6B76"/>
                </a:solidFill>
              </a:rPr>
              <a:t>Keep your database structure out of the presentation and domain layers.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FBEF4BB-DED7-4F09-B377-FC1677A63CD8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01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92252115-A0BD-464D-AB2C-B87529869E2F}"/>
              </a:ext>
            </a:extLst>
          </p:cNvPr>
          <p:cNvSpPr>
            <a:spLocks noGrp="1"/>
          </p:cNvSpPr>
          <p:nvPr/>
        </p:nvSpPr>
        <p:spPr>
          <a:xfrm>
            <a:off x="1162050" y="1714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Configure EF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B4267B8-1083-4688-96F1-09ADE15836BE}"/>
              </a:ext>
            </a:extLst>
          </p:cNvPr>
          <p:cNvSpPr>
            <a:spLocks noGrp="1"/>
          </p:cNvSpPr>
          <p:nvPr/>
        </p:nvSpPr>
        <p:spPr>
          <a:xfrm>
            <a:off x="4000500" y="1714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 dirty="0">
                <a:solidFill>
                  <a:srgbClr val="5F6B76"/>
                </a:solidFill>
              </a:rPr>
              <a:t>Add SQLite or your chosen provider.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977E7E6-2395-42FC-9345-318EC3FFC5F1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02</a:t>
            </a: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1A315718-09F2-462B-9176-AAC7E795D03F}"/>
              </a:ext>
            </a:extLst>
          </p:cNvPr>
          <p:cNvSpPr>
            <a:spLocks noGrp="1"/>
          </p:cNvSpPr>
          <p:nvPr/>
        </p:nvSpPr>
        <p:spPr>
          <a:xfrm>
            <a:off x="1162050" y="23622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Create data models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C51C2CA2-BEF6-44B0-8A81-8D4F725CA8DE}"/>
              </a:ext>
            </a:extLst>
          </p:cNvPr>
          <p:cNvSpPr>
            <a:spLocks noGrp="1"/>
          </p:cNvSpPr>
          <p:nvPr/>
        </p:nvSpPr>
        <p:spPr>
          <a:xfrm>
            <a:off x="4000500" y="23622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Map keys, relationships, and constraints.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8C3B32AB-5810-4FAD-AC25-93EE85105295}"/>
              </a:ext>
            </a:extLst>
          </p:cNvPr>
          <p:cNvSpPr>
            <a:spLocks noGrp="1"/>
          </p:cNvSpPr>
          <p:nvPr/>
        </p:nvSpPr>
        <p:spPr>
          <a:xfrm>
            <a:off x="552450" y="30099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03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640F3E4-2829-4389-B754-24F8AB20B30E}"/>
              </a:ext>
            </a:extLst>
          </p:cNvPr>
          <p:cNvSpPr>
            <a:spLocks noGrp="1"/>
          </p:cNvSpPr>
          <p:nvPr/>
        </p:nvSpPr>
        <p:spPr>
          <a:xfrm>
            <a:off x="1162050" y="3009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Create a repository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F7BBB9C5-A599-4127-8657-0ACC6A836BF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Save and fully rehydrate one aggregate.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91FDA84C-E92A-4CA7-8EE7-8F72ED92A58A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00" b="1">
                <a:solidFill>
                  <a:srgbClr val="F2994A"/>
                </a:solidFill>
              </a:defRPr>
            </a:pPr>
            <a:r>
              <a:rPr sz="1200" b="1">
                <a:solidFill>
                  <a:srgbClr val="F2994A"/>
                </a:solidFill>
              </a:rPr>
              <a:t>04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87140002-ACFB-48D7-9B3E-944420AC10F8}"/>
              </a:ext>
            </a:extLst>
          </p:cNvPr>
          <p:cNvSpPr>
            <a:spLocks noGrp="1"/>
          </p:cNvSpPr>
          <p:nvPr/>
        </p:nvSpPr>
        <p:spPr>
          <a:xfrm>
            <a:off x="1162050" y="36576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96491"/>
          </a:bodyPr>
          <a:lstStyle/>
          <a:p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Connect an endpoint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53BAAF1-1523-495D-83A3-B24F541BF607}"/>
              </a:ext>
            </a:extLst>
          </p:cNvPr>
          <p:cNvSpPr>
            <a:spLocks noGrp="1"/>
          </p:cNvSpPr>
          <p:nvPr/>
        </p:nvSpPr>
        <p:spPr>
          <a:xfrm>
            <a:off x="4000500" y="36576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Call the application contract—not EF directly.</a:t>
            </a: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9E90ACE5-9458-45DB-A7FD-7F6618415AB3}"/>
              </a:ext>
            </a:extLst>
          </p:cNvPr>
          <p:cNvSpPr>
            <a:spLocks noGrp="1"/>
          </p:cNvSpPr>
          <p:nvPr/>
        </p:nvSpPr>
        <p:spPr>
          <a:xfrm>
            <a:off x="895350" y="4419600"/>
            <a:ext cx="7353300" cy="438150"/>
          </a:xfrm>
          <a:prstGeom prst="roundRect">
            <a:avLst>
              <a:gd name="adj" fmla="val 26087"/>
            </a:avLst>
          </a:prstGeom>
          <a:solidFill>
            <a:srgbClr val="EAF5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9236E233-B521-4137-92A9-258471C0A572}"/>
              </a:ext>
            </a:extLst>
          </p:cNvPr>
          <p:cNvSpPr>
            <a:spLocks noGrp="1"/>
          </p:cNvSpPr>
          <p:nvPr/>
        </p:nvSpPr>
        <p:spPr>
          <a:xfrm>
            <a:off x="1085850" y="4495800"/>
            <a:ext cx="697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>
            <a:normAutofit fontScale="87719"/>
          </a:bodyPr>
          <a:lstStyle/>
          <a:p>
            <a:pPr algn="ctr">
              <a:buNone/>
              <a:defRPr sz="1425" b="1">
                <a:solidFill>
                  <a:srgbClr val="0B83BD"/>
                </a:solidFill>
              </a:defRPr>
            </a:pPr>
            <a:r>
              <a:rPr sz="1425" b="1">
                <a:solidFill>
                  <a:srgbClr val="0B83BD"/>
                </a:solidFill>
              </a:rPr>
              <a:t>Final test: could the application switch databases without redesigning the domain?</a:t>
            </a:r>
          </a:p>
        </p:txBody>
      </p:sp>
    </p:spTree>
    <p:extLst>
      <p:ext uri="{BB962C8B-B14F-4D97-AF65-F5344CB8AC3E}">
        <p14:creationId xmlns:p14="http://schemas.microsoft.com/office/powerpoint/2010/main" val="11507105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15B6D"/>
      </a:dk2>
      <a:lt2>
        <a:srgbClr val="434C5E"/>
      </a:lt2>
      <a:accent1>
        <a:srgbClr val="ED2926"/>
      </a:accent1>
      <a:accent2>
        <a:srgbClr val="0975B6"/>
      </a:accent2>
      <a:accent3>
        <a:srgbClr val="78879C"/>
      </a:accent3>
      <a:accent4>
        <a:srgbClr val="ECEDF0"/>
      </a:accent4>
      <a:accent5>
        <a:srgbClr val="F5F7F8"/>
      </a:accent5>
      <a:accent6>
        <a:srgbClr val="09619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15B6D"/>
      </a:dk2>
      <a:lt2>
        <a:srgbClr val="434C5E"/>
      </a:lt2>
      <a:accent1>
        <a:srgbClr val="ED2926"/>
      </a:accent1>
      <a:accent2>
        <a:srgbClr val="0975B6"/>
      </a:accent2>
      <a:accent3>
        <a:srgbClr val="78879C"/>
      </a:accent3>
      <a:accent4>
        <a:srgbClr val="ECEDF0"/>
      </a:accent4>
      <a:accent5>
        <a:srgbClr val="F5F7F8"/>
      </a:accent5>
      <a:accent6>
        <a:srgbClr val="09619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Microsoft Office PowerPoint</Application>
  <DocSecurity>0</DocSecurity>
  <PresentationFormat>On-screen Show (16:9)</PresentationFormat>
  <Paragraphs>292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Inter Tight ExtraBold</vt:lpstr>
      <vt:lpstr>Inter Tight Light</vt:lpstr>
      <vt:lpstr>Roboto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 Tremblay</cp:lastModifiedBy>
  <cp:revision>1</cp:revision>
  <dcterms:created xsi:type="dcterms:W3CDTF">2026-07-30T01:17:31Z</dcterms:created>
  <dcterms:modified xsi:type="dcterms:W3CDTF">2026-07-30T01:32:46Z</dcterms:modified>
</cp:coreProperties>
</file>